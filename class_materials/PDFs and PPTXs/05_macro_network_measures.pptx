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3.xml" ContentType="application/vnd.openxmlformats-officedocument.customXmlProperties+xml"/>
  <Override PartName="/customXml/itemProps1.xml" ContentType="application/vnd.openxmlformats-officedocument.customXmlProperties+xml"/>
  <Override PartName="/customXml/item2.xml" ContentType="application/xml"/>
  <Override PartName="/customXml/itemProps2.xml" ContentType="application/vnd.openxmlformats-officedocument.customXmlProperties+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3.xml" ContentType="application/xml"/>
  <Override PartName="/docMetadata/LabelInfo.xml" ContentType="application/xml"/>
  <Override PartName="/ppt/presentation.xml" ContentType="application/vnd.openxmlformats-officedocument.presentationml.presentation.main+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55.xml" ContentType="application/vnd.openxmlformats-officedocument.presentationml.notesSlide+xml"/>
  <Override PartName="/ppt/notesSlides/notesSlide12.xml" ContentType="application/vnd.openxmlformats-officedocument.presentationml.notesSlide+xml"/>
  <Override PartName="/ppt/notesSlides/notesSlide34.xml" ContentType="application/vnd.openxmlformats-officedocument.presentationml.notesSlide+xml"/>
  <Override PartName="/ppt/notesSlides/notesSlide56.xml" ContentType="application/vnd.openxmlformats-officedocument.presentationml.notesSlide+xml"/>
  <Override PartName="/ppt/notesSlides/notesSlide13.xml" ContentType="application/vnd.openxmlformats-officedocument.presentationml.notesSlide+xml"/>
  <Override PartName="/ppt/notesSlides/notesSlide35.xml" ContentType="application/vnd.openxmlformats-officedocument.presentationml.notesSlide+xml"/>
  <Override PartName="/ppt/notesSlides/notesSlide57.xml" ContentType="application/vnd.openxmlformats-officedocument.presentationml.notesSlide+xml"/>
  <Override PartName="/ppt/notesSlides/notesSlide14.xml" ContentType="application/vnd.openxmlformats-officedocument.presentationml.notesSlide+xml"/>
  <Override PartName="/ppt/notesSlides/notesSlide36.xml" ContentType="application/vnd.openxmlformats-officedocument.presentationml.notesSlide+xml"/>
  <Override PartName="/ppt/notesSlides/notesSlide58.xml" ContentType="application/vnd.openxmlformats-officedocument.presentationml.notesSlide+xml"/>
  <Override PartName="/ppt/notesSlides/notesSlide15.xml" ContentType="application/vnd.openxmlformats-officedocument.presentationml.notesSlide+xml"/>
  <Override PartName="/ppt/notesSlides/notesSlide37.xml" ContentType="application/vnd.openxmlformats-officedocument.presentationml.notesSlide+xml"/>
  <Override PartName="/ppt/notesSlides/notesSlide59.xml" ContentType="application/vnd.openxmlformats-officedocument.presentationml.notesSlide+xml"/>
  <Override PartName="/ppt/notesSlides/notesSlide16.xml" ContentType="application/vnd.openxmlformats-officedocument.presentationml.notesSlide+xml"/>
  <Override PartName="/ppt/notesSlides/notesSlide38.xml" ContentType="application/vnd.openxmlformats-officedocument.presentationml.notesSlide+xml"/>
  <Override PartName="/ppt/notesSlides/notesSlide17.xml" ContentType="application/vnd.openxmlformats-officedocument.presentationml.notesSlide+xml"/>
  <Override PartName="/ppt/notesSlides/notesSlide39.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42.xml" ContentType="application/vnd.openxmlformats-officedocument.presentationml.notesSlide+xml"/>
  <Override PartName="/ppt/notesSlides/notesSlide64.xml" ContentType="application/vnd.openxmlformats-officedocument.presentationml.notesSlide+xml"/>
  <Override PartName="/ppt/notesSlides/notesSlide21.xml" ContentType="application/vnd.openxmlformats-officedocument.presentationml.notesSlide+xml"/>
  <Override PartName="/ppt/notesSlides/notesSlide43.xml" ContentType="application/vnd.openxmlformats-officedocument.presentationml.notesSlide+xml"/>
  <Override PartName="/ppt/notesSlides/notesSlide65.xml" ContentType="application/vnd.openxmlformats-officedocument.presentationml.notesSlide+xml"/>
  <Override PartName="/ppt/notesSlides/notesSlide22.xml" ContentType="application/vnd.openxmlformats-officedocument.presentationml.notesSlide+xml"/>
  <Override PartName="/ppt/notesSlides/notesSlide44.xml" ContentType="application/vnd.openxmlformats-officedocument.presentationml.notesSlide+xml"/>
  <Override PartName="/ppt/notesSlides/notesSlide66.xml" ContentType="application/vnd.openxmlformats-officedocument.presentationml.notesSlide+xml"/>
  <Override PartName="/ppt/notesSlides/notesSlide23.xml" ContentType="application/vnd.openxmlformats-officedocument.presentationml.notesSlide+xml"/>
  <Override PartName="/ppt/notesSlides/notesSlide45.xml" ContentType="application/vnd.openxmlformats-officedocument.presentationml.notesSlide+xml"/>
  <Override PartName="/ppt/notesSlides/notesSlide24.xml" ContentType="application/vnd.openxmlformats-officedocument.presentationml.notesSlide+xml"/>
  <Override PartName="/ppt/notesSlides/notesSlide46.xml" ContentType="application/vnd.openxmlformats-officedocument.presentationml.notesSlide+xml"/>
  <Override PartName="/ppt/notesSlides/notesSlide25.xml" ContentType="application/vnd.openxmlformats-officedocument.presentationml.notesSlide+xml"/>
  <Override PartName="/ppt/notesSlides/notesSlide47.xml" ContentType="application/vnd.openxmlformats-officedocument.presentationml.notesSlide+xml"/>
  <Override PartName="/ppt/notesSlides/notesSlide26.xml" ContentType="application/vnd.openxmlformats-officedocument.presentationml.notesSlide+xml"/>
  <Override PartName="/ppt/notesSlides/notesSlide48.xml" ContentType="application/vnd.openxmlformats-officedocument.presentationml.notesSlide+xml"/>
  <Override PartName="/ppt/notesSlides/notesSlide27.xml" ContentType="application/vnd.openxmlformats-officedocument.presentationml.notesSlide+xml"/>
  <Override PartName="/ppt/notesSlides/notesSlide49.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52.xml" ContentType="application/vnd.openxmlformats-officedocument.presentationml.notesSlide+xml"/>
  <Override PartName="/ppt/notesSlides/notesSlide31.xml" ContentType="application/vnd.openxmlformats-officedocument.presentationml.notesSlide+xml"/>
  <Override PartName="/ppt/notesSlides/notesSlide53.xml" ContentType="application/vnd.openxmlformats-officedocument.presentationml.notesSlide+xml"/>
  <Override PartName="/ppt/notesSlides/notesSlide32.xml" ContentType="application/vnd.openxmlformats-officedocument.presentationml.notesSlide+xml"/>
  <Override PartName="/ppt/notesSlides/notesSlide54.xml" ContentType="application/vnd.openxmlformats-officedocument.presentationml.notesSlide+xml"/>
  <Override PartName="/ppt/notesSlides/notesSlide40.xml" ContentType="application/vnd.openxmlformats-officedocument.presentationml.notesSlide+xml"/>
  <Override PartName="/ppt/notesSlides/notesSlide62.xml" ContentType="application/vnd.openxmlformats-officedocument.presentationml.notesSlide+xml"/>
  <Override PartName="/ppt/notesSlides/notesSlide41.xml" ContentType="application/vnd.openxmlformats-officedocument.presentationml.notesSlide+xml"/>
  <Override PartName="/ppt/notesSlides/notesSlide63.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_rels/notesSlide9.xml.rels" ContentType="application/vnd.openxmlformats-package.relationships+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55.xml.rels" ContentType="application/vnd.openxmlformats-package.relationships+xml"/>
  <Override PartName="/ppt/notesSlides/_rels/notesSlide33.xml.rels" ContentType="application/vnd.openxmlformats-package.relationships+xml"/>
  <Override PartName="/ppt/notesSlides/_rels/notesSlide11.xml.rels" ContentType="application/vnd.openxmlformats-package.relationships+xml"/>
  <Override PartName="/ppt/notesSlides/_rels/notesSlide56.xml.rels" ContentType="application/vnd.openxmlformats-package.relationships+xml"/>
  <Override PartName="/ppt/notesSlides/_rels/notesSlide34.xml.rels" ContentType="application/vnd.openxmlformats-package.relationships+xml"/>
  <Override PartName="/ppt/notesSlides/_rels/notesSlide12.xml.rels" ContentType="application/vnd.openxmlformats-package.relationships+xml"/>
  <Override PartName="/ppt/notesSlides/_rels/notesSlide57.xml.rels" ContentType="application/vnd.openxmlformats-package.relationships+xml"/>
  <Override PartName="/ppt/notesSlides/_rels/notesSlide35.xml.rels" ContentType="application/vnd.openxmlformats-package.relationships+xml"/>
  <Override PartName="/ppt/notesSlides/_rels/notesSlide13.xml.rels" ContentType="application/vnd.openxmlformats-package.relationships+xml"/>
  <Override PartName="/ppt/notesSlides/_rels/notesSlide58.xml.rels" ContentType="application/vnd.openxmlformats-package.relationships+xml"/>
  <Override PartName="/ppt/notesSlides/_rels/notesSlide36.xml.rels" ContentType="application/vnd.openxmlformats-package.relationships+xml"/>
  <Override PartName="/ppt/notesSlides/_rels/notesSlide14.xml.rels" ContentType="application/vnd.openxmlformats-package.relationships+xml"/>
  <Override PartName="/ppt/notesSlides/_rels/notesSlide59.xml.rels" ContentType="application/vnd.openxmlformats-package.relationships+xml"/>
  <Override PartName="/ppt/notesSlides/_rels/notesSlide37.xml.rels" ContentType="application/vnd.openxmlformats-package.relationships+xml"/>
  <Override PartName="/ppt/notesSlides/_rels/notesSlide15.xml.rels" ContentType="application/vnd.openxmlformats-package.relationships+xml"/>
  <Override PartName="/ppt/notesSlides/_rels/notesSlide38.xml.rels" ContentType="application/vnd.openxmlformats-package.relationships+xml"/>
  <Override PartName="/ppt/notesSlides/_rels/notesSlide16.xml.rels" ContentType="application/vnd.openxmlformats-package.relationships+xml"/>
  <Override PartName="/ppt/notesSlides/_rels/notesSlide39.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64.xml.rels" ContentType="application/vnd.openxmlformats-package.relationships+xml"/>
  <Override PartName="/ppt/notesSlides/_rels/notesSlide42.xml.rels" ContentType="application/vnd.openxmlformats-package.relationships+xml"/>
  <Override PartName="/ppt/notesSlides/_rels/notesSlide20.xml.rels" ContentType="application/vnd.openxmlformats-package.relationships+xml"/>
  <Override PartName="/ppt/notesSlides/_rels/notesSlide65.xml.rels" ContentType="application/vnd.openxmlformats-package.relationships+xml"/>
  <Override PartName="/ppt/notesSlides/_rels/notesSlide43.xml.rels" ContentType="application/vnd.openxmlformats-package.relationships+xml"/>
  <Override PartName="/ppt/notesSlides/_rels/notesSlide21.xml.rels" ContentType="application/vnd.openxmlformats-package.relationships+xml"/>
  <Override PartName="/ppt/notesSlides/_rels/notesSlide66.xml.rels" ContentType="application/vnd.openxmlformats-package.relationships+xml"/>
  <Override PartName="/ppt/notesSlides/_rels/notesSlide44.xml.rels" ContentType="application/vnd.openxmlformats-package.relationships+xml"/>
  <Override PartName="/ppt/notesSlides/_rels/notesSlide22.xml.rels" ContentType="application/vnd.openxmlformats-package.relationships+xml"/>
  <Override PartName="/ppt/notesSlides/_rels/notesSlide45.xml.rels" ContentType="application/vnd.openxmlformats-package.relationships+xml"/>
  <Override PartName="/ppt/notesSlides/_rels/notesSlide23.xml.rels" ContentType="application/vnd.openxmlformats-package.relationships+xml"/>
  <Override PartName="/ppt/notesSlides/_rels/notesSlide46.xml.rels" ContentType="application/vnd.openxmlformats-package.relationships+xml"/>
  <Override PartName="/ppt/notesSlides/_rels/notesSlide24.xml.rels" ContentType="application/vnd.openxmlformats-package.relationships+xml"/>
  <Override PartName="/ppt/notesSlides/_rels/notesSlide47.xml.rels" ContentType="application/vnd.openxmlformats-package.relationships+xml"/>
  <Override PartName="/ppt/notesSlides/_rels/notesSlide25.xml.rels" ContentType="application/vnd.openxmlformats-package.relationships+xml"/>
  <Override PartName="/ppt/notesSlides/_rels/notesSlide48.xml.rels" ContentType="application/vnd.openxmlformats-package.relationships+xml"/>
  <Override PartName="/ppt/notesSlides/_rels/notesSlide26.xml.rels" ContentType="application/vnd.openxmlformats-package.relationships+xml"/>
  <Override PartName="/ppt/notesSlides/_rels/notesSlide49.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52.xml.rels" ContentType="application/vnd.openxmlformats-package.relationships+xml"/>
  <Override PartName="/ppt/notesSlides/_rels/notesSlide30.xml.rels" ContentType="application/vnd.openxmlformats-package.relationships+xml"/>
  <Override PartName="/ppt/notesSlides/_rels/notesSlide53.xml.rels" ContentType="application/vnd.openxmlformats-package.relationships+xml"/>
  <Override PartName="/ppt/notesSlides/_rels/notesSlide31.xml.rels" ContentType="application/vnd.openxmlformats-package.relationships+xml"/>
  <Override PartName="/ppt/notesSlides/_rels/notesSlide54.xml.rels" ContentType="application/vnd.openxmlformats-package.relationships+xml"/>
  <Override PartName="/ppt/notesSlides/_rels/notesSlide32.xml.rels" ContentType="application/vnd.openxmlformats-package.relationships+xml"/>
  <Override PartName="/ppt/notesSlides/_rels/notesSlide62.xml.rels" ContentType="application/vnd.openxmlformats-package.relationships+xml"/>
  <Override PartName="/ppt/notesSlides/_rels/notesSlide40.xml.rels" ContentType="application/vnd.openxmlformats-package.relationships+xml"/>
  <Override PartName="/ppt/notesSlides/_rels/notesSlide63.xml.rels" ContentType="application/vnd.openxmlformats-package.relationships+xml"/>
  <Override PartName="/ppt/notesSlides/_rels/notesSlide41.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60.xml.rels" ContentType="application/vnd.openxmlformats-package.relationships+xml"/>
  <Override PartName="/ppt/notesSlides/_rels/notesSlide61.xml.rels" ContentType="application/vnd.openxmlformats-package.relationships+xml"/>
  <Override PartName="/ppt/notesSlides/_rels/notesSlide67.xml.rels" ContentType="application/vnd.openxmlformats-package.relationships+xml"/>
  <Override PartName="/ppt/notesSlides/_rels/notesSlide68.xml.rels" ContentType="application/vnd.openxmlformats-package.relationships+xml"/>
  <Override PartName="/ppt/notesSlides/_rels/notesSlide69.xml.rels" ContentType="application/vnd.openxmlformats-package.relationships+xml"/>
  <Override PartName="/ppt/notesSlides/_rels/notesSlide70.xml.rels" ContentType="application/vnd.openxmlformats-package.relationships+xml"/>
  <Override PartName="/ppt/notesSlides/_rels/notesSlide71.xml.rels" ContentType="application/vnd.openxmlformats-package.relationships+xml"/>
  <Override PartName="/ppt/notesSlides/_rels/notesSlide72.xml.rels" ContentType="application/vnd.openxmlformats-package.relationships+xml"/>
  <Override PartName="/ppt/notesSlides/_rels/notesSlide73.xml.rels" ContentType="application/vnd.openxmlformats-package.relationships+xml"/>
  <Override PartName="/ppt/notesSlides/_rels/notesSlide74.xml.rels" ContentType="application/vnd.openxmlformats-package.relationships+xml"/>
  <Override PartName="/ppt/notesSlides/_rels/notesSlide75.xml.rels" ContentType="application/vnd.openxmlformats-package.relationships+xml"/>
  <Override PartName="/ppt/notesSlides/_rels/notesSlide76.xml.rels" ContentType="application/vnd.openxmlformats-package.relationships+xml"/>
  <Override PartName="/ppt/notesSlides/_rels/notesSlide77.xml.rels" ContentType="application/vnd.openxmlformats-package.relationships+xml"/>
  <Override PartName="/ppt/notesSlides/_rels/notesSlide78.xml.rels" ContentType="application/vnd.openxmlformats-package.relationships+xml"/>
  <Override PartName="/ppt/notesSlides/_rels/notesSlide79.xml.rels" ContentType="application/vnd.openxmlformats-package.relationships+xml"/>
  <Override PartName="/ppt/notesSlides/_rels/notesSlide80.xml.rels" ContentType="application/vnd.openxmlformats-package.relationships+xml"/>
  <Override PartName="/ppt/notesSlides/_rels/notesSlide81.xml.rels" ContentType="application/vnd.openxmlformats-package.relationships+xml"/>
  <Override PartName="/ppt/notesSlides/_rels/notesSlide82.xml.rels" ContentType="application/vnd.openxmlformats-package.relationships+xml"/>
  <Override PartName="/ppt/notesSlides/_rels/notesSlide83.xml.rels" ContentType="application/vnd.openxmlformats-package.relationships+xml"/>
  <Override PartName="/ppt/notesSlides/_rels/notesSlide84.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Layouts/slideLayout50.xml" ContentType="application/vnd.openxmlformats-officedocument.presentationml.slideLayout+xml"/>
  <Override PartName="/ppt/slideLayouts/slideLayout1.xml" ContentType="application/vnd.openxmlformats-officedocument.presentationml.slideLayout+xml"/>
  <Override PartName="/ppt/slideLayouts/slideLayout51.xml" ContentType="application/vnd.openxmlformats-officedocument.presentationml.slideLayout+xml"/>
  <Override PartName="/ppt/slideLayouts/slideLayout2.xml" ContentType="application/vnd.openxmlformats-officedocument.presentationml.slideLayout+xml"/>
  <Override PartName="/ppt/slideLayouts/slideLayout52.xml" ContentType="application/vnd.openxmlformats-officedocument.presentationml.slideLayout+xml"/>
  <Override PartName="/ppt/slideLayouts/slideLayout30.xml" ContentType="application/vnd.openxmlformats-officedocument.presentationml.slideLayout+xml"/>
  <Override PartName="/ppt/slideLayouts/slideLayout10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3.xml" ContentType="application/vnd.openxmlformats-officedocument.presentationml.slideLayout+xml"/>
  <Override PartName="/ppt/slideLayouts/slideLayout31.xml" ContentType="application/vnd.openxmlformats-officedocument.presentationml.slideLayout+xml"/>
  <Override PartName="/ppt/slideLayouts/slideLayout53.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104.xml" ContentType="application/vnd.openxmlformats-officedocument.presentationml.slideLayout+xml"/>
  <Override PartName="/ppt/slideLayouts/slideLayout32.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05.xml" ContentType="application/vnd.openxmlformats-officedocument.presentationml.slideLayout+xml"/>
  <Override PartName="/ppt/slideLayouts/slideLayout33.xml" ContentType="application/vnd.openxmlformats-officedocument.presentationml.slideLayout+xml"/>
  <Override PartName="/ppt/slideLayouts/slideLayout55.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106.xml" ContentType="application/vnd.openxmlformats-officedocument.presentationml.slideLayout+xml"/>
  <Override PartName="/ppt/slideLayouts/slideLayout34.xml" ContentType="application/vnd.openxmlformats-officedocument.presentationml.slideLayout+xml"/>
  <Override PartName="/ppt/slideLayouts/slideLayout56.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Layouts/slideLayout107.xml" ContentType="application/vnd.openxmlformats-officedocument.presentationml.slideLayout+xml"/>
  <Override PartName="/ppt/slideLayouts/slideLayout35.xml" ContentType="application/vnd.openxmlformats-officedocument.presentationml.slideLayout+xml"/>
  <Override PartName="/ppt/slideLayouts/slideLayout57.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08.xml" ContentType="application/vnd.openxmlformats-officedocument.presentationml.slideLayout+xml"/>
  <Override PartName="/ppt/slideLayouts/slideLayout36.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09.xml" ContentType="application/vnd.openxmlformats-officedocument.presentationml.slideLayout+xml"/>
  <Override PartName="/ppt/slideLayouts/slideLayout37.xml" ContentType="application/vnd.openxmlformats-officedocument.presentationml.slideLayout+xml"/>
  <Override PartName="/ppt/slideLayouts/slideLayout59.xml" ContentType="application/vnd.openxmlformats-officedocument.presentationml.slideLayout+xml"/>
  <Override PartName="/ppt/slideLayouts/slideLayout16.xml" ContentType="application/vnd.openxmlformats-officedocument.presentationml.slideLayout+xml"/>
  <Override PartName="/ppt/slideLayouts/slideLayout38.xml" ContentType="application/vnd.openxmlformats-officedocument.presentationml.slideLayout+xml"/>
  <Override PartName="/ppt/slideLayouts/slideLayout17.xml" ContentType="application/vnd.openxmlformats-officedocument.presentationml.slideLayout+xml"/>
  <Override PartName="/ppt/slideLayouts/slideLayout39.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14.xml" ContentType="application/vnd.openxmlformats-officedocument.presentationml.slideLayout+xml"/>
  <Override PartName="/ppt/slideLayouts/slideLayout42.xml" ContentType="application/vnd.openxmlformats-officedocument.presentationml.slideLayout+xml"/>
  <Override PartName="/ppt/slideLayouts/slideLayout64.xml" ContentType="application/vnd.openxmlformats-officedocument.presentationml.slideLayout+xml"/>
  <Override PartName="/ppt/slideLayouts/slideLayout21.xml" ContentType="application/vnd.openxmlformats-officedocument.presentationml.slideLayout+xml"/>
  <Override PartName="/ppt/slideLayouts/slideLayout115.xml" ContentType="application/vnd.openxmlformats-officedocument.presentationml.slideLayout+xml"/>
  <Override PartName="/ppt/slideLayouts/slideLayout43.xml" ContentType="application/vnd.openxmlformats-officedocument.presentationml.slideLayout+xml"/>
  <Override PartName="/ppt/slideLayouts/slideLayout22.xml" ContentType="application/vnd.openxmlformats-officedocument.presentationml.slideLayout+xml"/>
  <Override PartName="/ppt/slideLayouts/slideLayout116.xml" ContentType="application/vnd.openxmlformats-officedocument.presentationml.slideLayout+xml"/>
  <Override PartName="/ppt/slideLayouts/slideLayout44.xml" ContentType="application/vnd.openxmlformats-officedocument.presentationml.slideLayout+xml"/>
  <Override PartName="/ppt/slideLayouts/slideLayout23.xml" ContentType="application/vnd.openxmlformats-officedocument.presentationml.slideLayout+xml"/>
  <Override PartName="/ppt/slideLayouts/slideLayout117.xml" ContentType="application/vnd.openxmlformats-officedocument.presentationml.slideLayout+xml"/>
  <Override PartName="/ppt/slideLayouts/slideLayout45.xml" ContentType="application/vnd.openxmlformats-officedocument.presentationml.slideLayout+xml"/>
  <Override PartName="/ppt/slideLayouts/slideLayout24.xml" ContentType="application/vnd.openxmlformats-officedocument.presentationml.slideLayout+xml"/>
  <Override PartName="/ppt/slideLayouts/slideLayout118.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119.xml" ContentType="application/vnd.openxmlformats-officedocument.presentationml.slideLayout+xml"/>
  <Override PartName="/ppt/slideLayouts/slideLayout25.xml" ContentType="application/vnd.openxmlformats-officedocument.presentationml.slideLayout+xml"/>
  <Override PartName="/ppt/slideLayouts/slideLayout48.xml" ContentType="application/vnd.openxmlformats-officedocument.presentationml.slideLayout+xml"/>
  <Override PartName="/ppt/slideLayouts/slideLayout26.xml" ContentType="application/vnd.openxmlformats-officedocument.presentationml.slideLayout+xml"/>
  <Override PartName="/ppt/slideLayouts/slideLayout49.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62.xml" ContentType="application/vnd.openxmlformats-officedocument.presentationml.slideLayout+xml"/>
  <Override PartName="/ppt/slideLayouts/slideLayout40.xml" ContentType="application/vnd.openxmlformats-officedocument.presentationml.slideLayout+xml"/>
  <Override PartName="/ppt/slideLayouts/slideLayout112.xml" ContentType="application/vnd.openxmlformats-officedocument.presentationml.slideLayout+xml"/>
  <Override PartName="/ppt/slideLayouts/slideLayout63.xml" ContentType="application/vnd.openxmlformats-officedocument.presentationml.slideLayout+xml"/>
  <Override PartName="/ppt/slideLayouts/slideLayout41.xml" ContentType="application/vnd.openxmlformats-officedocument.presentationml.slideLayout+xml"/>
  <Override PartName="/ppt/slideLayouts/slideLayout113.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20.xml" ContentType="application/vnd.openxmlformats-officedocument.presentationml.slideLayout+xml"/>
  <Override PartName="/ppt/slideLayouts/_rels/slideLayout50.xml.rels" ContentType="application/vnd.openxmlformats-package.relationships+xml"/>
  <Override PartName="/ppt/slideLayouts/_rels/slideLayout1.xml.rels" ContentType="application/vnd.openxmlformats-package.relationships+xml"/>
  <Override PartName="/ppt/slideLayouts/_rels/slideLayout51.xml.rels" ContentType="application/vnd.openxmlformats-package.relationships+xml"/>
  <Override PartName="/ppt/slideLayouts/_rels/slideLayout2.xml.rels" ContentType="application/vnd.openxmlformats-package.relationships+xml"/>
  <Override PartName="/ppt/slideLayouts/_rels/slideLayout52.xml.rels" ContentType="application/vnd.openxmlformats-package.relationships+xml"/>
  <Override PartName="/ppt/slideLayouts/_rels/slideLayout102.xml.rels" ContentType="application/vnd.openxmlformats-package.relationships+xml"/>
  <Override PartName="/ppt/slideLayouts/_rels/slideLayout30.xml.rels" ContentType="application/vnd.openxmlformats-package.relationships+xml"/>
  <Override PartName="/ppt/slideLayouts/_rels/slideLayout3.xml.rels" ContentType="application/vnd.openxmlformats-package.relationships+xml"/>
  <Override PartName="/ppt/slideLayouts/_rels/slideLayout53.xml.rels" ContentType="application/vnd.openxmlformats-package.relationships+xml"/>
  <Override PartName="/ppt/slideLayouts/_rels/slideLayout103.xml.rels" ContentType="application/vnd.openxmlformats-package.relationships+xml"/>
  <Override PartName="/ppt/slideLayouts/_rels/slideLayout31.xml.rels" ContentType="application/vnd.openxmlformats-package.relationships+xml"/>
  <Override PartName="/ppt/slideLayouts/_rels/slideLayout4.xml.rels" ContentType="application/vnd.openxmlformats-package.relationships+xml"/>
  <Override PartName="/ppt/slideLayouts/_rels/slideLayout54.xml.rels" ContentType="application/vnd.openxmlformats-package.relationships+xml"/>
  <Override PartName="/ppt/slideLayouts/_rels/slideLayout104.xml.rels" ContentType="application/vnd.openxmlformats-package.relationships+xml"/>
  <Override PartName="/ppt/slideLayouts/_rels/slideLayout32.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55.xml.rels" ContentType="application/vnd.openxmlformats-package.relationships+xml"/>
  <Override PartName="/ppt/slideLayouts/_rels/slideLayout105.xml.rels" ContentType="application/vnd.openxmlformats-package.relationships+xml"/>
  <Override PartName="/ppt/slideLayouts/_rels/slideLayout33.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56.xml.rels" ContentType="application/vnd.openxmlformats-package.relationships+xml"/>
  <Override PartName="/ppt/slideLayouts/_rels/slideLayout106.xml.rels" ContentType="application/vnd.openxmlformats-package.relationships+xml"/>
  <Override PartName="/ppt/slideLayouts/_rels/slideLayout34.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07.xml.rels" ContentType="application/vnd.openxmlformats-package.relationships+xml"/>
  <Override PartName="/ppt/slideLayouts/_rels/slideLayout35.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58.xml.rels" ContentType="application/vnd.openxmlformats-package.relationships+xml"/>
  <Override PartName="/ppt/slideLayouts/_rels/slideLayout108.xml.rels" ContentType="application/vnd.openxmlformats-package.relationships+xml"/>
  <Override PartName="/ppt/slideLayouts/_rels/slideLayout36.xml.rels" ContentType="application/vnd.openxmlformats-package.relationships+xml"/>
  <Override PartName="/ppt/slideLayouts/_rels/slideLayout14.xml.rels" ContentType="application/vnd.openxmlformats-package.relationships+xml"/>
  <Override PartName="/ppt/slideLayouts/_rels/slideLayout9.xml.rels" ContentType="application/vnd.openxmlformats-package.relationships+xml"/>
  <Override PartName="/ppt/slideLayouts/_rels/slideLayout59.xml.rels" ContentType="application/vnd.openxmlformats-package.relationships+xml"/>
  <Override PartName="/ppt/slideLayouts/_rels/slideLayout109.xml.rels" ContentType="application/vnd.openxmlformats-package.relationships+xml"/>
  <Override PartName="/ppt/slideLayouts/_rels/slideLayout37.xml.rels" ContentType="application/vnd.openxmlformats-package.relationships+xml"/>
  <Override PartName="/ppt/slideLayouts/_rels/slideLayout15.xml.rels" ContentType="application/vnd.openxmlformats-package.relationships+xml"/>
  <Override PartName="/ppt/slideLayouts/_rels/slideLayout38.xml.rels" ContentType="application/vnd.openxmlformats-package.relationships+xml"/>
  <Override PartName="/ppt/slideLayouts/_rels/slideLayout16.xml.rels" ContentType="application/vnd.openxmlformats-package.relationships+xml"/>
  <Override PartName="/ppt/slideLayouts/_rels/slideLayout39.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64.xml.rels" ContentType="application/vnd.openxmlformats-package.relationships+xml"/>
  <Override PartName="/ppt/slideLayouts/_rels/slideLayout114.xml.rels" ContentType="application/vnd.openxmlformats-package.relationships+xml"/>
  <Override PartName="/ppt/slideLayouts/_rels/slideLayout42.xml.rels" ContentType="application/vnd.openxmlformats-package.relationships+xml"/>
  <Override PartName="/ppt/slideLayouts/_rels/slideLayout20.xml.rels" ContentType="application/vnd.openxmlformats-package.relationships+xml"/>
  <Override PartName="/ppt/slideLayouts/_rels/slideLayout115.xml.rels" ContentType="application/vnd.openxmlformats-package.relationships+xml"/>
  <Override PartName="/ppt/slideLayouts/_rels/slideLayout43.xml.rels" ContentType="application/vnd.openxmlformats-package.relationships+xml"/>
  <Override PartName="/ppt/slideLayouts/_rels/slideLayout21.xml.rels" ContentType="application/vnd.openxmlformats-package.relationships+xml"/>
  <Override PartName="/ppt/slideLayouts/_rels/slideLayout116.xml.rels" ContentType="application/vnd.openxmlformats-package.relationships+xml"/>
  <Override PartName="/ppt/slideLayouts/_rels/slideLayout44.xml.rels" ContentType="application/vnd.openxmlformats-package.relationships+xml"/>
  <Override PartName="/ppt/slideLayouts/_rels/slideLayout22.xml.rels" ContentType="application/vnd.openxmlformats-package.relationships+xml"/>
  <Override PartName="/ppt/slideLayouts/_rels/slideLayout117.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18.xml.rels" ContentType="application/vnd.openxmlformats-package.relationships+xml"/>
  <Override PartName="/ppt/slideLayouts/_rels/slideLayout46.xml.rels" ContentType="application/vnd.openxmlformats-package.relationships+xml"/>
  <Override PartName="/ppt/slideLayouts/_rels/slideLayout24.xml.rels" ContentType="application/vnd.openxmlformats-package.relationships+xml"/>
  <Override PartName="/ppt/slideLayouts/_rels/slideLayout119.xml.rels" ContentType="application/vnd.openxmlformats-package.relationships+xml"/>
  <Override PartName="/ppt/slideLayouts/_rels/slideLayout47.xml.rels" ContentType="application/vnd.openxmlformats-package.relationships+xml"/>
  <Override PartName="/ppt/slideLayouts/_rels/slideLayout25.xml.rels" ContentType="application/vnd.openxmlformats-package.relationships+xml"/>
  <Override PartName="/ppt/slideLayouts/_rels/slideLayout48.xml.rels" ContentType="application/vnd.openxmlformats-package.relationships+xml"/>
  <Override PartName="/ppt/slideLayouts/_rels/slideLayout26.xml.rels" ContentType="application/vnd.openxmlformats-package.relationships+xml"/>
  <Override PartName="/ppt/slideLayouts/_rels/slideLayout49.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62.xml.rels" ContentType="application/vnd.openxmlformats-package.relationships+xml"/>
  <Override PartName="/ppt/slideLayouts/_rels/slideLayout112.xml.rels" ContentType="application/vnd.openxmlformats-package.relationships+xml"/>
  <Override PartName="/ppt/slideLayouts/_rels/slideLayout40.xml.rels" ContentType="application/vnd.openxmlformats-package.relationships+xml"/>
  <Override PartName="/ppt/slideLayouts/_rels/slideLayout63.xml.rels" ContentType="application/vnd.openxmlformats-package.relationships+xml"/>
  <Override PartName="/ppt/slideLayouts/_rels/slideLayout113.xml.rels" ContentType="application/vnd.openxmlformats-package.relationships+xml"/>
  <Override PartName="/ppt/slideLayouts/_rels/slideLayout41.xml.rels" ContentType="application/vnd.openxmlformats-package.relationships+xml"/>
  <Override PartName="/ppt/slideLayouts/_rels/slideLayout60.xml.rels" ContentType="application/vnd.openxmlformats-package.relationships+xml"/>
  <Override PartName="/ppt/slideLayouts/_rels/slideLayout61.xml.rels" ContentType="application/vnd.openxmlformats-package.relationships+xml"/>
  <Override PartName="/ppt/slideLayouts/_rels/slideLayout65.xml.rels" ContentType="application/vnd.openxmlformats-package.relationships+xml"/>
  <Override PartName="/ppt/slideLayouts/_rels/slideLayout66.xml.rels" ContentType="application/vnd.openxmlformats-package.relationships+xml"/>
  <Override PartName="/ppt/slideLayouts/_rels/slideLayout67.xml.rels" ContentType="application/vnd.openxmlformats-package.relationships+xml"/>
  <Override PartName="/ppt/slideLayouts/_rels/slideLayout68.xml.rels" ContentType="application/vnd.openxmlformats-package.relationships+xml"/>
  <Override PartName="/ppt/slideLayouts/_rels/slideLayout69.xml.rels" ContentType="application/vnd.openxmlformats-package.relationships+xml"/>
  <Override PartName="/ppt/slideLayouts/_rels/slideLayout70.xml.rels" ContentType="application/vnd.openxmlformats-package.relationships+xml"/>
  <Override PartName="/ppt/slideLayouts/_rels/slideLayout71.xml.rels" ContentType="application/vnd.openxmlformats-package.relationships+xml"/>
  <Override PartName="/ppt/slideLayouts/_rels/slideLayout72.xml.rels" ContentType="application/vnd.openxmlformats-package.relationships+xml"/>
  <Override PartName="/ppt/slideLayouts/_rels/slideLayout73.xml.rels" ContentType="application/vnd.openxmlformats-package.relationships+xml"/>
  <Override PartName="/ppt/slideLayouts/_rels/slideLayout74.xml.rels" ContentType="application/vnd.openxmlformats-package.relationships+xml"/>
  <Override PartName="/ppt/slideLayouts/_rels/slideLayout75.xml.rels" ContentType="application/vnd.openxmlformats-package.relationships+xml"/>
  <Override PartName="/ppt/slideLayouts/_rels/slideLayout76.xml.rels" ContentType="application/vnd.openxmlformats-package.relationships+xml"/>
  <Override PartName="/ppt/slideLayouts/_rels/slideLayout77.xml.rels" ContentType="application/vnd.openxmlformats-package.relationships+xml"/>
  <Override PartName="/ppt/slideLayouts/_rels/slideLayout78.xml.rels" ContentType="application/vnd.openxmlformats-package.relationships+xml"/>
  <Override PartName="/ppt/slideLayouts/_rels/slideLayout79.xml.rels" ContentType="application/vnd.openxmlformats-package.relationships+xml"/>
  <Override PartName="/ppt/slideLayouts/_rels/slideLayout80.xml.rels" ContentType="application/vnd.openxmlformats-package.relationships+xml"/>
  <Override PartName="/ppt/slideLayouts/_rels/slideLayout81.xml.rels" ContentType="application/vnd.openxmlformats-package.relationships+xml"/>
  <Override PartName="/ppt/slideLayouts/_rels/slideLayout82.xml.rels" ContentType="application/vnd.openxmlformats-package.relationships+xml"/>
  <Override PartName="/ppt/slideLayouts/_rels/slideLayout83.xml.rels" ContentType="application/vnd.openxmlformats-package.relationships+xml"/>
  <Override PartName="/ppt/slideLayouts/_rels/slideLayout84.xml.rels" ContentType="application/vnd.openxmlformats-package.relationships+xml"/>
  <Override PartName="/ppt/slideLayouts/_rels/slideLayout85.xml.rels" ContentType="application/vnd.openxmlformats-package.relationships+xml"/>
  <Override PartName="/ppt/slideLayouts/_rels/slideLayout86.xml.rels" ContentType="application/vnd.openxmlformats-package.relationships+xml"/>
  <Override PartName="/ppt/slideLayouts/_rels/slideLayout87.xml.rels" ContentType="application/vnd.openxmlformats-package.relationships+xml"/>
  <Override PartName="/ppt/slideLayouts/_rels/slideLayout88.xml.rels" ContentType="application/vnd.openxmlformats-package.relationships+xml"/>
  <Override PartName="/ppt/slideLayouts/_rels/slideLayout89.xml.rels" ContentType="application/vnd.openxmlformats-package.relationships+xml"/>
  <Override PartName="/ppt/slideLayouts/_rels/slideLayout90.xml.rels" ContentType="application/vnd.openxmlformats-package.relationships+xml"/>
  <Override PartName="/ppt/slideLayouts/_rels/slideLayout91.xml.rels" ContentType="application/vnd.openxmlformats-package.relationships+xml"/>
  <Override PartName="/ppt/slideLayouts/_rels/slideLayout92.xml.rels" ContentType="application/vnd.openxmlformats-package.relationships+xml"/>
  <Override PartName="/ppt/slideLayouts/_rels/slideLayout93.xml.rels" ContentType="application/vnd.openxmlformats-package.relationships+xml"/>
  <Override PartName="/ppt/slideLayouts/_rels/slideLayout94.xml.rels" ContentType="application/vnd.openxmlformats-package.relationships+xml"/>
  <Override PartName="/ppt/slideLayouts/_rels/slideLayout95.xml.rels" ContentType="application/vnd.openxmlformats-package.relationships+xml"/>
  <Override PartName="/ppt/slideLayouts/_rels/slideLayout96.xml.rels" ContentType="application/vnd.openxmlformats-package.relationships+xml"/>
  <Override PartName="/ppt/slideLayouts/_rels/slideLayout97.xml.rels" ContentType="application/vnd.openxmlformats-package.relationships+xml"/>
  <Override PartName="/ppt/slideLayouts/_rels/slideLayout98.xml.rels" ContentType="application/vnd.openxmlformats-package.relationships+xml"/>
  <Override PartName="/ppt/slideLayouts/_rels/slideLayout99.xml.rels" ContentType="application/vnd.openxmlformats-package.relationships+xml"/>
  <Override PartName="/ppt/slideLayouts/_rels/slideLayout100.xml.rels" ContentType="application/vnd.openxmlformats-package.relationships+xml"/>
  <Override PartName="/ppt/slideLayouts/_rels/slideLayout101.xml.rels" ContentType="application/vnd.openxmlformats-package.relationships+xml"/>
  <Override PartName="/ppt/slideLayouts/_rels/slideLayout110.xml.rels" ContentType="application/vnd.openxmlformats-package.relationships+xml"/>
  <Override PartName="/ppt/slideLayouts/_rels/slideLayout111.xml.rels" ContentType="application/vnd.openxmlformats-package.relationships+xml"/>
  <Override PartName="/ppt/slideLayouts/_rels/slideLayout120.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32.xml" ContentType="application/vnd.openxmlformats-officedocument.presentationml.slide+xml"/>
  <Override PartName="/ppt/slides/slide54.xml" ContentType="application/vnd.openxmlformats-officedocument.presentationml.slide+xml"/>
  <Override PartName="/ppt/slides/slide11.xml" ContentType="application/vnd.openxmlformats-officedocument.presentationml.slide+xml"/>
  <Override PartName="/ppt/slides/slide33.xml" ContentType="application/vnd.openxmlformats-officedocument.presentationml.slide+xml"/>
  <Override PartName="/ppt/slides/slide55.xml" ContentType="application/vnd.openxmlformats-officedocument.presentationml.slide+xml"/>
  <Override PartName="/ppt/slides/slide12.xml" ContentType="application/vnd.openxmlformats-officedocument.presentationml.slide+xml"/>
  <Override PartName="/ppt/slides/slide34.xml" ContentType="application/vnd.openxmlformats-officedocument.presentationml.slide+xml"/>
  <Override PartName="/ppt/slides/slide56.xml" ContentType="application/vnd.openxmlformats-officedocument.presentationml.slide+xml"/>
  <Override PartName="/ppt/slides/slide13.xml" ContentType="application/vnd.openxmlformats-officedocument.presentationml.slide+xml"/>
  <Override PartName="/ppt/slides/slide35.xml" ContentType="application/vnd.openxmlformats-officedocument.presentationml.slide+xml"/>
  <Override PartName="/ppt/slides/slide57.xml" ContentType="application/vnd.openxmlformats-officedocument.presentationml.slide+xml"/>
  <Override PartName="/ppt/slides/slide14.xml" ContentType="application/vnd.openxmlformats-officedocument.presentationml.slide+xml"/>
  <Override PartName="/ppt/slides/slide36.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37.xml" ContentType="application/vnd.openxmlformats-officedocument.presentationml.slide+xml"/>
  <Override PartName="/ppt/slides/slide59.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17.xml" ContentType="application/vnd.openxmlformats-officedocument.presentationml.slide+xml"/>
  <Override PartName="/ppt/slides/slide39.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42.xml" ContentType="application/vnd.openxmlformats-officedocument.presentationml.slide+xml"/>
  <Override PartName="/ppt/slides/slide64.xml" ContentType="application/vnd.openxmlformats-officedocument.presentationml.slide+xml"/>
  <Override PartName="/ppt/slides/slide21.xml" ContentType="application/vnd.openxmlformats-officedocument.presentationml.slide+xml"/>
  <Override PartName="/ppt/slides/slide43.xml" ContentType="application/vnd.openxmlformats-officedocument.presentationml.slide+xml"/>
  <Override PartName="/ppt/slides/slide22.xml" ContentType="application/vnd.openxmlformats-officedocument.presentationml.slide+xml"/>
  <Override PartName="/ppt/slides/slide44.xml" ContentType="application/vnd.openxmlformats-officedocument.presentationml.slide+xml"/>
  <Override PartName="/ppt/slides/slide23.xml" ContentType="application/vnd.openxmlformats-officedocument.presentationml.slide+xml"/>
  <Override PartName="/ppt/slides/slide45.xml" ContentType="application/vnd.openxmlformats-officedocument.presentationml.slide+xml"/>
  <Override PartName="/ppt/slides/slide24.xml" ContentType="application/vnd.openxmlformats-officedocument.presentationml.slide+xml"/>
  <Override PartName="/ppt/slides/slide46.xml" ContentType="application/vnd.openxmlformats-officedocument.presentationml.slide+xml"/>
  <Override PartName="/ppt/slides/slide25.xml" ContentType="application/vnd.openxmlformats-officedocument.presentationml.slide+xml"/>
  <Override PartName="/ppt/slides/slide47.xml" ContentType="application/vnd.openxmlformats-officedocument.presentationml.slide+xml"/>
  <Override PartName="/ppt/slides/slide26.xml" ContentType="application/vnd.openxmlformats-officedocument.presentationml.slide+xml"/>
  <Override PartName="/ppt/slides/slide48.xml" ContentType="application/vnd.openxmlformats-officedocument.presentationml.slide+xml"/>
  <Override PartName="/ppt/slides/slide27.xml" ContentType="application/vnd.openxmlformats-officedocument.presentationml.slide+xml"/>
  <Override PartName="/ppt/slides/slide49.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52.xml" ContentType="application/vnd.openxmlformats-officedocument.presentationml.slide+xml"/>
  <Override PartName="/ppt/slides/slide31.xml" ContentType="application/vnd.openxmlformats-officedocument.presentationml.slide+xml"/>
  <Override PartName="/ppt/slides/slide53.xml" ContentType="application/vnd.openxmlformats-officedocument.presentationml.slide+xml"/>
  <Override PartName="/ppt/slides/slide40.xml" ContentType="application/vnd.openxmlformats-officedocument.presentationml.slide+xml"/>
  <Override PartName="/ppt/slides/slide62.xml" ContentType="application/vnd.openxmlformats-officedocument.presentationml.slide+xml"/>
  <Override PartName="/ppt/slides/slide41.xml" ContentType="application/vnd.openxmlformats-officedocument.presentationml.slide+xml"/>
  <Override PartName="/ppt/slides/slide63.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54.xml.rels" ContentType="application/vnd.openxmlformats-package.relationships+xml"/>
  <Override PartName="/ppt/slides/_rels/slide32.xml.rels" ContentType="application/vnd.openxmlformats-package.relationships+xml"/>
  <Override PartName="/ppt/slides/_rels/slide10.xml.rels" ContentType="application/vnd.openxmlformats-package.relationships+xml"/>
  <Override PartName="/ppt/slides/_rels/slide55.xml.rels" ContentType="application/vnd.openxmlformats-package.relationships+xml"/>
  <Override PartName="/ppt/slides/_rels/slide33.xml.rels" ContentType="application/vnd.openxmlformats-package.relationships+xml"/>
  <Override PartName="/ppt/slides/_rels/slide11.xml.rels" ContentType="application/vnd.openxmlformats-package.relationships+xml"/>
  <Override PartName="/ppt/slides/_rels/slide56.xml.rels" ContentType="application/vnd.openxmlformats-package.relationships+xml"/>
  <Override PartName="/ppt/slides/_rels/slide34.xml.rels" ContentType="application/vnd.openxmlformats-package.relationships+xml"/>
  <Override PartName="/ppt/slides/_rels/slide12.xml.rels" ContentType="application/vnd.openxmlformats-package.relationships+xml"/>
  <Override PartName="/ppt/slides/_rels/slide57.xml.rels" ContentType="application/vnd.openxmlformats-package.relationships+xml"/>
  <Override PartName="/ppt/slides/_rels/slide35.xml.rels" ContentType="application/vnd.openxmlformats-package.relationships+xml"/>
  <Override PartName="/ppt/slides/_rels/slide13.xml.rels" ContentType="application/vnd.openxmlformats-package.relationships+xml"/>
  <Override PartName="/ppt/slides/_rels/slide58.xml.rels" ContentType="application/vnd.openxmlformats-package.relationships+xml"/>
  <Override PartName="/ppt/slides/_rels/slide36.xml.rels" ContentType="application/vnd.openxmlformats-package.relationships+xml"/>
  <Override PartName="/ppt/slides/_rels/slide14.xml.rels" ContentType="application/vnd.openxmlformats-package.relationships+xml"/>
  <Override PartName="/ppt/slides/_rels/slide59.xml.rels" ContentType="application/vnd.openxmlformats-package.relationships+xml"/>
  <Override PartName="/ppt/slides/_rels/slide37.xml.rels" ContentType="application/vnd.openxmlformats-package.relationships+xml"/>
  <Override PartName="/ppt/slides/_rels/slide15.xml.rels" ContentType="application/vnd.openxmlformats-package.relationships+xml"/>
  <Override PartName="/ppt/slides/_rels/slide38.xml.rels" ContentType="application/vnd.openxmlformats-package.relationships+xml"/>
  <Override PartName="/ppt/slides/_rels/slide16.xml.rels" ContentType="application/vnd.openxmlformats-package.relationships+xml"/>
  <Override PartName="/ppt/slides/_rels/slide39.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64.xml.rels" ContentType="application/vnd.openxmlformats-package.relationships+xml"/>
  <Override PartName="/ppt/slides/_rels/slide42.xml.rels" ContentType="application/vnd.openxmlformats-package.relationships+xml"/>
  <Override PartName="/ppt/slides/_rels/slide20.xml.rels" ContentType="application/vnd.openxmlformats-package.relationships+xml"/>
  <Override PartName="/ppt/slides/_rels/slide43.xml.rels" ContentType="application/vnd.openxmlformats-package.relationships+xml"/>
  <Override PartName="/ppt/slides/_rels/slide21.xml.rels" ContentType="application/vnd.openxmlformats-package.relationships+xml"/>
  <Override PartName="/ppt/slides/_rels/slide44.xml.rels" ContentType="application/vnd.openxmlformats-package.relationships+xml"/>
  <Override PartName="/ppt/slides/_rels/slide22.xml.rels" ContentType="application/vnd.openxmlformats-package.relationships+xml"/>
  <Override PartName="/ppt/slides/_rels/slide45.xml.rels" ContentType="application/vnd.openxmlformats-package.relationships+xml"/>
  <Override PartName="/ppt/slides/_rels/slide23.xml.rels" ContentType="application/vnd.openxmlformats-package.relationships+xml"/>
  <Override PartName="/ppt/slides/_rels/slide46.xml.rels" ContentType="application/vnd.openxmlformats-package.relationships+xml"/>
  <Override PartName="/ppt/slides/_rels/slide24.xml.rels" ContentType="application/vnd.openxmlformats-package.relationships+xml"/>
  <Override PartName="/ppt/slides/_rels/slide47.xml.rels" ContentType="application/vnd.openxmlformats-package.relationships+xml"/>
  <Override PartName="/ppt/slides/_rels/slide25.xml.rels" ContentType="application/vnd.openxmlformats-package.relationships+xml"/>
  <Override PartName="/ppt/slides/_rels/slide48.xml.rels" ContentType="application/vnd.openxmlformats-package.relationships+xml"/>
  <Override PartName="/ppt/slides/_rels/slide26.xml.rels" ContentType="application/vnd.openxmlformats-package.relationships+xml"/>
  <Override PartName="/ppt/slides/_rels/slide4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52.xml.rels" ContentType="application/vnd.openxmlformats-package.relationships+xml"/>
  <Override PartName="/ppt/slides/_rels/slide30.xml.rels" ContentType="application/vnd.openxmlformats-package.relationships+xml"/>
  <Override PartName="/ppt/slides/_rels/slide53.xml.rels" ContentType="application/vnd.openxmlformats-package.relationships+xml"/>
  <Override PartName="/ppt/slides/_rels/slide31.xml.rels" ContentType="application/vnd.openxmlformats-package.relationships+xml"/>
  <Override PartName="/ppt/slides/_rels/slide62.xml.rels" ContentType="application/vnd.openxmlformats-package.relationships+xml"/>
  <Override PartName="/ppt/slides/_rels/slide40.xml.rels" ContentType="application/vnd.openxmlformats-package.relationships+xml"/>
  <Override PartName="/ppt/slides/_rels/slide63.xml.rels" ContentType="application/vnd.openxmlformats-package.relationships+xml"/>
  <Override PartName="/ppt/slides/_rels/slide41.xml.rels" ContentType="application/vnd.openxmlformats-package.relationships+xml"/>
  <Override PartName="/ppt/slides/_rels/slide50.xml.rels" ContentType="application/vnd.openxmlformats-package.relationships+xml"/>
  <Override PartName="/ppt/slides/_rels/slide51.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slides/_rels/slide67.xml.rels" ContentType="application/vnd.openxmlformats-package.relationships+xml"/>
  <Override PartName="/ppt/slides/_rels/slide68.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slides/_rels/slide75.xml.rels" ContentType="application/vnd.openxmlformats-package.relationships+xml"/>
  <Override PartName="/ppt/slides/_rels/slide76.xml.rels" ContentType="application/vnd.openxmlformats-package.relationships+xml"/>
  <Override PartName="/ppt/slides/_rels/slide77.xml.rels" ContentType="application/vnd.openxmlformats-package.relationships+xml"/>
  <Override PartName="/ppt/slides/_rels/slide78.xml.rels" ContentType="application/vnd.openxmlformats-package.relationships+xml"/>
  <Override PartName="/ppt/slides/_rels/slide79.xml.rels" ContentType="application/vnd.openxmlformats-package.relationships+xml"/>
  <Override PartName="/ppt/slides/_rels/slide80.xml.rels" ContentType="application/vnd.openxmlformats-package.relationships+xml"/>
  <Override PartName="/ppt/slides/_rels/slide81.xml.rels" ContentType="application/vnd.openxmlformats-package.relationships+xml"/>
  <Override PartName="/ppt/slides/_rels/slide82.xml.rels" ContentType="application/vnd.openxmlformats-package.relationships+xml"/>
  <Override PartName="/ppt/slides/_rels/slide83.xml.rels" ContentType="application/vnd.openxmlformats-package.relationships+xml"/>
  <Override PartName="/ppt/slides/_rels/slide84.xml.rels" ContentType="application/vnd.openxmlformats-package.relationships+xml"/>
  <Override PartName="/ppt/media/image1.jpeg" ContentType="image/jpeg"/>
  <Override PartName="/ppt/media/image2.jpeg" ContentType="image/jpeg"/>
  <Override PartName="/ppt/media/image3.jpeg" ContentType="image/jpeg"/>
  <Override PartName="/ppt/media/image6.png" ContentType="image/png"/>
  <Override PartName="/ppt/media/image4.png" ContentType="image/png"/>
  <Override PartName="/ppt/media/image5.png" ContentType="image/png"/>
  <Override PartName="/ppt/media/image12.jpeg" ContentType="image/jpeg"/>
  <Override PartName="/ppt/media/image7.jpeg" ContentType="image/jpeg"/>
  <Override PartName="/ppt/media/image8.jpeg" ContentType="image/jpeg"/>
  <Override PartName="/ppt/media/image13.jpeg" ContentType="image/jpeg"/>
  <Override PartName="/ppt/media/image9.jpeg" ContentType="image/jpeg"/>
  <Override PartName="/ppt/media/image14.jpeg" ContentType="image/jpeg"/>
  <Override PartName="/ppt/media/image10.jpeg" ContentType="image/jpeg"/>
  <Override PartName="/ppt/media/image11.jpeg" ContentType="image/jpeg"/>
  <Override PartName="/ppt/media/image15.jpeg" ContentType="image/jpeg"/>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 id="338" r:id="rId95"/>
    <p:sldId id="339" r:id="rId9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5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5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60" name="PlaceHolder 4"/>
          <p:cNvSpPr>
            <a:spLocks noGrp="1"/>
          </p:cNvSpPr>
          <p:nvPr>
            <p:ph type="dt" idx="3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61" name="PlaceHolder 5"/>
          <p:cNvSpPr>
            <a:spLocks noGrp="1"/>
          </p:cNvSpPr>
          <p:nvPr>
            <p:ph type="ftr" idx="3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2" name="PlaceHolder 6"/>
          <p:cNvSpPr>
            <a:spLocks noGrp="1"/>
          </p:cNvSpPr>
          <p:nvPr>
            <p:ph type="sldNum" idx="3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3814E71E-86E5-4924-B02A-741116ED3C1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type="sldImg"/>
          </p:nvPr>
        </p:nvSpPr>
        <p:spPr>
          <a:xfrm>
            <a:off x="685800" y="1143000"/>
            <a:ext cx="5485680" cy="3085560"/>
          </a:xfrm>
          <a:prstGeom prst="rect">
            <a:avLst/>
          </a:prstGeom>
          <a:ln w="0">
            <a:noFill/>
          </a:ln>
        </p:spPr>
      </p:sp>
      <p:sp>
        <p:nvSpPr>
          <p:cNvPr id="87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p:txBody>
      </p:sp>
      <p:sp>
        <p:nvSpPr>
          <p:cNvPr id="874" name="PlaceHolder 3"/>
          <p:cNvSpPr>
            <a:spLocks noGrp="1"/>
          </p:cNvSpPr>
          <p:nvPr>
            <p:ph type="sldNum" idx="19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0608C71-1C31-47BC-8E8F-2B55710EF4A4}"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5" name="PlaceHolder 1"/>
          <p:cNvSpPr>
            <a:spLocks noGrp="1"/>
          </p:cNvSpPr>
          <p:nvPr>
            <p:ph type="sldImg"/>
          </p:nvPr>
        </p:nvSpPr>
        <p:spPr>
          <a:xfrm>
            <a:off x="685800" y="1143000"/>
            <a:ext cx="5485680" cy="3085560"/>
          </a:xfrm>
          <a:prstGeom prst="rect">
            <a:avLst/>
          </a:prstGeom>
          <a:ln w="0">
            <a:noFill/>
          </a:ln>
        </p:spPr>
      </p:sp>
      <p:sp>
        <p:nvSpPr>
          <p:cNvPr id="87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877" name="PlaceHolder 3"/>
          <p:cNvSpPr>
            <a:spLocks noGrp="1"/>
          </p:cNvSpPr>
          <p:nvPr>
            <p:ph type="sldNum" idx="19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5C8E0E6-CF08-4365-B77A-6E8F74AD505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8" name="PlaceHolder 1"/>
          <p:cNvSpPr>
            <a:spLocks noGrp="1"/>
          </p:cNvSpPr>
          <p:nvPr>
            <p:ph type="sldImg"/>
          </p:nvPr>
        </p:nvSpPr>
        <p:spPr>
          <a:xfrm>
            <a:off x="685800" y="1143000"/>
            <a:ext cx="5485680" cy="3085560"/>
          </a:xfrm>
          <a:prstGeom prst="rect">
            <a:avLst/>
          </a:prstGeom>
          <a:ln w="0">
            <a:noFill/>
          </a:ln>
        </p:spPr>
      </p:sp>
      <p:sp>
        <p:nvSpPr>
          <p:cNvPr id="87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880" name="PlaceHolder 3"/>
          <p:cNvSpPr>
            <a:spLocks noGrp="1"/>
          </p:cNvSpPr>
          <p:nvPr>
            <p:ph type="sldNum" idx="19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8D336B2-366E-4697-AF44-93A45C4A07E3}"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1" name="PlaceHolder 1"/>
          <p:cNvSpPr>
            <a:spLocks noGrp="1"/>
          </p:cNvSpPr>
          <p:nvPr>
            <p:ph type="sldImg"/>
          </p:nvPr>
        </p:nvSpPr>
        <p:spPr>
          <a:xfrm>
            <a:off x="685800" y="1143000"/>
            <a:ext cx="5485680" cy="3085560"/>
          </a:xfrm>
          <a:prstGeom prst="rect">
            <a:avLst/>
          </a:prstGeom>
          <a:ln w="0">
            <a:noFill/>
          </a:ln>
        </p:spPr>
      </p:sp>
      <p:sp>
        <p:nvSpPr>
          <p:cNvPr id="88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883" name="PlaceHolder 3"/>
          <p:cNvSpPr>
            <a:spLocks noGrp="1"/>
          </p:cNvSpPr>
          <p:nvPr>
            <p:ph type="sldNum" idx="19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9FE8A34-9952-44FC-8BCF-B7791FB9C609}"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4" name="PlaceHolder 1"/>
          <p:cNvSpPr>
            <a:spLocks noGrp="1"/>
          </p:cNvSpPr>
          <p:nvPr>
            <p:ph type="sldImg"/>
          </p:nvPr>
        </p:nvSpPr>
        <p:spPr>
          <a:xfrm>
            <a:off x="685800" y="1143000"/>
            <a:ext cx="5485680" cy="3085560"/>
          </a:xfrm>
          <a:prstGeom prst="rect">
            <a:avLst/>
          </a:prstGeom>
          <a:ln w="0">
            <a:noFill/>
          </a:ln>
        </p:spPr>
      </p:sp>
      <p:sp>
        <p:nvSpPr>
          <p:cNvPr id="88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886" name="PlaceHolder 3"/>
          <p:cNvSpPr>
            <a:spLocks noGrp="1"/>
          </p:cNvSpPr>
          <p:nvPr>
            <p:ph type="sldNum" idx="19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B33601D-3CC0-47A9-8176-2B280AE1684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7" name="PlaceHolder 1"/>
          <p:cNvSpPr>
            <a:spLocks noGrp="1"/>
          </p:cNvSpPr>
          <p:nvPr>
            <p:ph type="sldImg"/>
          </p:nvPr>
        </p:nvSpPr>
        <p:spPr>
          <a:xfrm>
            <a:off x="685800" y="1143000"/>
            <a:ext cx="5485680" cy="3085560"/>
          </a:xfrm>
          <a:prstGeom prst="rect">
            <a:avLst/>
          </a:prstGeom>
          <a:ln w="0">
            <a:noFill/>
          </a:ln>
        </p:spPr>
      </p:sp>
      <p:sp>
        <p:nvSpPr>
          <p:cNvPr id="88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889" name="PlaceHolder 3"/>
          <p:cNvSpPr>
            <a:spLocks noGrp="1"/>
          </p:cNvSpPr>
          <p:nvPr>
            <p:ph type="sldNum" idx="19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E28A808-FC77-476D-9C27-8DF0D9DEF0EA}"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0" name="PlaceHolder 1"/>
          <p:cNvSpPr>
            <a:spLocks noGrp="1"/>
          </p:cNvSpPr>
          <p:nvPr>
            <p:ph type="sldImg"/>
          </p:nvPr>
        </p:nvSpPr>
        <p:spPr>
          <a:xfrm>
            <a:off x="685800" y="1143000"/>
            <a:ext cx="5485680" cy="3085560"/>
          </a:xfrm>
          <a:prstGeom prst="rect">
            <a:avLst/>
          </a:prstGeom>
          <a:ln w="0">
            <a:noFill/>
          </a:ln>
        </p:spPr>
      </p:sp>
      <p:sp>
        <p:nvSpPr>
          <p:cNvPr id="89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892" name="PlaceHolder 3"/>
          <p:cNvSpPr>
            <a:spLocks noGrp="1"/>
          </p:cNvSpPr>
          <p:nvPr>
            <p:ph type="sldNum" idx="20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2BC3882-C3A6-44E1-B435-096F10B2C21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3" name="PlaceHolder 1"/>
          <p:cNvSpPr>
            <a:spLocks noGrp="1"/>
          </p:cNvSpPr>
          <p:nvPr>
            <p:ph type="sldImg"/>
          </p:nvPr>
        </p:nvSpPr>
        <p:spPr>
          <a:xfrm>
            <a:off x="685800" y="1143000"/>
            <a:ext cx="5485680" cy="3085560"/>
          </a:xfrm>
          <a:prstGeom prst="rect">
            <a:avLst/>
          </a:prstGeom>
          <a:ln w="0">
            <a:noFill/>
          </a:ln>
        </p:spPr>
      </p:sp>
      <p:sp>
        <p:nvSpPr>
          <p:cNvPr id="89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895" name="PlaceHolder 3"/>
          <p:cNvSpPr>
            <a:spLocks noGrp="1"/>
          </p:cNvSpPr>
          <p:nvPr>
            <p:ph type="sldNum" idx="20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A43AB7B-879D-4312-816F-7D4206A75795}"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6" name="PlaceHolder 1"/>
          <p:cNvSpPr>
            <a:spLocks noGrp="1"/>
          </p:cNvSpPr>
          <p:nvPr>
            <p:ph type="sldImg"/>
          </p:nvPr>
        </p:nvSpPr>
        <p:spPr>
          <a:xfrm>
            <a:off x="685800" y="1143000"/>
            <a:ext cx="5485680" cy="3085560"/>
          </a:xfrm>
          <a:prstGeom prst="rect">
            <a:avLst/>
          </a:prstGeom>
          <a:ln w="0">
            <a:noFill/>
          </a:ln>
        </p:spPr>
      </p:sp>
      <p:sp>
        <p:nvSpPr>
          <p:cNvPr id="89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898" name="PlaceHolder 3"/>
          <p:cNvSpPr>
            <a:spLocks noGrp="1"/>
          </p:cNvSpPr>
          <p:nvPr>
            <p:ph type="sldNum" idx="20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9BE7498-85E4-4423-8061-910C0C4BA44A}"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9" name="PlaceHolder 1"/>
          <p:cNvSpPr>
            <a:spLocks noGrp="1"/>
          </p:cNvSpPr>
          <p:nvPr>
            <p:ph type="sldImg"/>
          </p:nvPr>
        </p:nvSpPr>
        <p:spPr>
          <a:xfrm>
            <a:off x="685800" y="1143000"/>
            <a:ext cx="5485680" cy="3085560"/>
          </a:xfrm>
          <a:prstGeom prst="rect">
            <a:avLst/>
          </a:prstGeom>
          <a:ln w="0">
            <a:noFill/>
          </a:ln>
        </p:spPr>
      </p:sp>
      <p:sp>
        <p:nvSpPr>
          <p:cNvPr id="90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01" name="PlaceHolder 3"/>
          <p:cNvSpPr>
            <a:spLocks noGrp="1"/>
          </p:cNvSpPr>
          <p:nvPr>
            <p:ph type="sldNum" idx="20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839B2E2-5486-4614-A6E4-2D64C44E75FA}"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2" name="PlaceHolder 1"/>
          <p:cNvSpPr>
            <a:spLocks noGrp="1"/>
          </p:cNvSpPr>
          <p:nvPr>
            <p:ph type="sldImg"/>
          </p:nvPr>
        </p:nvSpPr>
        <p:spPr>
          <a:xfrm>
            <a:off x="685800" y="1143000"/>
            <a:ext cx="5485680" cy="3085560"/>
          </a:xfrm>
          <a:prstGeom prst="rect">
            <a:avLst/>
          </a:prstGeom>
          <a:ln w="0">
            <a:noFill/>
          </a:ln>
        </p:spPr>
      </p:sp>
      <p:sp>
        <p:nvSpPr>
          <p:cNvPr id="90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04" name="PlaceHolder 3"/>
          <p:cNvSpPr>
            <a:spLocks noGrp="1"/>
          </p:cNvSpPr>
          <p:nvPr>
            <p:ph type="sldNum" idx="20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99A94D1-2833-4087-B927-2FC9AA07B9DD}"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5" name="PlaceHolder 1"/>
          <p:cNvSpPr>
            <a:spLocks noGrp="1"/>
          </p:cNvSpPr>
          <p:nvPr>
            <p:ph type="sldImg"/>
          </p:nvPr>
        </p:nvSpPr>
        <p:spPr>
          <a:xfrm>
            <a:off x="685800" y="1143000"/>
            <a:ext cx="5485680" cy="3085560"/>
          </a:xfrm>
          <a:prstGeom prst="rect">
            <a:avLst/>
          </a:prstGeom>
          <a:ln w="0">
            <a:noFill/>
          </a:ln>
        </p:spPr>
      </p:sp>
      <p:sp>
        <p:nvSpPr>
          <p:cNvPr id="90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07" name="PlaceHolder 3"/>
          <p:cNvSpPr>
            <a:spLocks noGrp="1"/>
          </p:cNvSpPr>
          <p:nvPr>
            <p:ph type="sldNum" idx="20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8B20535-9336-45A6-AE96-1B37D9E8C6F5}"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8" name="PlaceHolder 1"/>
          <p:cNvSpPr>
            <a:spLocks noGrp="1"/>
          </p:cNvSpPr>
          <p:nvPr>
            <p:ph type="sldImg"/>
          </p:nvPr>
        </p:nvSpPr>
        <p:spPr>
          <a:xfrm>
            <a:off x="685800" y="1143000"/>
            <a:ext cx="5485680" cy="3085560"/>
          </a:xfrm>
          <a:prstGeom prst="rect">
            <a:avLst/>
          </a:prstGeom>
          <a:ln w="0">
            <a:noFill/>
          </a:ln>
        </p:spPr>
      </p:sp>
      <p:sp>
        <p:nvSpPr>
          <p:cNvPr id="90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10" name="PlaceHolder 3"/>
          <p:cNvSpPr>
            <a:spLocks noGrp="1"/>
          </p:cNvSpPr>
          <p:nvPr>
            <p:ph type="sldNum" idx="20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9B14645-C8C1-480C-AC08-395C6AE3BC83}"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1" name="PlaceHolder 1"/>
          <p:cNvSpPr>
            <a:spLocks noGrp="1"/>
          </p:cNvSpPr>
          <p:nvPr>
            <p:ph type="sldImg"/>
          </p:nvPr>
        </p:nvSpPr>
        <p:spPr>
          <a:xfrm>
            <a:off x="685800" y="1143000"/>
            <a:ext cx="5485680" cy="3085560"/>
          </a:xfrm>
          <a:prstGeom prst="rect">
            <a:avLst/>
          </a:prstGeom>
          <a:ln w="0">
            <a:noFill/>
          </a:ln>
        </p:spPr>
      </p:sp>
      <p:sp>
        <p:nvSpPr>
          <p:cNvPr id="91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13" name="PlaceHolder 3"/>
          <p:cNvSpPr>
            <a:spLocks noGrp="1"/>
          </p:cNvSpPr>
          <p:nvPr>
            <p:ph type="sldNum" idx="20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38ADA8C-10D6-492C-8584-4163C530E15C}"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4" name="PlaceHolder 1"/>
          <p:cNvSpPr>
            <a:spLocks noGrp="1"/>
          </p:cNvSpPr>
          <p:nvPr>
            <p:ph type="sldImg"/>
          </p:nvPr>
        </p:nvSpPr>
        <p:spPr>
          <a:xfrm>
            <a:off x="685800" y="1143000"/>
            <a:ext cx="5485680" cy="3085560"/>
          </a:xfrm>
          <a:prstGeom prst="rect">
            <a:avLst/>
          </a:prstGeom>
          <a:ln w="0">
            <a:noFill/>
          </a:ln>
        </p:spPr>
      </p:sp>
      <p:sp>
        <p:nvSpPr>
          <p:cNvPr id="91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16" name="PlaceHolder 3"/>
          <p:cNvSpPr>
            <a:spLocks noGrp="1"/>
          </p:cNvSpPr>
          <p:nvPr>
            <p:ph type="sldNum" idx="20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AE65F84-0909-415D-B4A4-D5FE1A73E326}"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7" name="PlaceHolder 1"/>
          <p:cNvSpPr>
            <a:spLocks noGrp="1"/>
          </p:cNvSpPr>
          <p:nvPr>
            <p:ph type="sldImg"/>
          </p:nvPr>
        </p:nvSpPr>
        <p:spPr>
          <a:xfrm>
            <a:off x="685800" y="1143000"/>
            <a:ext cx="5485680" cy="3085560"/>
          </a:xfrm>
          <a:prstGeom prst="rect">
            <a:avLst/>
          </a:prstGeom>
          <a:ln w="0">
            <a:noFill/>
          </a:ln>
        </p:spPr>
      </p:sp>
      <p:sp>
        <p:nvSpPr>
          <p:cNvPr id="91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19" name="PlaceHolder 3"/>
          <p:cNvSpPr>
            <a:spLocks noGrp="1"/>
          </p:cNvSpPr>
          <p:nvPr>
            <p:ph type="sldNum" idx="20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B6FE608-155C-4283-879E-64DBC2B05AC2}"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0" name="PlaceHolder 1"/>
          <p:cNvSpPr>
            <a:spLocks noGrp="1"/>
          </p:cNvSpPr>
          <p:nvPr>
            <p:ph type="sldImg"/>
          </p:nvPr>
        </p:nvSpPr>
        <p:spPr>
          <a:xfrm>
            <a:off x="685800" y="1143000"/>
            <a:ext cx="5485680" cy="3085560"/>
          </a:xfrm>
          <a:prstGeom prst="rect">
            <a:avLst/>
          </a:prstGeom>
          <a:ln w="0">
            <a:noFill/>
          </a:ln>
        </p:spPr>
      </p:sp>
      <p:sp>
        <p:nvSpPr>
          <p:cNvPr id="92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22" name="PlaceHolder 3"/>
          <p:cNvSpPr>
            <a:spLocks noGrp="1"/>
          </p:cNvSpPr>
          <p:nvPr>
            <p:ph type="sldNum" idx="21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71C81A0-105E-4239-AC41-6DCC46544550}"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3" name="PlaceHolder 1"/>
          <p:cNvSpPr>
            <a:spLocks noGrp="1"/>
          </p:cNvSpPr>
          <p:nvPr>
            <p:ph type="sldImg"/>
          </p:nvPr>
        </p:nvSpPr>
        <p:spPr>
          <a:xfrm>
            <a:off x="685800" y="1143000"/>
            <a:ext cx="5485680" cy="3085560"/>
          </a:xfrm>
          <a:prstGeom prst="rect">
            <a:avLst/>
          </a:prstGeom>
          <a:ln w="0">
            <a:noFill/>
          </a:ln>
        </p:spPr>
      </p:sp>
      <p:sp>
        <p:nvSpPr>
          <p:cNvPr id="92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25" name="PlaceHolder 3"/>
          <p:cNvSpPr>
            <a:spLocks noGrp="1"/>
          </p:cNvSpPr>
          <p:nvPr>
            <p:ph type="sldNum" idx="21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BD00117-D2CC-4F69-A12F-9DCEB8260426}"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PlaceHolder 1"/>
          <p:cNvSpPr>
            <a:spLocks noGrp="1"/>
          </p:cNvSpPr>
          <p:nvPr>
            <p:ph type="sldImg"/>
          </p:nvPr>
        </p:nvSpPr>
        <p:spPr>
          <a:xfrm>
            <a:off x="685800" y="1143000"/>
            <a:ext cx="5485680" cy="3085560"/>
          </a:xfrm>
          <a:prstGeom prst="rect">
            <a:avLst/>
          </a:prstGeom>
          <a:ln w="0">
            <a:noFill/>
          </a:ln>
        </p:spPr>
      </p:sp>
      <p:sp>
        <p:nvSpPr>
          <p:cNvPr id="92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28" name="PlaceHolder 3"/>
          <p:cNvSpPr>
            <a:spLocks noGrp="1"/>
          </p:cNvSpPr>
          <p:nvPr>
            <p:ph type="sldNum" idx="21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BBE98D6-73CF-4691-8DA8-BB908CECE09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9" name="PlaceHolder 1"/>
          <p:cNvSpPr>
            <a:spLocks noGrp="1"/>
          </p:cNvSpPr>
          <p:nvPr>
            <p:ph type="sldImg"/>
          </p:nvPr>
        </p:nvSpPr>
        <p:spPr>
          <a:xfrm>
            <a:off x="685800" y="1143000"/>
            <a:ext cx="5485680" cy="3085560"/>
          </a:xfrm>
          <a:prstGeom prst="rect">
            <a:avLst/>
          </a:prstGeom>
          <a:ln w="0">
            <a:noFill/>
          </a:ln>
        </p:spPr>
      </p:sp>
      <p:sp>
        <p:nvSpPr>
          <p:cNvPr id="93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31" name="PlaceHolder 3"/>
          <p:cNvSpPr>
            <a:spLocks noGrp="1"/>
          </p:cNvSpPr>
          <p:nvPr>
            <p:ph type="sldNum" idx="21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D4A1C58-0A04-4FD0-800A-F3705EC53AC6}"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2" name="PlaceHolder 1"/>
          <p:cNvSpPr>
            <a:spLocks noGrp="1"/>
          </p:cNvSpPr>
          <p:nvPr>
            <p:ph type="sldImg"/>
          </p:nvPr>
        </p:nvSpPr>
        <p:spPr>
          <a:xfrm>
            <a:off x="685800" y="1143000"/>
            <a:ext cx="5485680" cy="3085560"/>
          </a:xfrm>
          <a:prstGeom prst="rect">
            <a:avLst/>
          </a:prstGeom>
          <a:ln w="0">
            <a:noFill/>
          </a:ln>
        </p:spPr>
      </p:sp>
      <p:sp>
        <p:nvSpPr>
          <p:cNvPr id="93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34" name="PlaceHolder 3"/>
          <p:cNvSpPr>
            <a:spLocks noGrp="1"/>
          </p:cNvSpPr>
          <p:nvPr>
            <p:ph type="sldNum" idx="21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9B8558C-B371-4201-A0DC-735F47AC4D6F}"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5" name="PlaceHolder 1"/>
          <p:cNvSpPr>
            <a:spLocks noGrp="1"/>
          </p:cNvSpPr>
          <p:nvPr>
            <p:ph type="sldImg"/>
          </p:nvPr>
        </p:nvSpPr>
        <p:spPr>
          <a:xfrm>
            <a:off x="685800" y="1143000"/>
            <a:ext cx="5485680" cy="3085560"/>
          </a:xfrm>
          <a:prstGeom prst="rect">
            <a:avLst/>
          </a:prstGeom>
          <a:ln w="0">
            <a:noFill/>
          </a:ln>
        </p:spPr>
      </p:sp>
      <p:sp>
        <p:nvSpPr>
          <p:cNvPr id="93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37" name="PlaceHolder 3"/>
          <p:cNvSpPr>
            <a:spLocks noGrp="1"/>
          </p:cNvSpPr>
          <p:nvPr>
            <p:ph type="sldNum" idx="21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27D2C4E-1BD0-4D74-BF9F-9BF058441C89}"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8" name="PlaceHolder 1"/>
          <p:cNvSpPr>
            <a:spLocks noGrp="1"/>
          </p:cNvSpPr>
          <p:nvPr>
            <p:ph type="sldImg"/>
          </p:nvPr>
        </p:nvSpPr>
        <p:spPr>
          <a:xfrm>
            <a:off x="685800" y="1143000"/>
            <a:ext cx="5485680" cy="3085560"/>
          </a:xfrm>
          <a:prstGeom prst="rect">
            <a:avLst/>
          </a:prstGeom>
          <a:ln w="0">
            <a:noFill/>
          </a:ln>
        </p:spPr>
      </p:sp>
      <p:sp>
        <p:nvSpPr>
          <p:cNvPr id="93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40" name="PlaceHolder 3"/>
          <p:cNvSpPr>
            <a:spLocks noGrp="1"/>
          </p:cNvSpPr>
          <p:nvPr>
            <p:ph type="sldNum" idx="21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396171D-196C-4E71-8A40-574A7EB83F8E}"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1" name="PlaceHolder 1"/>
          <p:cNvSpPr>
            <a:spLocks noGrp="1"/>
          </p:cNvSpPr>
          <p:nvPr>
            <p:ph type="sldImg"/>
          </p:nvPr>
        </p:nvSpPr>
        <p:spPr>
          <a:xfrm>
            <a:off x="685800" y="1143000"/>
            <a:ext cx="5485680" cy="3085560"/>
          </a:xfrm>
          <a:prstGeom prst="rect">
            <a:avLst/>
          </a:prstGeom>
          <a:ln w="0">
            <a:noFill/>
          </a:ln>
        </p:spPr>
      </p:sp>
      <p:sp>
        <p:nvSpPr>
          <p:cNvPr id="94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43" name="PlaceHolder 3"/>
          <p:cNvSpPr>
            <a:spLocks noGrp="1"/>
          </p:cNvSpPr>
          <p:nvPr>
            <p:ph type="sldNum" idx="21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544309D-51D1-41DB-8287-F25437469339}"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 name="PlaceHolder 1"/>
          <p:cNvSpPr>
            <a:spLocks noGrp="1"/>
          </p:cNvSpPr>
          <p:nvPr>
            <p:ph type="sldImg"/>
          </p:nvPr>
        </p:nvSpPr>
        <p:spPr>
          <a:xfrm>
            <a:off x="685800" y="1143000"/>
            <a:ext cx="5485680" cy="3085560"/>
          </a:xfrm>
          <a:prstGeom prst="rect">
            <a:avLst/>
          </a:prstGeom>
          <a:ln w="0">
            <a:noFill/>
          </a:ln>
        </p:spPr>
      </p:sp>
      <p:sp>
        <p:nvSpPr>
          <p:cNvPr id="94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46" name="PlaceHolder 3"/>
          <p:cNvSpPr>
            <a:spLocks noGrp="1"/>
          </p:cNvSpPr>
          <p:nvPr>
            <p:ph type="sldNum" idx="21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816A5B8-ED5E-4D3D-952A-6D4B4D6AC06B}"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7" name="PlaceHolder 1"/>
          <p:cNvSpPr>
            <a:spLocks noGrp="1"/>
          </p:cNvSpPr>
          <p:nvPr>
            <p:ph type="sldImg"/>
          </p:nvPr>
        </p:nvSpPr>
        <p:spPr>
          <a:xfrm>
            <a:off x="685800" y="1143000"/>
            <a:ext cx="5485680" cy="3085560"/>
          </a:xfrm>
          <a:prstGeom prst="rect">
            <a:avLst/>
          </a:prstGeom>
          <a:ln w="0">
            <a:noFill/>
          </a:ln>
        </p:spPr>
      </p:sp>
      <p:sp>
        <p:nvSpPr>
          <p:cNvPr id="94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49" name="PlaceHolder 3"/>
          <p:cNvSpPr>
            <a:spLocks noGrp="1"/>
          </p:cNvSpPr>
          <p:nvPr>
            <p:ph type="sldNum" idx="21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436ADCE-73E4-4811-B591-DD146786026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 name="PlaceHolder 1"/>
          <p:cNvSpPr>
            <a:spLocks noGrp="1"/>
          </p:cNvSpPr>
          <p:nvPr>
            <p:ph type="sldImg"/>
          </p:nvPr>
        </p:nvSpPr>
        <p:spPr>
          <a:xfrm>
            <a:off x="685800" y="1143000"/>
            <a:ext cx="5485680" cy="3085560"/>
          </a:xfrm>
          <a:prstGeom prst="rect">
            <a:avLst/>
          </a:prstGeom>
          <a:ln w="0">
            <a:noFill/>
          </a:ln>
        </p:spPr>
      </p:sp>
      <p:sp>
        <p:nvSpPr>
          <p:cNvPr id="95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52" name="PlaceHolder 3"/>
          <p:cNvSpPr>
            <a:spLocks noGrp="1"/>
          </p:cNvSpPr>
          <p:nvPr>
            <p:ph type="sldNum" idx="22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B2965AD-021A-4821-9007-D36A3CAE26FC}"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 name="PlaceHolder 1"/>
          <p:cNvSpPr>
            <a:spLocks noGrp="1"/>
          </p:cNvSpPr>
          <p:nvPr>
            <p:ph type="sldImg"/>
          </p:nvPr>
        </p:nvSpPr>
        <p:spPr>
          <a:xfrm>
            <a:off x="685800" y="1143000"/>
            <a:ext cx="5485680" cy="3085560"/>
          </a:xfrm>
          <a:prstGeom prst="rect">
            <a:avLst/>
          </a:prstGeom>
          <a:ln w="0">
            <a:noFill/>
          </a:ln>
        </p:spPr>
      </p:sp>
      <p:sp>
        <p:nvSpPr>
          <p:cNvPr id="95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55" name="PlaceHolder 3"/>
          <p:cNvSpPr>
            <a:spLocks noGrp="1"/>
          </p:cNvSpPr>
          <p:nvPr>
            <p:ph type="sldNum" idx="22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56AC902-2CA9-4951-860B-6F78B24AB326}"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PlaceHolder 1"/>
          <p:cNvSpPr>
            <a:spLocks noGrp="1"/>
          </p:cNvSpPr>
          <p:nvPr>
            <p:ph type="sldImg"/>
          </p:nvPr>
        </p:nvSpPr>
        <p:spPr>
          <a:xfrm>
            <a:off x="685800" y="1143000"/>
            <a:ext cx="5485680" cy="3085560"/>
          </a:xfrm>
          <a:prstGeom prst="rect">
            <a:avLst/>
          </a:prstGeom>
          <a:ln w="0">
            <a:noFill/>
          </a:ln>
        </p:spPr>
      </p:sp>
      <p:sp>
        <p:nvSpPr>
          <p:cNvPr id="95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58" name="PlaceHolder 3"/>
          <p:cNvSpPr>
            <a:spLocks noGrp="1"/>
          </p:cNvSpPr>
          <p:nvPr>
            <p:ph type="sldNum" idx="22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396352F-0B94-45EA-9B5A-4EA2A0EA330E}"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9" name="PlaceHolder 1"/>
          <p:cNvSpPr>
            <a:spLocks noGrp="1"/>
          </p:cNvSpPr>
          <p:nvPr>
            <p:ph type="sldImg"/>
          </p:nvPr>
        </p:nvSpPr>
        <p:spPr>
          <a:xfrm>
            <a:off x="685800" y="1143000"/>
            <a:ext cx="5485680" cy="3085560"/>
          </a:xfrm>
          <a:prstGeom prst="rect">
            <a:avLst/>
          </a:prstGeom>
          <a:ln w="0">
            <a:noFill/>
          </a:ln>
        </p:spPr>
      </p:sp>
      <p:sp>
        <p:nvSpPr>
          <p:cNvPr id="96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61" name="PlaceHolder 3"/>
          <p:cNvSpPr>
            <a:spLocks noGrp="1"/>
          </p:cNvSpPr>
          <p:nvPr>
            <p:ph type="sldNum" idx="22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CCF9634-68AB-4B5F-942C-A45AC7988145}"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 name="PlaceHolder 1"/>
          <p:cNvSpPr>
            <a:spLocks noGrp="1"/>
          </p:cNvSpPr>
          <p:nvPr>
            <p:ph type="sldImg"/>
          </p:nvPr>
        </p:nvSpPr>
        <p:spPr>
          <a:xfrm>
            <a:off x="685800" y="1143000"/>
            <a:ext cx="5485680" cy="3085560"/>
          </a:xfrm>
          <a:prstGeom prst="rect">
            <a:avLst/>
          </a:prstGeom>
          <a:ln w="0">
            <a:noFill/>
          </a:ln>
        </p:spPr>
      </p:sp>
      <p:sp>
        <p:nvSpPr>
          <p:cNvPr id="96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64" name="PlaceHolder 3"/>
          <p:cNvSpPr>
            <a:spLocks noGrp="1"/>
          </p:cNvSpPr>
          <p:nvPr>
            <p:ph type="sldNum" idx="22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73EB35A-5A8C-4B21-8BB2-2AEC2F548A95}"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5" name="PlaceHolder 1"/>
          <p:cNvSpPr>
            <a:spLocks noGrp="1"/>
          </p:cNvSpPr>
          <p:nvPr>
            <p:ph type="sldImg"/>
          </p:nvPr>
        </p:nvSpPr>
        <p:spPr>
          <a:xfrm>
            <a:off x="685800" y="1143000"/>
            <a:ext cx="5485680" cy="3085560"/>
          </a:xfrm>
          <a:prstGeom prst="rect">
            <a:avLst/>
          </a:prstGeom>
          <a:ln w="0">
            <a:noFill/>
          </a:ln>
        </p:spPr>
      </p:sp>
      <p:sp>
        <p:nvSpPr>
          <p:cNvPr id="96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67" name="PlaceHolder 3"/>
          <p:cNvSpPr>
            <a:spLocks noGrp="1"/>
          </p:cNvSpPr>
          <p:nvPr>
            <p:ph type="sldNum" idx="22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17D8DD7-A166-4AFA-B189-42EADCBE9227}"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 name="PlaceHolder 1"/>
          <p:cNvSpPr>
            <a:spLocks noGrp="1"/>
          </p:cNvSpPr>
          <p:nvPr>
            <p:ph type="sldImg"/>
          </p:nvPr>
        </p:nvSpPr>
        <p:spPr>
          <a:xfrm>
            <a:off x="685800" y="1143000"/>
            <a:ext cx="5485680" cy="3085560"/>
          </a:xfrm>
          <a:prstGeom prst="rect">
            <a:avLst/>
          </a:prstGeom>
          <a:ln w="0">
            <a:noFill/>
          </a:ln>
        </p:spPr>
      </p:sp>
      <p:sp>
        <p:nvSpPr>
          <p:cNvPr id="96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70" name="PlaceHolder 3"/>
          <p:cNvSpPr>
            <a:spLocks noGrp="1"/>
          </p:cNvSpPr>
          <p:nvPr>
            <p:ph type="sldNum" idx="22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FB10E9A-78E8-4CEE-B567-EB5F3CC2F0A5}"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1" name="PlaceHolder 1"/>
          <p:cNvSpPr>
            <a:spLocks noGrp="1"/>
          </p:cNvSpPr>
          <p:nvPr>
            <p:ph type="sldImg"/>
          </p:nvPr>
        </p:nvSpPr>
        <p:spPr>
          <a:xfrm>
            <a:off x="685800" y="1143000"/>
            <a:ext cx="5485680" cy="3085560"/>
          </a:xfrm>
          <a:prstGeom prst="rect">
            <a:avLst/>
          </a:prstGeom>
          <a:ln w="0">
            <a:noFill/>
          </a:ln>
        </p:spPr>
      </p:sp>
      <p:sp>
        <p:nvSpPr>
          <p:cNvPr id="97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73" name="PlaceHolder 3"/>
          <p:cNvSpPr>
            <a:spLocks noGrp="1"/>
          </p:cNvSpPr>
          <p:nvPr>
            <p:ph type="sldNum" idx="22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8FD721C-A567-4AC3-B527-937593D1E052}"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 name="PlaceHolder 1"/>
          <p:cNvSpPr>
            <a:spLocks noGrp="1"/>
          </p:cNvSpPr>
          <p:nvPr>
            <p:ph type="sldImg"/>
          </p:nvPr>
        </p:nvSpPr>
        <p:spPr>
          <a:xfrm>
            <a:off x="685800" y="1143000"/>
            <a:ext cx="5485680" cy="3085560"/>
          </a:xfrm>
          <a:prstGeom prst="rect">
            <a:avLst/>
          </a:prstGeom>
          <a:ln w="0">
            <a:noFill/>
          </a:ln>
        </p:spPr>
      </p:sp>
      <p:sp>
        <p:nvSpPr>
          <p:cNvPr id="97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76" name="PlaceHolder 3"/>
          <p:cNvSpPr>
            <a:spLocks noGrp="1"/>
          </p:cNvSpPr>
          <p:nvPr>
            <p:ph type="sldNum" idx="22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F2979D2-3DAC-47DB-9AC3-7A6E114816F5}"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7" name="PlaceHolder 1"/>
          <p:cNvSpPr>
            <a:spLocks noGrp="1"/>
          </p:cNvSpPr>
          <p:nvPr>
            <p:ph type="sldImg"/>
          </p:nvPr>
        </p:nvSpPr>
        <p:spPr>
          <a:xfrm>
            <a:off x="685800" y="1143000"/>
            <a:ext cx="5485680" cy="3085560"/>
          </a:xfrm>
          <a:prstGeom prst="rect">
            <a:avLst/>
          </a:prstGeom>
          <a:ln w="0">
            <a:noFill/>
          </a:ln>
        </p:spPr>
      </p:sp>
      <p:sp>
        <p:nvSpPr>
          <p:cNvPr id="97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79" name="PlaceHolder 3"/>
          <p:cNvSpPr>
            <a:spLocks noGrp="1"/>
          </p:cNvSpPr>
          <p:nvPr>
            <p:ph type="sldNum" idx="22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19E040D-CFF0-4002-A874-7E141E700CDD}"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PlaceHolder 1"/>
          <p:cNvSpPr>
            <a:spLocks noGrp="1"/>
          </p:cNvSpPr>
          <p:nvPr>
            <p:ph type="sldImg"/>
          </p:nvPr>
        </p:nvSpPr>
        <p:spPr>
          <a:xfrm>
            <a:off x="685800" y="1143000"/>
            <a:ext cx="5485680" cy="3085560"/>
          </a:xfrm>
          <a:prstGeom prst="rect">
            <a:avLst/>
          </a:prstGeom>
          <a:ln w="0">
            <a:noFill/>
          </a:ln>
        </p:spPr>
      </p:sp>
      <p:sp>
        <p:nvSpPr>
          <p:cNvPr id="98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82" name="PlaceHolder 3"/>
          <p:cNvSpPr>
            <a:spLocks noGrp="1"/>
          </p:cNvSpPr>
          <p:nvPr>
            <p:ph type="sldNum" idx="23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93F4652-0964-47CD-91A5-862369148242}"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3" name="PlaceHolder 1"/>
          <p:cNvSpPr>
            <a:spLocks noGrp="1"/>
          </p:cNvSpPr>
          <p:nvPr>
            <p:ph type="sldImg"/>
          </p:nvPr>
        </p:nvSpPr>
        <p:spPr>
          <a:xfrm>
            <a:off x="685800" y="1143000"/>
            <a:ext cx="5485680" cy="3085560"/>
          </a:xfrm>
          <a:prstGeom prst="rect">
            <a:avLst/>
          </a:prstGeom>
          <a:ln w="0">
            <a:noFill/>
          </a:ln>
        </p:spPr>
      </p:sp>
      <p:sp>
        <p:nvSpPr>
          <p:cNvPr id="98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85" name="PlaceHolder 3"/>
          <p:cNvSpPr>
            <a:spLocks noGrp="1"/>
          </p:cNvSpPr>
          <p:nvPr>
            <p:ph type="sldNum" idx="23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99942D3-D385-4CAB-90DF-87668CDFB682}"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 name="PlaceHolder 1"/>
          <p:cNvSpPr>
            <a:spLocks noGrp="1"/>
          </p:cNvSpPr>
          <p:nvPr>
            <p:ph type="sldImg"/>
          </p:nvPr>
        </p:nvSpPr>
        <p:spPr>
          <a:xfrm>
            <a:off x="685800" y="1143000"/>
            <a:ext cx="5485680" cy="3085560"/>
          </a:xfrm>
          <a:prstGeom prst="rect">
            <a:avLst/>
          </a:prstGeom>
          <a:ln w="0">
            <a:noFill/>
          </a:ln>
        </p:spPr>
      </p:sp>
      <p:sp>
        <p:nvSpPr>
          <p:cNvPr id="98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88" name="PlaceHolder 3"/>
          <p:cNvSpPr>
            <a:spLocks noGrp="1"/>
          </p:cNvSpPr>
          <p:nvPr>
            <p:ph type="sldNum" idx="23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5B47EB5-A249-4397-8CBB-1D9AD7F83953}"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9" name="PlaceHolder 1"/>
          <p:cNvSpPr>
            <a:spLocks noGrp="1"/>
          </p:cNvSpPr>
          <p:nvPr>
            <p:ph type="sldImg"/>
          </p:nvPr>
        </p:nvSpPr>
        <p:spPr>
          <a:xfrm>
            <a:off x="685800" y="1143000"/>
            <a:ext cx="5485680" cy="3085560"/>
          </a:xfrm>
          <a:prstGeom prst="rect">
            <a:avLst/>
          </a:prstGeom>
          <a:ln w="0">
            <a:noFill/>
          </a:ln>
        </p:spPr>
      </p:sp>
      <p:sp>
        <p:nvSpPr>
          <p:cNvPr id="99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91" name="PlaceHolder 3"/>
          <p:cNvSpPr>
            <a:spLocks noGrp="1"/>
          </p:cNvSpPr>
          <p:nvPr>
            <p:ph type="sldNum" idx="23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8B31AA3-2770-43E5-829C-CD1157F47EDF}"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2" name="PlaceHolder 1"/>
          <p:cNvSpPr>
            <a:spLocks noGrp="1"/>
          </p:cNvSpPr>
          <p:nvPr>
            <p:ph type="sldImg"/>
          </p:nvPr>
        </p:nvSpPr>
        <p:spPr>
          <a:xfrm>
            <a:off x="685800" y="1143000"/>
            <a:ext cx="5485680" cy="3085560"/>
          </a:xfrm>
          <a:prstGeom prst="rect">
            <a:avLst/>
          </a:prstGeom>
          <a:ln w="0">
            <a:noFill/>
          </a:ln>
        </p:spPr>
      </p:sp>
      <p:sp>
        <p:nvSpPr>
          <p:cNvPr id="99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94" name="PlaceHolder 3"/>
          <p:cNvSpPr>
            <a:spLocks noGrp="1"/>
          </p:cNvSpPr>
          <p:nvPr>
            <p:ph type="sldNum" idx="23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A42CBD1-EA54-4A04-A7CA-4E08BC4EFEC4}"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5" name="PlaceHolder 1"/>
          <p:cNvSpPr>
            <a:spLocks noGrp="1"/>
          </p:cNvSpPr>
          <p:nvPr>
            <p:ph type="sldImg"/>
          </p:nvPr>
        </p:nvSpPr>
        <p:spPr>
          <a:xfrm>
            <a:off x="685800" y="1143000"/>
            <a:ext cx="5485680" cy="3085560"/>
          </a:xfrm>
          <a:prstGeom prst="rect">
            <a:avLst/>
          </a:prstGeom>
          <a:ln w="0">
            <a:noFill/>
          </a:ln>
        </p:spPr>
      </p:sp>
      <p:sp>
        <p:nvSpPr>
          <p:cNvPr id="99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997" name="PlaceHolder 3"/>
          <p:cNvSpPr>
            <a:spLocks noGrp="1"/>
          </p:cNvSpPr>
          <p:nvPr>
            <p:ph type="sldNum" idx="23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4480228-BAD3-4994-90FE-33FEAFCD8284}"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8" name="PlaceHolder 1"/>
          <p:cNvSpPr>
            <a:spLocks noGrp="1"/>
          </p:cNvSpPr>
          <p:nvPr>
            <p:ph type="sldImg"/>
          </p:nvPr>
        </p:nvSpPr>
        <p:spPr>
          <a:xfrm>
            <a:off x="685800" y="1143000"/>
            <a:ext cx="5485680" cy="3085560"/>
          </a:xfrm>
          <a:prstGeom prst="rect">
            <a:avLst/>
          </a:prstGeom>
          <a:ln w="0">
            <a:noFill/>
          </a:ln>
        </p:spPr>
      </p:sp>
      <p:sp>
        <p:nvSpPr>
          <p:cNvPr id="99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00" name="PlaceHolder 3"/>
          <p:cNvSpPr>
            <a:spLocks noGrp="1"/>
          </p:cNvSpPr>
          <p:nvPr>
            <p:ph type="sldNum" idx="23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558A328-D756-47DF-A206-8853360E9D4D}"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1" name="PlaceHolder 1"/>
          <p:cNvSpPr>
            <a:spLocks noGrp="1"/>
          </p:cNvSpPr>
          <p:nvPr>
            <p:ph type="sldImg"/>
          </p:nvPr>
        </p:nvSpPr>
        <p:spPr>
          <a:xfrm>
            <a:off x="685800" y="1143000"/>
            <a:ext cx="5485680" cy="3085560"/>
          </a:xfrm>
          <a:prstGeom prst="rect">
            <a:avLst/>
          </a:prstGeom>
          <a:ln w="0">
            <a:noFill/>
          </a:ln>
        </p:spPr>
      </p:sp>
      <p:sp>
        <p:nvSpPr>
          <p:cNvPr id="100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03" name="PlaceHolder 3"/>
          <p:cNvSpPr>
            <a:spLocks noGrp="1"/>
          </p:cNvSpPr>
          <p:nvPr>
            <p:ph type="sldNum" idx="23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AAB9C64-DCC4-45B3-8067-299EFBC65C97}"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4" name="PlaceHolder 1"/>
          <p:cNvSpPr>
            <a:spLocks noGrp="1"/>
          </p:cNvSpPr>
          <p:nvPr>
            <p:ph type="sldImg"/>
          </p:nvPr>
        </p:nvSpPr>
        <p:spPr>
          <a:xfrm>
            <a:off x="685800" y="1143000"/>
            <a:ext cx="5485680" cy="3085560"/>
          </a:xfrm>
          <a:prstGeom prst="rect">
            <a:avLst/>
          </a:prstGeom>
          <a:ln w="0">
            <a:noFill/>
          </a:ln>
        </p:spPr>
      </p:sp>
      <p:sp>
        <p:nvSpPr>
          <p:cNvPr id="100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06" name="PlaceHolder 3"/>
          <p:cNvSpPr>
            <a:spLocks noGrp="1"/>
          </p:cNvSpPr>
          <p:nvPr>
            <p:ph type="sldNum" idx="23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2D9DEEE-152E-4036-9B32-C8B23E4831A8}"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7" name="PlaceHolder 1"/>
          <p:cNvSpPr>
            <a:spLocks noGrp="1"/>
          </p:cNvSpPr>
          <p:nvPr>
            <p:ph type="sldImg"/>
          </p:nvPr>
        </p:nvSpPr>
        <p:spPr>
          <a:xfrm>
            <a:off x="685800" y="1143000"/>
            <a:ext cx="5485680" cy="3085560"/>
          </a:xfrm>
          <a:prstGeom prst="rect">
            <a:avLst/>
          </a:prstGeom>
          <a:ln w="0">
            <a:noFill/>
          </a:ln>
        </p:spPr>
      </p:sp>
      <p:sp>
        <p:nvSpPr>
          <p:cNvPr id="100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09" name="PlaceHolder 3"/>
          <p:cNvSpPr>
            <a:spLocks noGrp="1"/>
          </p:cNvSpPr>
          <p:nvPr>
            <p:ph type="sldNum" idx="23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F2BFCDA-9308-4C75-A23C-172E3C0F19AC}"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0" name="PlaceHolder 1"/>
          <p:cNvSpPr>
            <a:spLocks noGrp="1"/>
          </p:cNvSpPr>
          <p:nvPr>
            <p:ph type="sldImg"/>
          </p:nvPr>
        </p:nvSpPr>
        <p:spPr>
          <a:xfrm>
            <a:off x="685800" y="1143000"/>
            <a:ext cx="5485680" cy="3085560"/>
          </a:xfrm>
          <a:prstGeom prst="rect">
            <a:avLst/>
          </a:prstGeom>
          <a:ln w="0">
            <a:noFill/>
          </a:ln>
        </p:spPr>
      </p:sp>
      <p:sp>
        <p:nvSpPr>
          <p:cNvPr id="101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12" name="PlaceHolder 3"/>
          <p:cNvSpPr>
            <a:spLocks noGrp="1"/>
          </p:cNvSpPr>
          <p:nvPr>
            <p:ph type="sldNum" idx="24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4E678A8-8965-448F-BEDE-7EC2A1316D4C}"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3" name="PlaceHolder 1"/>
          <p:cNvSpPr>
            <a:spLocks noGrp="1"/>
          </p:cNvSpPr>
          <p:nvPr>
            <p:ph type="sldImg"/>
          </p:nvPr>
        </p:nvSpPr>
        <p:spPr>
          <a:xfrm>
            <a:off x="685800" y="1143000"/>
            <a:ext cx="5485680" cy="3085560"/>
          </a:xfrm>
          <a:prstGeom prst="rect">
            <a:avLst/>
          </a:prstGeom>
          <a:ln w="0">
            <a:noFill/>
          </a:ln>
        </p:spPr>
      </p:sp>
      <p:sp>
        <p:nvSpPr>
          <p:cNvPr id="101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15" name="PlaceHolder 3"/>
          <p:cNvSpPr>
            <a:spLocks noGrp="1"/>
          </p:cNvSpPr>
          <p:nvPr>
            <p:ph type="sldNum" idx="24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E29EF58-72F3-4011-8E6A-957B4B0C0B1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 name="PlaceHolder 1"/>
          <p:cNvSpPr>
            <a:spLocks noGrp="1"/>
          </p:cNvSpPr>
          <p:nvPr>
            <p:ph type="sldImg"/>
          </p:nvPr>
        </p:nvSpPr>
        <p:spPr>
          <a:xfrm>
            <a:off x="685800" y="1143000"/>
            <a:ext cx="5485680" cy="3085560"/>
          </a:xfrm>
          <a:prstGeom prst="rect">
            <a:avLst/>
          </a:prstGeom>
          <a:ln w="0">
            <a:noFill/>
          </a:ln>
        </p:spPr>
      </p:sp>
      <p:sp>
        <p:nvSpPr>
          <p:cNvPr id="101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18" name="PlaceHolder 3"/>
          <p:cNvSpPr>
            <a:spLocks noGrp="1"/>
          </p:cNvSpPr>
          <p:nvPr>
            <p:ph type="sldNum" idx="24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E54FCDF-549D-4F50-84A8-AFE817047F20}"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 name="PlaceHolder 1"/>
          <p:cNvSpPr>
            <a:spLocks noGrp="1"/>
          </p:cNvSpPr>
          <p:nvPr>
            <p:ph type="sldImg"/>
          </p:nvPr>
        </p:nvSpPr>
        <p:spPr>
          <a:xfrm>
            <a:off x="685800" y="1143000"/>
            <a:ext cx="5485680" cy="3085560"/>
          </a:xfrm>
          <a:prstGeom prst="rect">
            <a:avLst/>
          </a:prstGeom>
          <a:ln w="0">
            <a:noFill/>
          </a:ln>
        </p:spPr>
      </p:sp>
      <p:sp>
        <p:nvSpPr>
          <p:cNvPr id="102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21" name="PlaceHolder 3"/>
          <p:cNvSpPr>
            <a:spLocks noGrp="1"/>
          </p:cNvSpPr>
          <p:nvPr>
            <p:ph type="sldNum" idx="24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DDA3816-3B4C-42B7-99A6-E4F17C5B5B70}"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2" name="PlaceHolder 1"/>
          <p:cNvSpPr>
            <a:spLocks noGrp="1"/>
          </p:cNvSpPr>
          <p:nvPr>
            <p:ph type="sldImg"/>
          </p:nvPr>
        </p:nvSpPr>
        <p:spPr>
          <a:xfrm>
            <a:off x="685800" y="1143000"/>
            <a:ext cx="5485680" cy="3085560"/>
          </a:xfrm>
          <a:prstGeom prst="rect">
            <a:avLst/>
          </a:prstGeom>
          <a:ln w="0">
            <a:noFill/>
          </a:ln>
        </p:spPr>
      </p:sp>
      <p:sp>
        <p:nvSpPr>
          <p:cNvPr id="102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24" name="PlaceHolder 3"/>
          <p:cNvSpPr>
            <a:spLocks noGrp="1"/>
          </p:cNvSpPr>
          <p:nvPr>
            <p:ph type="sldNum" idx="24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4E5DA96-47E0-4615-B6C1-1713607EF9DC}"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5" name="PlaceHolder 1"/>
          <p:cNvSpPr>
            <a:spLocks noGrp="1"/>
          </p:cNvSpPr>
          <p:nvPr>
            <p:ph type="sldImg"/>
          </p:nvPr>
        </p:nvSpPr>
        <p:spPr>
          <a:xfrm>
            <a:off x="685800" y="1143000"/>
            <a:ext cx="5485680" cy="3085560"/>
          </a:xfrm>
          <a:prstGeom prst="rect">
            <a:avLst/>
          </a:prstGeom>
          <a:ln w="0">
            <a:noFill/>
          </a:ln>
        </p:spPr>
      </p:sp>
      <p:sp>
        <p:nvSpPr>
          <p:cNvPr id="102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27" name="PlaceHolder 3"/>
          <p:cNvSpPr>
            <a:spLocks noGrp="1"/>
          </p:cNvSpPr>
          <p:nvPr>
            <p:ph type="sldNum" idx="24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DE8A337-109C-4F23-90A0-B254A604A743}"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8" name="PlaceHolder 1"/>
          <p:cNvSpPr>
            <a:spLocks noGrp="1"/>
          </p:cNvSpPr>
          <p:nvPr>
            <p:ph type="sldImg"/>
          </p:nvPr>
        </p:nvSpPr>
        <p:spPr>
          <a:xfrm>
            <a:off x="685800" y="1143000"/>
            <a:ext cx="5485680" cy="3085560"/>
          </a:xfrm>
          <a:prstGeom prst="rect">
            <a:avLst/>
          </a:prstGeom>
          <a:ln w="0">
            <a:noFill/>
          </a:ln>
        </p:spPr>
      </p:sp>
      <p:sp>
        <p:nvSpPr>
          <p:cNvPr id="102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30" name="PlaceHolder 3"/>
          <p:cNvSpPr>
            <a:spLocks noGrp="1"/>
          </p:cNvSpPr>
          <p:nvPr>
            <p:ph type="sldNum" idx="24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4F43874-4BA0-48A7-9DD6-C3D17EFC76DE}"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1" name="PlaceHolder 1"/>
          <p:cNvSpPr>
            <a:spLocks noGrp="1"/>
          </p:cNvSpPr>
          <p:nvPr>
            <p:ph type="sldImg"/>
          </p:nvPr>
        </p:nvSpPr>
        <p:spPr>
          <a:xfrm>
            <a:off x="685800" y="1143000"/>
            <a:ext cx="5485680" cy="3085560"/>
          </a:xfrm>
          <a:prstGeom prst="rect">
            <a:avLst/>
          </a:prstGeom>
          <a:ln w="0">
            <a:noFill/>
          </a:ln>
        </p:spPr>
      </p:sp>
      <p:sp>
        <p:nvSpPr>
          <p:cNvPr id="103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33" name="PlaceHolder 3"/>
          <p:cNvSpPr>
            <a:spLocks noGrp="1"/>
          </p:cNvSpPr>
          <p:nvPr>
            <p:ph type="sldNum" idx="24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2F767D0-F7A8-4BB5-94E3-733F403052E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 name="PlaceHolder 1"/>
          <p:cNvSpPr>
            <a:spLocks noGrp="1"/>
          </p:cNvSpPr>
          <p:nvPr>
            <p:ph type="sldImg"/>
          </p:nvPr>
        </p:nvSpPr>
        <p:spPr>
          <a:xfrm>
            <a:off x="685800" y="1143000"/>
            <a:ext cx="5485680" cy="3085560"/>
          </a:xfrm>
          <a:prstGeom prst="rect">
            <a:avLst/>
          </a:prstGeom>
          <a:ln w="0">
            <a:noFill/>
          </a:ln>
        </p:spPr>
      </p:sp>
      <p:sp>
        <p:nvSpPr>
          <p:cNvPr id="103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36" name="PlaceHolder 3"/>
          <p:cNvSpPr>
            <a:spLocks noGrp="1"/>
          </p:cNvSpPr>
          <p:nvPr>
            <p:ph type="sldNum" idx="24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EB254D8-CD82-4320-8E48-E54CD7814DA8}"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 name="PlaceHolder 1"/>
          <p:cNvSpPr>
            <a:spLocks noGrp="1"/>
          </p:cNvSpPr>
          <p:nvPr>
            <p:ph type="sldImg"/>
          </p:nvPr>
        </p:nvSpPr>
        <p:spPr>
          <a:xfrm>
            <a:off x="685800" y="1143000"/>
            <a:ext cx="5485680" cy="3085560"/>
          </a:xfrm>
          <a:prstGeom prst="rect">
            <a:avLst/>
          </a:prstGeom>
          <a:ln w="0">
            <a:noFill/>
          </a:ln>
        </p:spPr>
      </p:sp>
      <p:sp>
        <p:nvSpPr>
          <p:cNvPr id="103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39" name="PlaceHolder 3"/>
          <p:cNvSpPr>
            <a:spLocks noGrp="1"/>
          </p:cNvSpPr>
          <p:nvPr>
            <p:ph type="sldNum" idx="24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C71C53A-5AC0-4278-BC82-EA155CA43F08}"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0" name="PlaceHolder 1"/>
          <p:cNvSpPr>
            <a:spLocks noGrp="1"/>
          </p:cNvSpPr>
          <p:nvPr>
            <p:ph type="sldImg"/>
          </p:nvPr>
        </p:nvSpPr>
        <p:spPr>
          <a:xfrm>
            <a:off x="685800" y="1143000"/>
            <a:ext cx="5485680" cy="3085560"/>
          </a:xfrm>
          <a:prstGeom prst="rect">
            <a:avLst/>
          </a:prstGeom>
          <a:ln w="0">
            <a:noFill/>
          </a:ln>
        </p:spPr>
      </p:sp>
      <p:sp>
        <p:nvSpPr>
          <p:cNvPr id="104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42" name="PlaceHolder 3"/>
          <p:cNvSpPr>
            <a:spLocks noGrp="1"/>
          </p:cNvSpPr>
          <p:nvPr>
            <p:ph type="sldNum" idx="25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DB3707F-E6BA-42C9-8EFD-24CFAEC9D19E}"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3" name="PlaceHolder 1"/>
          <p:cNvSpPr>
            <a:spLocks noGrp="1"/>
          </p:cNvSpPr>
          <p:nvPr>
            <p:ph type="sldImg"/>
          </p:nvPr>
        </p:nvSpPr>
        <p:spPr>
          <a:xfrm>
            <a:off x="685800" y="1143000"/>
            <a:ext cx="5485680" cy="3085560"/>
          </a:xfrm>
          <a:prstGeom prst="rect">
            <a:avLst/>
          </a:prstGeom>
          <a:ln w="0">
            <a:noFill/>
          </a:ln>
        </p:spPr>
      </p:sp>
      <p:sp>
        <p:nvSpPr>
          <p:cNvPr id="104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45" name="PlaceHolder 3"/>
          <p:cNvSpPr>
            <a:spLocks noGrp="1"/>
          </p:cNvSpPr>
          <p:nvPr>
            <p:ph type="sldNum" idx="25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6DFAF3A-34F5-479B-9AFF-4AD4D167AD0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 name="PlaceHolder 1"/>
          <p:cNvSpPr>
            <a:spLocks noGrp="1"/>
          </p:cNvSpPr>
          <p:nvPr>
            <p:ph type="sldImg"/>
          </p:nvPr>
        </p:nvSpPr>
        <p:spPr>
          <a:xfrm>
            <a:off x="685800" y="1143000"/>
            <a:ext cx="5485680" cy="3085560"/>
          </a:xfrm>
          <a:prstGeom prst="rect">
            <a:avLst/>
          </a:prstGeom>
          <a:ln w="0">
            <a:noFill/>
          </a:ln>
        </p:spPr>
      </p:sp>
      <p:sp>
        <p:nvSpPr>
          <p:cNvPr id="104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48" name="PlaceHolder 3"/>
          <p:cNvSpPr>
            <a:spLocks noGrp="1"/>
          </p:cNvSpPr>
          <p:nvPr>
            <p:ph type="sldNum" idx="25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EFE9242-8670-445A-A20C-07AFA4811E75}"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 name="PlaceHolder 1"/>
          <p:cNvSpPr>
            <a:spLocks noGrp="1"/>
          </p:cNvSpPr>
          <p:nvPr>
            <p:ph type="sldImg"/>
          </p:nvPr>
        </p:nvSpPr>
        <p:spPr>
          <a:xfrm>
            <a:off x="685800" y="1143000"/>
            <a:ext cx="5485680" cy="3085560"/>
          </a:xfrm>
          <a:prstGeom prst="rect">
            <a:avLst/>
          </a:prstGeom>
          <a:ln w="0">
            <a:noFill/>
          </a:ln>
        </p:spPr>
      </p:sp>
      <p:sp>
        <p:nvSpPr>
          <p:cNvPr id="105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51" name="PlaceHolder 3"/>
          <p:cNvSpPr>
            <a:spLocks noGrp="1"/>
          </p:cNvSpPr>
          <p:nvPr>
            <p:ph type="sldNum" idx="25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5450259-F83F-4D70-9484-8701D396602D}"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2" name="PlaceHolder 1"/>
          <p:cNvSpPr>
            <a:spLocks noGrp="1"/>
          </p:cNvSpPr>
          <p:nvPr>
            <p:ph type="sldImg"/>
          </p:nvPr>
        </p:nvSpPr>
        <p:spPr>
          <a:xfrm>
            <a:off x="685800" y="1143000"/>
            <a:ext cx="5485680" cy="3085560"/>
          </a:xfrm>
          <a:prstGeom prst="rect">
            <a:avLst/>
          </a:prstGeom>
          <a:ln w="0">
            <a:noFill/>
          </a:ln>
        </p:spPr>
      </p:sp>
      <p:sp>
        <p:nvSpPr>
          <p:cNvPr id="105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54" name="PlaceHolder 3"/>
          <p:cNvSpPr>
            <a:spLocks noGrp="1"/>
          </p:cNvSpPr>
          <p:nvPr>
            <p:ph type="sldNum" idx="25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CCD2BCF-8F85-4ADD-A55E-DA698563335C}"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5" name="PlaceHolder 1"/>
          <p:cNvSpPr>
            <a:spLocks noGrp="1"/>
          </p:cNvSpPr>
          <p:nvPr>
            <p:ph type="sldImg"/>
          </p:nvPr>
        </p:nvSpPr>
        <p:spPr>
          <a:xfrm>
            <a:off x="685800" y="1143000"/>
            <a:ext cx="5485680" cy="3085560"/>
          </a:xfrm>
          <a:prstGeom prst="rect">
            <a:avLst/>
          </a:prstGeom>
          <a:ln w="0">
            <a:noFill/>
          </a:ln>
        </p:spPr>
      </p:sp>
      <p:sp>
        <p:nvSpPr>
          <p:cNvPr id="105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Image source: Microsoft 365 content library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Fiedler's λ₂ is derived from the Laplacian (L = D - A), reflecting network cohesion, connectivity, and potential cuts. In contrast, Eigenvector Centrality is based on the adjacency matrix, encoding node influence and walk counts. Thus, λ₂ highlights structural glue, while Eigenvector Centrality measures influence propagation in a network.</a:t>
            </a:r>
            <a:endParaRPr b="0" lang="en-US" sz="2000" spc="-1" strike="noStrike">
              <a:solidFill>
                <a:srgbClr val="000000"/>
              </a:solidFill>
              <a:latin typeface="Arial"/>
            </a:endParaRPr>
          </a:p>
        </p:txBody>
      </p:sp>
      <p:sp>
        <p:nvSpPr>
          <p:cNvPr id="1057" name="PlaceHolder 3"/>
          <p:cNvSpPr>
            <a:spLocks noGrp="1"/>
          </p:cNvSpPr>
          <p:nvPr>
            <p:ph type="sldNum" idx="25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8F04011-79FF-4500-817C-F4DE62154440}"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8" name="PlaceHolder 1"/>
          <p:cNvSpPr>
            <a:spLocks noGrp="1"/>
          </p:cNvSpPr>
          <p:nvPr>
            <p:ph type="sldImg"/>
          </p:nvPr>
        </p:nvSpPr>
        <p:spPr>
          <a:xfrm>
            <a:off x="685800" y="1143000"/>
            <a:ext cx="5485680" cy="3085560"/>
          </a:xfrm>
          <a:prstGeom prst="rect">
            <a:avLst/>
          </a:prstGeom>
          <a:ln w="0">
            <a:noFill/>
          </a:ln>
        </p:spPr>
      </p:sp>
      <p:sp>
        <p:nvSpPr>
          <p:cNvPr id="105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60" name="PlaceHolder 3"/>
          <p:cNvSpPr>
            <a:spLocks noGrp="1"/>
          </p:cNvSpPr>
          <p:nvPr>
            <p:ph type="sldNum" idx="25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C88CB75-F8D6-4180-926A-EB755E9CB02E}"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1" name="PlaceHolder 1"/>
          <p:cNvSpPr>
            <a:spLocks noGrp="1"/>
          </p:cNvSpPr>
          <p:nvPr>
            <p:ph type="sldImg"/>
          </p:nvPr>
        </p:nvSpPr>
        <p:spPr>
          <a:xfrm>
            <a:off x="685800" y="1143000"/>
            <a:ext cx="5485680" cy="3085560"/>
          </a:xfrm>
          <a:prstGeom prst="rect">
            <a:avLst/>
          </a:prstGeom>
          <a:ln w="0">
            <a:noFill/>
          </a:ln>
        </p:spPr>
      </p:sp>
      <p:sp>
        <p:nvSpPr>
          <p:cNvPr id="106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63" name="PlaceHolder 3"/>
          <p:cNvSpPr>
            <a:spLocks noGrp="1"/>
          </p:cNvSpPr>
          <p:nvPr>
            <p:ph type="sldNum" idx="25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DA501DE-D0CA-4F0C-9805-28575551D8E4}"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4" name="PlaceHolder 1"/>
          <p:cNvSpPr>
            <a:spLocks noGrp="1"/>
          </p:cNvSpPr>
          <p:nvPr>
            <p:ph type="sldImg"/>
          </p:nvPr>
        </p:nvSpPr>
        <p:spPr>
          <a:xfrm>
            <a:off x="685800" y="1143000"/>
            <a:ext cx="5485680" cy="3085560"/>
          </a:xfrm>
          <a:prstGeom prst="rect">
            <a:avLst/>
          </a:prstGeom>
          <a:ln w="0">
            <a:noFill/>
          </a:ln>
        </p:spPr>
      </p:sp>
      <p:sp>
        <p:nvSpPr>
          <p:cNvPr id="106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66" name="PlaceHolder 3"/>
          <p:cNvSpPr>
            <a:spLocks noGrp="1"/>
          </p:cNvSpPr>
          <p:nvPr>
            <p:ph type="sldNum" idx="25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4C0D244-34D4-493D-B3DD-F7AE15B5FD3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7" name="PlaceHolder 1"/>
          <p:cNvSpPr>
            <a:spLocks noGrp="1"/>
          </p:cNvSpPr>
          <p:nvPr>
            <p:ph type="sldImg"/>
          </p:nvPr>
        </p:nvSpPr>
        <p:spPr>
          <a:xfrm>
            <a:off x="685800" y="1143000"/>
            <a:ext cx="5485680" cy="3085560"/>
          </a:xfrm>
          <a:prstGeom prst="rect">
            <a:avLst/>
          </a:prstGeom>
          <a:ln w="0">
            <a:noFill/>
          </a:ln>
        </p:spPr>
      </p:sp>
      <p:sp>
        <p:nvSpPr>
          <p:cNvPr id="106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69" name="PlaceHolder 3"/>
          <p:cNvSpPr>
            <a:spLocks noGrp="1"/>
          </p:cNvSpPr>
          <p:nvPr>
            <p:ph type="sldNum" idx="25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7CF3E65-34FE-4175-A8C5-40F65FABCBE0}"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0" name="PlaceHolder 1"/>
          <p:cNvSpPr>
            <a:spLocks noGrp="1"/>
          </p:cNvSpPr>
          <p:nvPr>
            <p:ph type="sldImg"/>
          </p:nvPr>
        </p:nvSpPr>
        <p:spPr>
          <a:xfrm>
            <a:off x="685800" y="1143000"/>
            <a:ext cx="5485680" cy="3085560"/>
          </a:xfrm>
          <a:prstGeom prst="rect">
            <a:avLst/>
          </a:prstGeom>
          <a:ln w="0">
            <a:noFill/>
          </a:ln>
        </p:spPr>
      </p:sp>
      <p:sp>
        <p:nvSpPr>
          <p:cNvPr id="107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72" name="PlaceHolder 3"/>
          <p:cNvSpPr>
            <a:spLocks noGrp="1"/>
          </p:cNvSpPr>
          <p:nvPr>
            <p:ph type="sldNum" idx="26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D1304BE-2C17-4809-A254-AB00EFDDB768}"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PlaceHolder 1"/>
          <p:cNvSpPr>
            <a:spLocks noGrp="1"/>
          </p:cNvSpPr>
          <p:nvPr>
            <p:ph type="sldImg"/>
          </p:nvPr>
        </p:nvSpPr>
        <p:spPr>
          <a:xfrm>
            <a:off x="685800" y="1143000"/>
            <a:ext cx="5485680" cy="3085560"/>
          </a:xfrm>
          <a:prstGeom prst="rect">
            <a:avLst/>
          </a:prstGeom>
          <a:ln w="0">
            <a:noFill/>
          </a:ln>
        </p:spPr>
      </p:sp>
      <p:sp>
        <p:nvSpPr>
          <p:cNvPr id="107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75" name="PlaceHolder 3"/>
          <p:cNvSpPr>
            <a:spLocks noGrp="1"/>
          </p:cNvSpPr>
          <p:nvPr>
            <p:ph type="sldNum" idx="26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DB672F5-6246-4419-9EAF-B17B2BBE220B}"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6" name="PlaceHolder 1"/>
          <p:cNvSpPr>
            <a:spLocks noGrp="1"/>
          </p:cNvSpPr>
          <p:nvPr>
            <p:ph type="sldImg"/>
          </p:nvPr>
        </p:nvSpPr>
        <p:spPr>
          <a:xfrm>
            <a:off x="685800" y="1143000"/>
            <a:ext cx="5485680" cy="3085560"/>
          </a:xfrm>
          <a:prstGeom prst="rect">
            <a:avLst/>
          </a:prstGeom>
          <a:ln w="0">
            <a:noFill/>
          </a:ln>
        </p:spPr>
      </p:sp>
      <p:sp>
        <p:nvSpPr>
          <p:cNvPr id="107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78" name="PlaceHolder 3"/>
          <p:cNvSpPr>
            <a:spLocks noGrp="1"/>
          </p:cNvSpPr>
          <p:nvPr>
            <p:ph type="sldNum" idx="26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F514148-8EBD-4AAA-B927-11CE0EE91551}"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9" name="PlaceHolder 1"/>
          <p:cNvSpPr>
            <a:spLocks noGrp="1"/>
          </p:cNvSpPr>
          <p:nvPr>
            <p:ph type="sldImg"/>
          </p:nvPr>
        </p:nvSpPr>
        <p:spPr>
          <a:xfrm>
            <a:off x="685800" y="1143000"/>
            <a:ext cx="5485680" cy="3085560"/>
          </a:xfrm>
          <a:prstGeom prst="rect">
            <a:avLst/>
          </a:prstGeom>
          <a:ln w="0">
            <a:noFill/>
          </a:ln>
        </p:spPr>
      </p:sp>
      <p:sp>
        <p:nvSpPr>
          <p:cNvPr id="108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81" name="PlaceHolder 3"/>
          <p:cNvSpPr>
            <a:spLocks noGrp="1"/>
          </p:cNvSpPr>
          <p:nvPr>
            <p:ph type="sldNum" idx="26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473CB3B-497E-45D5-AE34-B79708EA1192}"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2" name="PlaceHolder 1"/>
          <p:cNvSpPr>
            <a:spLocks noGrp="1"/>
          </p:cNvSpPr>
          <p:nvPr>
            <p:ph type="sldImg"/>
          </p:nvPr>
        </p:nvSpPr>
        <p:spPr>
          <a:xfrm>
            <a:off x="685800" y="1143000"/>
            <a:ext cx="5485680" cy="3085560"/>
          </a:xfrm>
          <a:prstGeom prst="rect">
            <a:avLst/>
          </a:prstGeom>
          <a:ln w="0">
            <a:noFill/>
          </a:ln>
        </p:spPr>
      </p:sp>
      <p:sp>
        <p:nvSpPr>
          <p:cNvPr id="108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84" name="PlaceHolder 3"/>
          <p:cNvSpPr>
            <a:spLocks noGrp="1"/>
          </p:cNvSpPr>
          <p:nvPr>
            <p:ph type="sldNum" idx="26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ED2BCF2-78B5-4608-AE91-51025CCC5E55}"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5" name="PlaceHolder 1"/>
          <p:cNvSpPr>
            <a:spLocks noGrp="1"/>
          </p:cNvSpPr>
          <p:nvPr>
            <p:ph type="sldImg"/>
          </p:nvPr>
        </p:nvSpPr>
        <p:spPr>
          <a:xfrm>
            <a:off x="685800" y="1143000"/>
            <a:ext cx="5485680" cy="3085560"/>
          </a:xfrm>
          <a:prstGeom prst="rect">
            <a:avLst/>
          </a:prstGeom>
          <a:ln w="0">
            <a:noFill/>
          </a:ln>
        </p:spPr>
      </p:sp>
      <p:sp>
        <p:nvSpPr>
          <p:cNvPr id="108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87" name="PlaceHolder 3"/>
          <p:cNvSpPr>
            <a:spLocks noGrp="1"/>
          </p:cNvSpPr>
          <p:nvPr>
            <p:ph type="sldNum" idx="26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17DD2AD-025C-49FA-A1DF-1FB3C0EAC689}"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8" name="PlaceHolder 1"/>
          <p:cNvSpPr>
            <a:spLocks noGrp="1"/>
          </p:cNvSpPr>
          <p:nvPr>
            <p:ph type="sldImg"/>
          </p:nvPr>
        </p:nvSpPr>
        <p:spPr>
          <a:xfrm>
            <a:off x="685800" y="1143000"/>
            <a:ext cx="5485680" cy="3085560"/>
          </a:xfrm>
          <a:prstGeom prst="rect">
            <a:avLst/>
          </a:prstGeom>
          <a:ln w="0">
            <a:noFill/>
          </a:ln>
        </p:spPr>
      </p:sp>
      <p:sp>
        <p:nvSpPr>
          <p:cNvPr id="108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90" name="PlaceHolder 3"/>
          <p:cNvSpPr>
            <a:spLocks noGrp="1"/>
          </p:cNvSpPr>
          <p:nvPr>
            <p:ph type="sldNum" idx="266"/>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E1C4FEC-C9D9-4BEB-8185-E5167BBE9504}"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1" name="PlaceHolder 1"/>
          <p:cNvSpPr>
            <a:spLocks noGrp="1"/>
          </p:cNvSpPr>
          <p:nvPr>
            <p:ph type="sldImg"/>
          </p:nvPr>
        </p:nvSpPr>
        <p:spPr>
          <a:xfrm>
            <a:off x="685800" y="1143000"/>
            <a:ext cx="5485680" cy="3085560"/>
          </a:xfrm>
          <a:prstGeom prst="rect">
            <a:avLst/>
          </a:prstGeom>
          <a:ln w="0">
            <a:noFill/>
          </a:ln>
        </p:spPr>
      </p:sp>
      <p:sp>
        <p:nvSpPr>
          <p:cNvPr id="109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93" name="PlaceHolder 3"/>
          <p:cNvSpPr>
            <a:spLocks noGrp="1"/>
          </p:cNvSpPr>
          <p:nvPr>
            <p:ph type="sldNum" idx="267"/>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EADDA95-1A70-4991-8A3E-2F4D068E1736}"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4" name="PlaceHolder 1"/>
          <p:cNvSpPr>
            <a:spLocks noGrp="1"/>
          </p:cNvSpPr>
          <p:nvPr>
            <p:ph type="sldImg"/>
          </p:nvPr>
        </p:nvSpPr>
        <p:spPr>
          <a:xfrm>
            <a:off x="685800" y="1143000"/>
            <a:ext cx="5485680" cy="3085560"/>
          </a:xfrm>
          <a:prstGeom prst="rect">
            <a:avLst/>
          </a:prstGeom>
          <a:ln w="0">
            <a:noFill/>
          </a:ln>
        </p:spPr>
      </p:sp>
      <p:sp>
        <p:nvSpPr>
          <p:cNvPr id="109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96" name="PlaceHolder 3"/>
          <p:cNvSpPr>
            <a:spLocks noGrp="1"/>
          </p:cNvSpPr>
          <p:nvPr>
            <p:ph type="sldNum" idx="268"/>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19D7876-33CE-4966-BE71-D26555EEDB50}"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 name="PlaceHolder 1"/>
          <p:cNvSpPr>
            <a:spLocks noGrp="1"/>
          </p:cNvSpPr>
          <p:nvPr>
            <p:ph type="sldImg"/>
          </p:nvPr>
        </p:nvSpPr>
        <p:spPr>
          <a:xfrm>
            <a:off x="685800" y="1143000"/>
            <a:ext cx="5485680" cy="3085560"/>
          </a:xfrm>
          <a:prstGeom prst="rect">
            <a:avLst/>
          </a:prstGeom>
          <a:ln w="0">
            <a:noFill/>
          </a:ln>
        </p:spPr>
      </p:sp>
      <p:sp>
        <p:nvSpPr>
          <p:cNvPr id="109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099" name="PlaceHolder 3"/>
          <p:cNvSpPr>
            <a:spLocks noGrp="1"/>
          </p:cNvSpPr>
          <p:nvPr>
            <p:ph type="sldNum" idx="269"/>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1D88BFE-7FEB-4711-8C9F-7BC30B5BD5A3}" type="slidenum">
              <a:rPr b="0" lang="en-US" sz="1200" spc="-1" strike="noStrike">
                <a:solidFill>
                  <a:srgbClr val="000000"/>
                </a:solidFill>
                <a:latin typeface="Times New Roman"/>
              </a:rPr>
              <a:t>84</a:t>
            </a:fld>
            <a:endParaRPr b="0" lang="en-US" sz="1200" spc="-1" strike="noStrike">
              <a:solidFill>
                <a:srgbClr val="000000"/>
              </a:solidFill>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0" name="PlaceHolder 1"/>
          <p:cNvSpPr>
            <a:spLocks noGrp="1"/>
          </p:cNvSpPr>
          <p:nvPr>
            <p:ph type="sldImg"/>
          </p:nvPr>
        </p:nvSpPr>
        <p:spPr>
          <a:xfrm>
            <a:off x="685800" y="1143000"/>
            <a:ext cx="5485680" cy="3085560"/>
          </a:xfrm>
          <a:prstGeom prst="rect">
            <a:avLst/>
          </a:prstGeom>
          <a:ln w="0">
            <a:noFill/>
          </a:ln>
        </p:spPr>
      </p:sp>
      <p:sp>
        <p:nvSpPr>
          <p:cNvPr id="110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102" name="PlaceHolder 3"/>
          <p:cNvSpPr>
            <a:spLocks noGrp="1"/>
          </p:cNvSpPr>
          <p:nvPr>
            <p:ph type="sldNum" idx="270"/>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D57C03B-8104-44DC-8C7E-311AD2F60AB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 name="PlaceHolder 1"/>
          <p:cNvSpPr>
            <a:spLocks noGrp="1"/>
          </p:cNvSpPr>
          <p:nvPr>
            <p:ph type="sldImg"/>
          </p:nvPr>
        </p:nvSpPr>
        <p:spPr>
          <a:xfrm>
            <a:off x="685800" y="1143000"/>
            <a:ext cx="5485680" cy="3085560"/>
          </a:xfrm>
          <a:prstGeom prst="rect">
            <a:avLst/>
          </a:prstGeom>
          <a:ln w="0">
            <a:noFill/>
          </a:ln>
        </p:spPr>
      </p:sp>
      <p:sp>
        <p:nvSpPr>
          <p:cNvPr id="110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105" name="PlaceHolder 3"/>
          <p:cNvSpPr>
            <a:spLocks noGrp="1"/>
          </p:cNvSpPr>
          <p:nvPr>
            <p:ph type="sldNum" idx="271"/>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FD8277E-EC2E-4961-B54D-8AFEE625A2F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6" name="PlaceHolder 1"/>
          <p:cNvSpPr>
            <a:spLocks noGrp="1"/>
          </p:cNvSpPr>
          <p:nvPr>
            <p:ph type="sldImg"/>
          </p:nvPr>
        </p:nvSpPr>
        <p:spPr>
          <a:xfrm>
            <a:off x="685800" y="1143000"/>
            <a:ext cx="5485680" cy="3085560"/>
          </a:xfrm>
          <a:prstGeom prst="rect">
            <a:avLst/>
          </a:prstGeom>
          <a:ln w="0">
            <a:noFill/>
          </a:ln>
        </p:spPr>
      </p:sp>
      <p:sp>
        <p:nvSpPr>
          <p:cNvPr id="110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108" name="PlaceHolder 3"/>
          <p:cNvSpPr>
            <a:spLocks noGrp="1"/>
          </p:cNvSpPr>
          <p:nvPr>
            <p:ph type="sldNum" idx="272"/>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8C06582-E5F6-4088-93BF-ABDD1CB05C5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 name="PlaceHolder 1"/>
          <p:cNvSpPr>
            <a:spLocks noGrp="1"/>
          </p:cNvSpPr>
          <p:nvPr>
            <p:ph type="sldImg"/>
          </p:nvPr>
        </p:nvSpPr>
        <p:spPr>
          <a:xfrm>
            <a:off x="685800" y="1143000"/>
            <a:ext cx="5485680" cy="3085560"/>
          </a:xfrm>
          <a:prstGeom prst="rect">
            <a:avLst/>
          </a:prstGeom>
          <a:ln w="0">
            <a:noFill/>
          </a:ln>
        </p:spPr>
      </p:sp>
      <p:sp>
        <p:nvSpPr>
          <p:cNvPr id="111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111" name="PlaceHolder 3"/>
          <p:cNvSpPr>
            <a:spLocks noGrp="1"/>
          </p:cNvSpPr>
          <p:nvPr>
            <p:ph type="sldNum" idx="273"/>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F19BF3F-F38E-4DD7-93AA-896999D566E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2" name="PlaceHolder 1"/>
          <p:cNvSpPr>
            <a:spLocks noGrp="1"/>
          </p:cNvSpPr>
          <p:nvPr>
            <p:ph type="sldImg"/>
          </p:nvPr>
        </p:nvSpPr>
        <p:spPr>
          <a:xfrm>
            <a:off x="685800" y="1143000"/>
            <a:ext cx="5485680" cy="3085560"/>
          </a:xfrm>
          <a:prstGeom prst="rect">
            <a:avLst/>
          </a:prstGeom>
          <a:ln w="0">
            <a:noFill/>
          </a:ln>
        </p:spPr>
      </p:sp>
      <p:sp>
        <p:nvSpPr>
          <p:cNvPr id="111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114" name="PlaceHolder 3"/>
          <p:cNvSpPr>
            <a:spLocks noGrp="1"/>
          </p:cNvSpPr>
          <p:nvPr>
            <p:ph type="sldNum" idx="274"/>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2C664B2-C698-4642-A839-93B25E65D98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 name="PlaceHolder 1"/>
          <p:cNvSpPr>
            <a:spLocks noGrp="1"/>
          </p:cNvSpPr>
          <p:nvPr>
            <p:ph type="sldImg"/>
          </p:nvPr>
        </p:nvSpPr>
        <p:spPr>
          <a:xfrm>
            <a:off x="685800" y="1143000"/>
            <a:ext cx="5485680" cy="3085560"/>
          </a:xfrm>
          <a:prstGeom prst="rect">
            <a:avLst/>
          </a:prstGeom>
          <a:ln w="0">
            <a:noFill/>
          </a:ln>
        </p:spPr>
      </p:sp>
      <p:sp>
        <p:nvSpPr>
          <p:cNvPr id="111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buNone/>
            </a:pPr>
            <a:endParaRPr b="0" lang="en-US" sz="1800" spc="-1" strike="noStrike">
              <a:solidFill>
                <a:srgbClr val="000000"/>
              </a:solidFill>
              <a:latin typeface="Arial"/>
            </a:endParaRPr>
          </a:p>
        </p:txBody>
      </p:sp>
      <p:sp>
        <p:nvSpPr>
          <p:cNvPr id="1117" name="PlaceHolder 3"/>
          <p:cNvSpPr>
            <a:spLocks noGrp="1"/>
          </p:cNvSpPr>
          <p:nvPr>
            <p:ph type="sldNum" idx="275"/>
          </p:nvPr>
        </p:nvSpPr>
        <p:spPr>
          <a:xfrm>
            <a:off x="3884760" y="8685360"/>
            <a:ext cx="2971080" cy="457920"/>
          </a:xfrm>
          <a:prstGeom prst="rect">
            <a:avLst/>
          </a:prstGeom>
          <a:noFill/>
          <a:ln w="0">
            <a:noFill/>
          </a:ln>
        </p:spPr>
        <p:txBody>
          <a:bodyPr lIns="0" rIns="0" tIns="0" bIns="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D70ABFB-3E54-4874-8013-A3DE45F2B14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D7A5FBDD-E537-4322-8FBF-D9ECED05A767}"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516E014-30CA-4186-A7C3-B428BEB07BDF}"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09C7B7B-3992-4528-A226-BF4737624C6C}"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8C917DD1-0B70-4C1B-8599-79BFEE416199}"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3CEE6ECE-49AB-4B26-9732-3A1B82CE32C3}"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183A6A0C-FAE7-49C4-A2E4-BC2CB084AA79}"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83C7B3AB-8B7E-488B-A4A0-32C09261D013}"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FC89A5A-CA3E-453E-A090-5A09CB5087CC}"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876C995B-DBAA-4E30-8EA6-D9F1AC7D52B0}"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EDAB66F8-12C1-4402-9751-1C703FD7F0AC}"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F590391D-A0EF-4DB8-9DFC-ECD076730C85}"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2"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6B8F78DB-9F40-4C48-9771-59F8A3F2E16A}"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830DAD3F-7FA0-47CB-A376-5A0673F96752}"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4E3F4BD4-C289-44DC-8447-A9E0F433AEC2}"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BCBA1141-8BD3-4168-BC85-5CE0EE2A29EF}"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82EC9F5D-6217-4781-99EC-4F5EFBEA61C2}"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F0DB943D-881C-4B6D-9535-313485662E36}"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4C3A1BED-63D6-4D2C-9407-4C2BC0DB6742}"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16D27ECD-D769-473C-A270-BE239254787E}"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53A568FF-CD94-45B3-B1EE-74E6F6C98F4E}"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9DA1577-64C5-4800-8448-7138A3AD35CD}"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932E5537-C25B-41DF-83C2-3ABD213E76F2}"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D596C325-50B4-4F31-B935-751AB231612D}"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63D81C66-334F-4857-93A0-A4A8A03D4051}"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0F5586C1-D134-472F-803D-71BE4D8D7151}"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4BC8B16E-89C7-4C62-A0D2-B6B35EDA1104}"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CEBA9D33-B28A-4396-8AE4-6BD088A48FD9}"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C128D24B-F028-42E5-A674-6257908DC5E4}"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C198DBDA-D029-4896-8321-8BA16860CC30}"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5B731FC7-1F3F-4902-A5A4-26A723685B95}"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0801504F-7A9E-430F-A47C-79F637F861D4}"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4BD23A30-6F22-4253-8A09-56D56FD4198C}"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7A2DA863-87DD-4A3C-9C2F-927A17EC8B00}"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B9183859-0638-4C24-B04A-0921F01D7A0A}"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0BE9F686-45FC-47D3-8F4E-237D5EC06287}" type="slidenum">
              <a:t>&lt;#&gt;</a:t>
            </a:fld>
          </a:p>
        </p:txBody>
      </p:sp>
      <p:sp>
        <p:nvSpPr>
          <p:cNvPr id="9" name="PlaceHolder 8"/>
          <p:cNvSpPr>
            <a:spLocks noGrp="1"/>
          </p:cNvSpPr>
          <p:nvPr>
            <p:ph type="dt" idx="9"/>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0359DE35-4293-43E7-8783-19F2051EDA90}" type="slidenum">
              <a:t>&lt;#&gt;</a:t>
            </a:fld>
          </a:p>
        </p:txBody>
      </p:sp>
      <p:sp>
        <p:nvSpPr>
          <p:cNvPr id="11" name="PlaceHolder 10"/>
          <p:cNvSpPr>
            <a:spLocks noGrp="1"/>
          </p:cNvSpPr>
          <p:nvPr>
            <p:ph type="dt" idx="9"/>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F6FC430B-DB8C-4555-879A-E4528C8ED2F9}"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E5E89FE5-BB8D-4465-A282-A296396AB4B9}"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E3AA8D8F-9C7E-468C-A288-AFB760BFE345}"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8E31A442-46DC-410B-8E2E-71D096655885}"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3442953B-5833-4FC2-BA1F-6B56052330D5}"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6"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ABDD5C0C-FA90-407D-98B3-1B886BA695F6}"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EE9BFD6E-68AF-492E-8596-1F7753C40B6E}"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77A72128-32B3-4FBD-92E5-A93E9A2FF4B1}"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8"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25CE61DD-7708-4730-9530-E7EA2748BB11}"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F09EC2B6-8ABF-4573-8E09-6718DBF2AAC7}"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6"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2597E5B7-06B8-43E9-824D-8063FBCDD9F1}"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8"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9"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0"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1"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2"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3"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24EB5072-2234-4602-834B-5C5E9003EB20}" type="slidenum">
              <a:t>&lt;#&gt;</a:t>
            </a:fld>
          </a:p>
        </p:txBody>
      </p:sp>
      <p:sp>
        <p:nvSpPr>
          <p:cNvPr id="11" name="PlaceHolder 10"/>
          <p:cNvSpPr>
            <a:spLocks noGrp="1"/>
          </p:cNvSpPr>
          <p:nvPr>
            <p:ph type="dt" idx="12"/>
          </p:nvPr>
        </p:nvSpPr>
        <p:spPr/>
        <p:txBody>
          <a:bodyPr/>
          <a:p>
            <a:r>
              <a:rPr lang="en-U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83C76928-1A23-4C47-AD23-21D03F837856}"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4548A663-E71A-417A-9F8B-A284D3D1FEED}"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5E216635-9FD8-4F1B-9216-0002FFF97376}"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DAC3DBBD-92D1-496F-8E84-7AE0C591D1AA}" type="slidenum">
              <a:t>&lt;#&gt;</a:t>
            </a:fld>
          </a:p>
        </p:txBody>
      </p:sp>
      <p:sp>
        <p:nvSpPr>
          <p:cNvPr id="7" name="PlaceHolder 6"/>
          <p:cNvSpPr>
            <a:spLocks noGrp="1"/>
          </p:cNvSpPr>
          <p:nvPr>
            <p:ph type="dt" idx="15"/>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21FFD64C-DD58-4C89-86F3-AE83249AB34D}"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57F6C5CF-D1FF-4F9D-A153-6E49ADAA7A96}"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625D45DB-2F60-4F17-9AEE-93CF8A5407E8}" type="slidenum">
              <a:t>&lt;#&gt;</a:t>
            </a:fld>
          </a:p>
        </p:txBody>
      </p:sp>
      <p:sp>
        <p:nvSpPr>
          <p:cNvPr id="8" name="PlaceHolder 7"/>
          <p:cNvSpPr>
            <a:spLocks noGrp="1"/>
          </p:cNvSpPr>
          <p:nvPr>
            <p:ph type="dt" idx="15"/>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8A27A618-7F77-4593-A5A4-3212CA81EAE2}" type="slidenum">
              <a:t>&lt;#&gt;</a:t>
            </a:fld>
          </a:p>
        </p:txBody>
      </p:sp>
      <p:sp>
        <p:nvSpPr>
          <p:cNvPr id="8" name="PlaceHolder 7"/>
          <p:cNvSpPr>
            <a:spLocks noGrp="1"/>
          </p:cNvSpPr>
          <p:nvPr>
            <p:ph type="dt" idx="15"/>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E555D747-6854-48A6-98EA-547D6042CED0}" type="slidenum">
              <a:t>&lt;#&gt;</a:t>
            </a:fld>
          </a:p>
        </p:txBody>
      </p:sp>
      <p:sp>
        <p:nvSpPr>
          <p:cNvPr id="8" name="PlaceHolder 7"/>
          <p:cNvSpPr>
            <a:spLocks noGrp="1"/>
          </p:cNvSpPr>
          <p:nvPr>
            <p:ph type="dt" idx="15"/>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C8EE9AF3-EBD8-4820-92D6-DB3801B8F41B}" type="slidenum">
              <a:t>&lt;#&gt;</a:t>
            </a:fld>
          </a:p>
        </p:txBody>
      </p:sp>
      <p:sp>
        <p:nvSpPr>
          <p:cNvPr id="7" name="PlaceHolder 6"/>
          <p:cNvSpPr>
            <a:spLocks noGrp="1"/>
          </p:cNvSpPr>
          <p:nvPr>
            <p:ph type="dt" idx="15"/>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3"/>
          </p:nvPr>
        </p:nvSpPr>
        <p:spPr/>
        <p:txBody>
          <a:bodyPr/>
          <a:p>
            <a:r>
              <a:t>Footer</a:t>
            </a:r>
          </a:p>
        </p:txBody>
      </p:sp>
      <p:sp>
        <p:nvSpPr>
          <p:cNvPr id="8" name="PlaceHolder 7"/>
          <p:cNvSpPr>
            <a:spLocks noGrp="1"/>
          </p:cNvSpPr>
          <p:nvPr>
            <p:ph type="sldNum" idx="14"/>
          </p:nvPr>
        </p:nvSpPr>
        <p:spPr/>
        <p:txBody>
          <a:bodyPr/>
          <a:p>
            <a:fld id="{63F578FD-1B58-4B8C-AC67-0FD20AE6AA31}" type="slidenum">
              <a:t>&lt;#&gt;</a:t>
            </a:fld>
          </a:p>
        </p:txBody>
      </p:sp>
      <p:sp>
        <p:nvSpPr>
          <p:cNvPr id="9" name="PlaceHolder 8"/>
          <p:cNvSpPr>
            <a:spLocks noGrp="1"/>
          </p:cNvSpPr>
          <p:nvPr>
            <p:ph type="dt" idx="15"/>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3"/>
          </p:nvPr>
        </p:nvSpPr>
        <p:spPr/>
        <p:txBody>
          <a:bodyPr/>
          <a:p>
            <a:r>
              <a:t>Footer</a:t>
            </a:r>
          </a:p>
        </p:txBody>
      </p:sp>
      <p:sp>
        <p:nvSpPr>
          <p:cNvPr id="10" name="PlaceHolder 9"/>
          <p:cNvSpPr>
            <a:spLocks noGrp="1"/>
          </p:cNvSpPr>
          <p:nvPr>
            <p:ph type="sldNum" idx="14"/>
          </p:nvPr>
        </p:nvSpPr>
        <p:spPr/>
        <p:txBody>
          <a:bodyPr/>
          <a:p>
            <a:fld id="{DA5323BA-3A19-4B76-A5EE-98D4D2ED3FB6}" type="slidenum">
              <a:t>&lt;#&gt;</a:t>
            </a:fld>
          </a:p>
        </p:txBody>
      </p:sp>
      <p:sp>
        <p:nvSpPr>
          <p:cNvPr id="11" name="PlaceHolder 10"/>
          <p:cNvSpPr>
            <a:spLocks noGrp="1"/>
          </p:cNvSpPr>
          <p:nvPr>
            <p:ph type="dt" idx="15"/>
          </p:nvPr>
        </p:nvSpPr>
        <p:spPr/>
        <p:txBody>
          <a:bodyPr/>
          <a:p>
            <a:r>
              <a:rPr lang="en-US"/>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F6A7CF6D-8FCD-45FB-A529-44B7175AF2D6}"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3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11BA6218-9EE1-4BAE-9B64-C830E611037D}"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50FD157E-F814-46E4-A125-593C76F7C6F3}"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3E98AD40-FEC1-4AF2-A2F0-E9FBEF023E1F}"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6"/>
          </p:nvPr>
        </p:nvSpPr>
        <p:spPr/>
        <p:txBody>
          <a:bodyPr/>
          <a:p>
            <a:r>
              <a:t>Footer</a:t>
            </a:r>
          </a:p>
        </p:txBody>
      </p:sp>
      <p:sp>
        <p:nvSpPr>
          <p:cNvPr id="4" name="PlaceHolder 3"/>
          <p:cNvSpPr>
            <a:spLocks noGrp="1"/>
          </p:cNvSpPr>
          <p:nvPr>
            <p:ph type="sldNum" idx="17"/>
          </p:nvPr>
        </p:nvSpPr>
        <p:spPr/>
        <p:txBody>
          <a:bodyPr/>
          <a:p>
            <a:fld id="{50736E23-1AAD-4BC9-97B0-E4F3F138A7F4}" type="slidenum">
              <a:t>&lt;#&gt;</a:t>
            </a:fld>
          </a:p>
        </p:txBody>
      </p:sp>
      <p:sp>
        <p:nvSpPr>
          <p:cNvPr id="5" name="PlaceHolder 4"/>
          <p:cNvSpPr>
            <a:spLocks noGrp="1"/>
          </p:cNvSpPr>
          <p:nvPr>
            <p:ph type="dt" idx="18"/>
          </p:nvPr>
        </p:nvSpPr>
        <p:spPr/>
        <p:txBody>
          <a:bodyPr/>
          <a:p>
            <a:r>
              <a:rPr lang="en-US"/>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6"/>
          </p:nvPr>
        </p:nvSpPr>
        <p:spPr/>
        <p:txBody>
          <a:bodyPr/>
          <a:p>
            <a:r>
              <a:t>Footer</a:t>
            </a:r>
          </a:p>
        </p:txBody>
      </p:sp>
      <p:sp>
        <p:nvSpPr>
          <p:cNvPr id="4" name="PlaceHolder 3"/>
          <p:cNvSpPr>
            <a:spLocks noGrp="1"/>
          </p:cNvSpPr>
          <p:nvPr>
            <p:ph type="sldNum" idx="17"/>
          </p:nvPr>
        </p:nvSpPr>
        <p:spPr/>
        <p:txBody>
          <a:bodyPr/>
          <a:p>
            <a:fld id="{C2EAAAA3-75C1-49BD-A128-E7194BD83E79}" type="slidenum">
              <a:t>&lt;#&gt;</a:t>
            </a:fld>
          </a:p>
        </p:txBody>
      </p:sp>
      <p:sp>
        <p:nvSpPr>
          <p:cNvPr id="5" name="PlaceHolder 4"/>
          <p:cNvSpPr>
            <a:spLocks noGrp="1"/>
          </p:cNvSpPr>
          <p:nvPr>
            <p:ph type="dt" idx="18"/>
          </p:nvPr>
        </p:nvSpPr>
        <p:spPr/>
        <p:txBody>
          <a:bodyPr/>
          <a:p>
            <a:r>
              <a:rPr lang="en-US"/>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6"/>
          </p:nvPr>
        </p:nvSpPr>
        <p:spPr/>
        <p:txBody>
          <a:bodyPr/>
          <a:p>
            <a:r>
              <a:t>Footer</a:t>
            </a:r>
          </a:p>
        </p:txBody>
      </p:sp>
      <p:sp>
        <p:nvSpPr>
          <p:cNvPr id="7" name="PlaceHolder 6"/>
          <p:cNvSpPr>
            <a:spLocks noGrp="1"/>
          </p:cNvSpPr>
          <p:nvPr>
            <p:ph type="sldNum" idx="17"/>
          </p:nvPr>
        </p:nvSpPr>
        <p:spPr/>
        <p:txBody>
          <a:bodyPr/>
          <a:p>
            <a:fld id="{13FB34BF-C06A-4999-AE8B-0EA586699131}" type="slidenum">
              <a:t>&lt;#&gt;</a:t>
            </a:fld>
          </a:p>
        </p:txBody>
      </p:sp>
      <p:sp>
        <p:nvSpPr>
          <p:cNvPr id="8" name="PlaceHolder 7"/>
          <p:cNvSpPr>
            <a:spLocks noGrp="1"/>
          </p:cNvSpPr>
          <p:nvPr>
            <p:ph type="dt" idx="18"/>
          </p:nvPr>
        </p:nvSpPr>
        <p:spPr/>
        <p:txBody>
          <a:bodyPr/>
          <a:p>
            <a:r>
              <a:rPr lang="en-US"/>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6"/>
          </p:nvPr>
        </p:nvSpPr>
        <p:spPr/>
        <p:txBody>
          <a:bodyPr/>
          <a:p>
            <a:r>
              <a:t>Footer</a:t>
            </a:r>
          </a:p>
        </p:txBody>
      </p:sp>
      <p:sp>
        <p:nvSpPr>
          <p:cNvPr id="7" name="PlaceHolder 6"/>
          <p:cNvSpPr>
            <a:spLocks noGrp="1"/>
          </p:cNvSpPr>
          <p:nvPr>
            <p:ph type="sldNum" idx="17"/>
          </p:nvPr>
        </p:nvSpPr>
        <p:spPr/>
        <p:txBody>
          <a:bodyPr/>
          <a:p>
            <a:fld id="{B5184EAF-30F1-40F9-91CB-868616CB84E9}" type="slidenum">
              <a:t>&lt;#&gt;</a:t>
            </a:fld>
          </a:p>
        </p:txBody>
      </p:sp>
      <p:sp>
        <p:nvSpPr>
          <p:cNvPr id="8" name="PlaceHolder 7"/>
          <p:cNvSpPr>
            <a:spLocks noGrp="1"/>
          </p:cNvSpPr>
          <p:nvPr>
            <p:ph type="dt" idx="18"/>
          </p:nvPr>
        </p:nvSpPr>
        <p:spPr/>
        <p:txBody>
          <a:bodyPr/>
          <a:p>
            <a:r>
              <a:rPr lang="en-US"/>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6"/>
          </p:nvPr>
        </p:nvSpPr>
        <p:spPr/>
        <p:txBody>
          <a:bodyPr/>
          <a:p>
            <a:r>
              <a:t>Footer</a:t>
            </a:r>
          </a:p>
        </p:txBody>
      </p:sp>
      <p:sp>
        <p:nvSpPr>
          <p:cNvPr id="7" name="PlaceHolder 6"/>
          <p:cNvSpPr>
            <a:spLocks noGrp="1"/>
          </p:cNvSpPr>
          <p:nvPr>
            <p:ph type="sldNum" idx="17"/>
          </p:nvPr>
        </p:nvSpPr>
        <p:spPr/>
        <p:txBody>
          <a:bodyPr/>
          <a:p>
            <a:fld id="{4A86B0E8-57BB-41CB-B6A6-932770984C17}" type="slidenum">
              <a:t>&lt;#&gt;</a:t>
            </a:fld>
          </a:p>
        </p:txBody>
      </p:sp>
      <p:sp>
        <p:nvSpPr>
          <p:cNvPr id="8" name="PlaceHolder 7"/>
          <p:cNvSpPr>
            <a:spLocks noGrp="1"/>
          </p:cNvSpPr>
          <p:nvPr>
            <p:ph type="dt" idx="18"/>
          </p:nvPr>
        </p:nvSpPr>
        <p:spPr/>
        <p:txBody>
          <a:bodyPr/>
          <a:p>
            <a:r>
              <a:rPr lang="en-US"/>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1CA2C119-927C-442D-8B4E-EEA363D98C72}"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6"/>
          </p:nvPr>
        </p:nvSpPr>
        <p:spPr/>
        <p:txBody>
          <a:bodyPr/>
          <a:p>
            <a:r>
              <a:t>Footer</a:t>
            </a:r>
          </a:p>
        </p:txBody>
      </p:sp>
      <p:sp>
        <p:nvSpPr>
          <p:cNvPr id="8" name="PlaceHolder 7"/>
          <p:cNvSpPr>
            <a:spLocks noGrp="1"/>
          </p:cNvSpPr>
          <p:nvPr>
            <p:ph type="sldNum" idx="17"/>
          </p:nvPr>
        </p:nvSpPr>
        <p:spPr/>
        <p:txBody>
          <a:bodyPr/>
          <a:p>
            <a:fld id="{30D60A25-48C2-45CB-A27B-EA7FBE0CD3FA}" type="slidenum">
              <a:t>&lt;#&gt;</a:t>
            </a:fld>
          </a:p>
        </p:txBody>
      </p:sp>
      <p:sp>
        <p:nvSpPr>
          <p:cNvPr id="9" name="PlaceHolder 8"/>
          <p:cNvSpPr>
            <a:spLocks noGrp="1"/>
          </p:cNvSpPr>
          <p:nvPr>
            <p:ph type="dt" idx="18"/>
          </p:nvPr>
        </p:nvSpPr>
        <p:spPr/>
        <p:txBody>
          <a:bodyPr/>
          <a:p>
            <a:r>
              <a:rPr lang="en-US"/>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6"/>
          </p:nvPr>
        </p:nvSpPr>
        <p:spPr/>
        <p:txBody>
          <a:bodyPr/>
          <a:p>
            <a:r>
              <a:t>Footer</a:t>
            </a:r>
          </a:p>
        </p:txBody>
      </p:sp>
      <p:sp>
        <p:nvSpPr>
          <p:cNvPr id="10" name="PlaceHolder 9"/>
          <p:cNvSpPr>
            <a:spLocks noGrp="1"/>
          </p:cNvSpPr>
          <p:nvPr>
            <p:ph type="sldNum" idx="17"/>
          </p:nvPr>
        </p:nvSpPr>
        <p:spPr/>
        <p:txBody>
          <a:bodyPr/>
          <a:p>
            <a:fld id="{DEB0D247-7167-42F3-8E3C-CABF76CB74B4}" type="slidenum">
              <a:t>&lt;#&gt;</a:t>
            </a:fld>
          </a:p>
        </p:txBody>
      </p:sp>
      <p:sp>
        <p:nvSpPr>
          <p:cNvPr id="11" name="PlaceHolder 10"/>
          <p:cNvSpPr>
            <a:spLocks noGrp="1"/>
          </p:cNvSpPr>
          <p:nvPr>
            <p:ph type="dt" idx="18"/>
          </p:nvPr>
        </p:nvSpPr>
        <p:spPr/>
        <p:txBody>
          <a:bodyPr/>
          <a:p>
            <a:r>
              <a:rPr lang="en-US"/>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F599C18A-6A10-4D1F-9DA4-0B3A9FF54955}"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E9CEF526-FE98-4E39-AB51-9BA0B0D61B07}"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F78D3CEB-0690-4DE9-B409-C01B9487B845}"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1F965F1D-79D7-47B1-B140-E955E85322F1}" type="slidenum">
              <a:t>&lt;#&gt;</a:t>
            </a:fld>
          </a:p>
        </p:txBody>
      </p:sp>
      <p:sp>
        <p:nvSpPr>
          <p:cNvPr id="7" name="PlaceHolder 6"/>
          <p:cNvSpPr>
            <a:spLocks noGrp="1"/>
          </p:cNvSpPr>
          <p:nvPr>
            <p:ph type="dt" idx="21"/>
          </p:nvPr>
        </p:nvSpPr>
        <p:spPr/>
        <p:txBody>
          <a:bodyPr/>
          <a:p>
            <a:r>
              <a:rPr lang="en-US"/>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8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9"/>
          </p:nvPr>
        </p:nvSpPr>
        <p:spPr/>
        <p:txBody>
          <a:bodyPr/>
          <a:p>
            <a:r>
              <a:t>Footer</a:t>
            </a:r>
          </a:p>
        </p:txBody>
      </p:sp>
      <p:sp>
        <p:nvSpPr>
          <p:cNvPr id="4" name="PlaceHolder 3"/>
          <p:cNvSpPr>
            <a:spLocks noGrp="1"/>
          </p:cNvSpPr>
          <p:nvPr>
            <p:ph type="sldNum" idx="20"/>
          </p:nvPr>
        </p:nvSpPr>
        <p:spPr/>
        <p:txBody>
          <a:bodyPr/>
          <a:p>
            <a:fld id="{D4474137-40E6-48B1-8FD3-89438B3E8A28}" type="slidenum">
              <a:t>&lt;#&gt;</a:t>
            </a:fld>
          </a:p>
        </p:txBody>
      </p:sp>
      <p:sp>
        <p:nvSpPr>
          <p:cNvPr id="5" name="PlaceHolder 4"/>
          <p:cNvSpPr>
            <a:spLocks noGrp="1"/>
          </p:cNvSpPr>
          <p:nvPr>
            <p:ph type="dt" idx="21"/>
          </p:nvPr>
        </p:nvSpPr>
        <p:spPr/>
        <p:txBody>
          <a:bodyPr/>
          <a:p>
            <a:r>
              <a:rPr lang="en-US"/>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86"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9"/>
          </p:nvPr>
        </p:nvSpPr>
        <p:spPr/>
        <p:txBody>
          <a:bodyPr/>
          <a:p>
            <a:r>
              <a:t>Footer</a:t>
            </a:r>
          </a:p>
        </p:txBody>
      </p:sp>
      <p:sp>
        <p:nvSpPr>
          <p:cNvPr id="4" name="PlaceHolder 3"/>
          <p:cNvSpPr>
            <a:spLocks noGrp="1"/>
          </p:cNvSpPr>
          <p:nvPr>
            <p:ph type="sldNum" idx="20"/>
          </p:nvPr>
        </p:nvSpPr>
        <p:spPr/>
        <p:txBody>
          <a:bodyPr/>
          <a:p>
            <a:fld id="{42E76B9C-5E60-4F4C-8AFB-4DBBA913321B}" type="slidenum">
              <a:t>&lt;#&gt;</a:t>
            </a:fld>
          </a:p>
        </p:txBody>
      </p:sp>
      <p:sp>
        <p:nvSpPr>
          <p:cNvPr id="5" name="PlaceHolder 4"/>
          <p:cNvSpPr>
            <a:spLocks noGrp="1"/>
          </p:cNvSpPr>
          <p:nvPr>
            <p:ph type="dt" idx="21"/>
          </p:nvPr>
        </p:nvSpPr>
        <p:spPr/>
        <p:txBody>
          <a:bodyPr/>
          <a:p>
            <a:r>
              <a:rPr lang="en-US"/>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9"/>
          </p:nvPr>
        </p:nvSpPr>
        <p:spPr/>
        <p:txBody>
          <a:bodyPr/>
          <a:p>
            <a:r>
              <a:t>Footer</a:t>
            </a:r>
          </a:p>
        </p:txBody>
      </p:sp>
      <p:sp>
        <p:nvSpPr>
          <p:cNvPr id="7" name="PlaceHolder 6"/>
          <p:cNvSpPr>
            <a:spLocks noGrp="1"/>
          </p:cNvSpPr>
          <p:nvPr>
            <p:ph type="sldNum" idx="20"/>
          </p:nvPr>
        </p:nvSpPr>
        <p:spPr/>
        <p:txBody>
          <a:bodyPr/>
          <a:p>
            <a:fld id="{A5AC8744-5EF3-4005-BF54-10856E123ED7}" type="slidenum">
              <a:t>&lt;#&gt;</a:t>
            </a:fld>
          </a:p>
        </p:txBody>
      </p:sp>
      <p:sp>
        <p:nvSpPr>
          <p:cNvPr id="8" name="PlaceHolder 7"/>
          <p:cNvSpPr>
            <a:spLocks noGrp="1"/>
          </p:cNvSpPr>
          <p:nvPr>
            <p:ph type="dt" idx="21"/>
          </p:nvPr>
        </p:nvSpPr>
        <p:spPr/>
        <p:txBody>
          <a:bodyPr/>
          <a:p>
            <a:r>
              <a:rPr lang="en-US"/>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9"/>
          </p:nvPr>
        </p:nvSpPr>
        <p:spPr/>
        <p:txBody>
          <a:bodyPr/>
          <a:p>
            <a:r>
              <a:t>Footer</a:t>
            </a:r>
          </a:p>
        </p:txBody>
      </p:sp>
      <p:sp>
        <p:nvSpPr>
          <p:cNvPr id="7" name="PlaceHolder 6"/>
          <p:cNvSpPr>
            <a:spLocks noGrp="1"/>
          </p:cNvSpPr>
          <p:nvPr>
            <p:ph type="sldNum" idx="20"/>
          </p:nvPr>
        </p:nvSpPr>
        <p:spPr/>
        <p:txBody>
          <a:bodyPr/>
          <a:p>
            <a:fld id="{D3A09B36-2088-40F1-A692-8CFABDCD9B1E}" type="slidenum">
              <a:t>&lt;#&gt;</a:t>
            </a:fld>
          </a:p>
        </p:txBody>
      </p:sp>
      <p:sp>
        <p:nvSpPr>
          <p:cNvPr id="8" name="PlaceHolder 7"/>
          <p:cNvSpPr>
            <a:spLocks noGrp="1"/>
          </p:cNvSpPr>
          <p:nvPr>
            <p:ph type="dt" idx="21"/>
          </p:nvPr>
        </p:nvSpPr>
        <p:spPr/>
        <p:txBody>
          <a:bodyPr/>
          <a:p>
            <a:r>
              <a:rPr lang="en-US"/>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8"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9"/>
          </p:nvPr>
        </p:nvSpPr>
        <p:spPr/>
        <p:txBody>
          <a:bodyPr/>
          <a:p>
            <a:r>
              <a:t>Footer</a:t>
            </a:r>
          </a:p>
        </p:txBody>
      </p:sp>
      <p:sp>
        <p:nvSpPr>
          <p:cNvPr id="7" name="PlaceHolder 6"/>
          <p:cNvSpPr>
            <a:spLocks noGrp="1"/>
          </p:cNvSpPr>
          <p:nvPr>
            <p:ph type="sldNum" idx="20"/>
          </p:nvPr>
        </p:nvSpPr>
        <p:spPr/>
        <p:txBody>
          <a:bodyPr/>
          <a:p>
            <a:fld id="{DE95EF4E-D668-4084-AC54-E76D44A3A6C8}" type="slidenum">
              <a:t>&lt;#&gt;</a:t>
            </a:fld>
          </a:p>
        </p:txBody>
      </p:sp>
      <p:sp>
        <p:nvSpPr>
          <p:cNvPr id="8" name="PlaceHolder 7"/>
          <p:cNvSpPr>
            <a:spLocks noGrp="1"/>
          </p:cNvSpPr>
          <p:nvPr>
            <p:ph type="dt" idx="21"/>
          </p:nvPr>
        </p:nvSpPr>
        <p:spPr/>
        <p:txBody>
          <a:bodyPr/>
          <a:p>
            <a:r>
              <a:rPr lang="en-US"/>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A6752FE7-824F-4E08-B7CC-958485FEA390}" type="slidenum">
              <a:t>&lt;#&gt;</a:t>
            </a:fld>
          </a:p>
        </p:txBody>
      </p:sp>
      <p:sp>
        <p:nvSpPr>
          <p:cNvPr id="7" name="PlaceHolder 6"/>
          <p:cNvSpPr>
            <a:spLocks noGrp="1"/>
          </p:cNvSpPr>
          <p:nvPr>
            <p:ph type="dt" idx="21"/>
          </p:nvPr>
        </p:nvSpPr>
        <p:spPr/>
        <p:txBody>
          <a:bodyPr/>
          <a:p>
            <a:r>
              <a:rPr lang="en-US"/>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6"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9"/>
          </p:nvPr>
        </p:nvSpPr>
        <p:spPr/>
        <p:txBody>
          <a:bodyPr/>
          <a:p>
            <a:r>
              <a:t>Footer</a:t>
            </a:r>
          </a:p>
        </p:txBody>
      </p:sp>
      <p:sp>
        <p:nvSpPr>
          <p:cNvPr id="8" name="PlaceHolder 7"/>
          <p:cNvSpPr>
            <a:spLocks noGrp="1"/>
          </p:cNvSpPr>
          <p:nvPr>
            <p:ph type="sldNum" idx="20"/>
          </p:nvPr>
        </p:nvSpPr>
        <p:spPr/>
        <p:txBody>
          <a:bodyPr/>
          <a:p>
            <a:fld id="{86B8F06B-8CF0-49F1-BB6E-1499DB165F47}" type="slidenum">
              <a:t>&lt;#&gt;</a:t>
            </a:fld>
          </a:p>
        </p:txBody>
      </p:sp>
      <p:sp>
        <p:nvSpPr>
          <p:cNvPr id="9" name="PlaceHolder 8"/>
          <p:cNvSpPr>
            <a:spLocks noGrp="1"/>
          </p:cNvSpPr>
          <p:nvPr>
            <p:ph type="dt" idx="21"/>
          </p:nvPr>
        </p:nvSpPr>
        <p:spPr/>
        <p:txBody>
          <a:bodyPr/>
          <a:p>
            <a:r>
              <a:rPr lang="en-US"/>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8"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9"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0"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1"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2"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3"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9"/>
          </p:nvPr>
        </p:nvSpPr>
        <p:spPr/>
        <p:txBody>
          <a:bodyPr/>
          <a:p>
            <a:r>
              <a:t>Footer</a:t>
            </a:r>
          </a:p>
        </p:txBody>
      </p:sp>
      <p:sp>
        <p:nvSpPr>
          <p:cNvPr id="10" name="PlaceHolder 9"/>
          <p:cNvSpPr>
            <a:spLocks noGrp="1"/>
          </p:cNvSpPr>
          <p:nvPr>
            <p:ph type="sldNum" idx="20"/>
          </p:nvPr>
        </p:nvSpPr>
        <p:spPr/>
        <p:txBody>
          <a:bodyPr/>
          <a:p>
            <a:fld id="{FE85BFD8-F593-4735-B8ED-5E1BE26268A7}" type="slidenum">
              <a:t>&lt;#&gt;</a:t>
            </a:fld>
          </a:p>
        </p:txBody>
      </p:sp>
      <p:sp>
        <p:nvSpPr>
          <p:cNvPr id="11" name="PlaceHolder 10"/>
          <p:cNvSpPr>
            <a:spLocks noGrp="1"/>
          </p:cNvSpPr>
          <p:nvPr>
            <p:ph type="dt" idx="21"/>
          </p:nvPr>
        </p:nvSpPr>
        <p:spPr/>
        <p:txBody>
          <a:bodyPr/>
          <a:p>
            <a:r>
              <a:rPr lang="en-US"/>
              <a:t/>
            </a: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CA41D33F-8F2E-46EB-A52E-7C18ED798626}"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5A4CF1A4-8900-45EE-B7E8-880AAF62118F}"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92B9D449-63C9-4BBD-B7EE-C44323D63E79}"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05EAE976-8D10-4421-813A-8445CEBA0A0E}" type="slidenum">
              <a:t>&lt;#&gt;</a:t>
            </a:fld>
          </a:p>
        </p:txBody>
      </p:sp>
      <p:sp>
        <p:nvSpPr>
          <p:cNvPr id="7" name="PlaceHolder 6"/>
          <p:cNvSpPr>
            <a:spLocks noGrp="1"/>
          </p:cNvSpPr>
          <p:nvPr>
            <p:ph type="dt" idx="24"/>
          </p:nvPr>
        </p:nvSpPr>
        <p:spPr/>
        <p:txBody>
          <a:bodyPr/>
          <a:p>
            <a:r>
              <a:rPr lang="en-US"/>
              <a:t/>
            </a: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3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0BA51A86-666F-4BFD-BA76-CC0A3CDE8658}"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36"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91925395-B31D-4697-94C1-A8564C32BE60}"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2"/>
          </p:nvPr>
        </p:nvSpPr>
        <p:spPr/>
        <p:txBody>
          <a:bodyPr/>
          <a:p>
            <a:r>
              <a:t>Footer</a:t>
            </a:r>
          </a:p>
        </p:txBody>
      </p:sp>
      <p:sp>
        <p:nvSpPr>
          <p:cNvPr id="7" name="PlaceHolder 6"/>
          <p:cNvSpPr>
            <a:spLocks noGrp="1"/>
          </p:cNvSpPr>
          <p:nvPr>
            <p:ph type="sldNum" idx="23"/>
          </p:nvPr>
        </p:nvSpPr>
        <p:spPr/>
        <p:txBody>
          <a:bodyPr/>
          <a:p>
            <a:fld id="{42A88A46-6712-4ABA-B397-39EE97AEA117}" type="slidenum">
              <a:t>&lt;#&gt;</a:t>
            </a:fld>
          </a:p>
        </p:txBody>
      </p:sp>
      <p:sp>
        <p:nvSpPr>
          <p:cNvPr id="8" name="PlaceHolder 7"/>
          <p:cNvSpPr>
            <a:spLocks noGrp="1"/>
          </p:cNvSpPr>
          <p:nvPr>
            <p:ph type="dt" idx="24"/>
          </p:nvPr>
        </p:nvSpPr>
        <p:spPr/>
        <p:txBody>
          <a:bodyPr/>
          <a:p>
            <a:r>
              <a:rPr lang="en-US"/>
              <a:t/>
            </a: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2"/>
          </p:nvPr>
        </p:nvSpPr>
        <p:spPr/>
        <p:txBody>
          <a:bodyPr/>
          <a:p>
            <a:r>
              <a:t>Footer</a:t>
            </a:r>
          </a:p>
        </p:txBody>
      </p:sp>
      <p:sp>
        <p:nvSpPr>
          <p:cNvPr id="7" name="PlaceHolder 6"/>
          <p:cNvSpPr>
            <a:spLocks noGrp="1"/>
          </p:cNvSpPr>
          <p:nvPr>
            <p:ph type="sldNum" idx="23"/>
          </p:nvPr>
        </p:nvSpPr>
        <p:spPr/>
        <p:txBody>
          <a:bodyPr/>
          <a:p>
            <a:fld id="{737B1505-091D-46EF-B646-163066839F4F}" type="slidenum">
              <a:t>&lt;#&gt;</a:t>
            </a:fld>
          </a:p>
        </p:txBody>
      </p:sp>
      <p:sp>
        <p:nvSpPr>
          <p:cNvPr id="8" name="PlaceHolder 7"/>
          <p:cNvSpPr>
            <a:spLocks noGrp="1"/>
          </p:cNvSpPr>
          <p:nvPr>
            <p:ph type="dt" idx="24"/>
          </p:nvPr>
        </p:nvSpPr>
        <p:spPr/>
        <p:txBody>
          <a:bodyPr/>
          <a:p>
            <a:r>
              <a:rPr lang="en-US"/>
              <a:t/>
            </a: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8"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2"/>
          </p:nvPr>
        </p:nvSpPr>
        <p:spPr/>
        <p:txBody>
          <a:bodyPr/>
          <a:p>
            <a:r>
              <a:t>Footer</a:t>
            </a:r>
          </a:p>
        </p:txBody>
      </p:sp>
      <p:sp>
        <p:nvSpPr>
          <p:cNvPr id="7" name="PlaceHolder 6"/>
          <p:cNvSpPr>
            <a:spLocks noGrp="1"/>
          </p:cNvSpPr>
          <p:nvPr>
            <p:ph type="sldNum" idx="23"/>
          </p:nvPr>
        </p:nvSpPr>
        <p:spPr/>
        <p:txBody>
          <a:bodyPr/>
          <a:p>
            <a:fld id="{AF8038E4-9A7B-47AB-A88A-3AC9D6A5171B}" type="slidenum">
              <a:t>&lt;#&gt;</a:t>
            </a:fld>
          </a:p>
        </p:txBody>
      </p:sp>
      <p:sp>
        <p:nvSpPr>
          <p:cNvPr id="8" name="PlaceHolder 7"/>
          <p:cNvSpPr>
            <a:spLocks noGrp="1"/>
          </p:cNvSpPr>
          <p:nvPr>
            <p:ph type="dt" idx="24"/>
          </p:nvPr>
        </p:nvSpPr>
        <p:spPr/>
        <p:txBody>
          <a:bodyPr/>
          <a:p>
            <a:r>
              <a:rPr lang="en-US"/>
              <a:t/>
            </a: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4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5DC1EB96-45FB-4764-BE99-87255541726A}" type="slidenum">
              <a:t>&lt;#&gt;</a:t>
            </a:fld>
          </a:p>
        </p:txBody>
      </p:sp>
      <p:sp>
        <p:nvSpPr>
          <p:cNvPr id="7" name="PlaceHolder 6"/>
          <p:cNvSpPr>
            <a:spLocks noGrp="1"/>
          </p:cNvSpPr>
          <p:nvPr>
            <p:ph type="dt" idx="24"/>
          </p:nvPr>
        </p:nvSpPr>
        <p:spPr/>
        <p:txBody>
          <a:bodyPr/>
          <a:p>
            <a:r>
              <a:rPr lang="en-US"/>
              <a:t/>
            </a: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6"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22"/>
          </p:nvPr>
        </p:nvSpPr>
        <p:spPr/>
        <p:txBody>
          <a:bodyPr/>
          <a:p>
            <a:r>
              <a:t>Footer</a:t>
            </a:r>
          </a:p>
        </p:txBody>
      </p:sp>
      <p:sp>
        <p:nvSpPr>
          <p:cNvPr id="8" name="PlaceHolder 7"/>
          <p:cNvSpPr>
            <a:spLocks noGrp="1"/>
          </p:cNvSpPr>
          <p:nvPr>
            <p:ph type="sldNum" idx="23"/>
          </p:nvPr>
        </p:nvSpPr>
        <p:spPr/>
        <p:txBody>
          <a:bodyPr/>
          <a:p>
            <a:fld id="{D74D76AB-AB2A-472E-9A16-37FE354109D8}" type="slidenum">
              <a:t>&lt;#&gt;</a:t>
            </a:fld>
          </a:p>
        </p:txBody>
      </p:sp>
      <p:sp>
        <p:nvSpPr>
          <p:cNvPr id="9" name="PlaceHolder 8"/>
          <p:cNvSpPr>
            <a:spLocks noGrp="1"/>
          </p:cNvSpPr>
          <p:nvPr>
            <p:ph type="dt" idx="24"/>
          </p:nvPr>
        </p:nvSpPr>
        <p:spPr/>
        <p:txBody>
          <a:bodyPr/>
          <a:p>
            <a:r>
              <a:rPr lang="en-US"/>
              <a:t/>
            </a: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8"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9"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0"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1"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2"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3"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22"/>
          </p:nvPr>
        </p:nvSpPr>
        <p:spPr/>
        <p:txBody>
          <a:bodyPr/>
          <a:p>
            <a:r>
              <a:t>Footer</a:t>
            </a:r>
          </a:p>
        </p:txBody>
      </p:sp>
      <p:sp>
        <p:nvSpPr>
          <p:cNvPr id="10" name="PlaceHolder 9"/>
          <p:cNvSpPr>
            <a:spLocks noGrp="1"/>
          </p:cNvSpPr>
          <p:nvPr>
            <p:ph type="sldNum" idx="23"/>
          </p:nvPr>
        </p:nvSpPr>
        <p:spPr/>
        <p:txBody>
          <a:bodyPr/>
          <a:p>
            <a:fld id="{461A3793-7F6D-4C64-BF47-066D85738B0A}" type="slidenum">
              <a:t>&lt;#&gt;</a:t>
            </a:fld>
          </a:p>
        </p:txBody>
      </p:sp>
      <p:sp>
        <p:nvSpPr>
          <p:cNvPr id="11" name="PlaceHolder 10"/>
          <p:cNvSpPr>
            <a:spLocks noGrp="1"/>
          </p:cNvSpPr>
          <p:nvPr>
            <p:ph type="dt" idx="24"/>
          </p:nvPr>
        </p:nvSpPr>
        <p:spPr/>
        <p:txBody>
          <a:bodyPr/>
          <a:p>
            <a:r>
              <a:rPr lang="en-US"/>
              <a:t/>
            </a: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A419B765-5938-4FEB-8228-96895F452336}"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0FAED153-6C64-4A9A-AB19-F4B1133447F4}"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B0587FCE-D0D0-48CD-8B4B-3FC57EF3372D}"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BDB3C70C-A22F-4E0A-AF47-47D7656E3D0A}"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1D3E4B0B-6EAE-47F7-83F5-80F3D45E6407}" type="slidenum">
              <a:t>&lt;#&gt;</a:t>
            </a:fld>
          </a:p>
        </p:txBody>
      </p:sp>
      <p:sp>
        <p:nvSpPr>
          <p:cNvPr id="5" name="PlaceHolder 4"/>
          <p:cNvSpPr>
            <a:spLocks noGrp="1"/>
          </p:cNvSpPr>
          <p:nvPr>
            <p:ph type="dt" idx="27"/>
          </p:nvPr>
        </p:nvSpPr>
        <p:spPr/>
        <p:txBody>
          <a:bodyPr/>
          <a:p>
            <a:r>
              <a:rPr lang="en-US"/>
              <a:t/>
            </a: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8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37366C70-FE88-471A-9547-08A7F0FD470E}" type="slidenum">
              <a:t>&lt;#&gt;</a:t>
            </a:fld>
          </a:p>
        </p:txBody>
      </p:sp>
      <p:sp>
        <p:nvSpPr>
          <p:cNvPr id="5" name="PlaceHolder 4"/>
          <p:cNvSpPr>
            <a:spLocks noGrp="1"/>
          </p:cNvSpPr>
          <p:nvPr>
            <p:ph type="dt" idx="27"/>
          </p:nvPr>
        </p:nvSpPr>
        <p:spPr/>
        <p:txBody>
          <a:bodyPr/>
          <a:p>
            <a:r>
              <a:rPr lang="en-US"/>
              <a:t/>
            </a: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5"/>
          </p:nvPr>
        </p:nvSpPr>
        <p:spPr/>
        <p:txBody>
          <a:bodyPr/>
          <a:p>
            <a:r>
              <a:t>Footer</a:t>
            </a:r>
          </a:p>
        </p:txBody>
      </p:sp>
      <p:sp>
        <p:nvSpPr>
          <p:cNvPr id="7" name="PlaceHolder 6"/>
          <p:cNvSpPr>
            <a:spLocks noGrp="1"/>
          </p:cNvSpPr>
          <p:nvPr>
            <p:ph type="sldNum" idx="26"/>
          </p:nvPr>
        </p:nvSpPr>
        <p:spPr/>
        <p:txBody>
          <a:bodyPr/>
          <a:p>
            <a:fld id="{5DA6BA87-D181-4C8D-8740-10BEC8CD6550}" type="slidenum">
              <a:t>&lt;#&gt;</a:t>
            </a:fld>
          </a:p>
        </p:txBody>
      </p:sp>
      <p:sp>
        <p:nvSpPr>
          <p:cNvPr id="8" name="PlaceHolder 7"/>
          <p:cNvSpPr>
            <a:spLocks noGrp="1"/>
          </p:cNvSpPr>
          <p:nvPr>
            <p:ph type="dt" idx="27"/>
          </p:nvPr>
        </p:nvSpPr>
        <p:spPr/>
        <p:txBody>
          <a:bodyPr/>
          <a:p>
            <a:r>
              <a:rPr lang="en-US"/>
              <a:t/>
            </a: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5"/>
          </p:nvPr>
        </p:nvSpPr>
        <p:spPr/>
        <p:txBody>
          <a:bodyPr/>
          <a:p>
            <a:r>
              <a:t>Footer</a:t>
            </a:r>
          </a:p>
        </p:txBody>
      </p:sp>
      <p:sp>
        <p:nvSpPr>
          <p:cNvPr id="7" name="PlaceHolder 6"/>
          <p:cNvSpPr>
            <a:spLocks noGrp="1"/>
          </p:cNvSpPr>
          <p:nvPr>
            <p:ph type="sldNum" idx="26"/>
          </p:nvPr>
        </p:nvSpPr>
        <p:spPr/>
        <p:txBody>
          <a:bodyPr/>
          <a:p>
            <a:fld id="{2AD68A96-335D-4DCA-A68E-D624B5A497A0}" type="slidenum">
              <a:t>&lt;#&gt;</a:t>
            </a:fld>
          </a:p>
        </p:txBody>
      </p:sp>
      <p:sp>
        <p:nvSpPr>
          <p:cNvPr id="8" name="PlaceHolder 7"/>
          <p:cNvSpPr>
            <a:spLocks noGrp="1"/>
          </p:cNvSpPr>
          <p:nvPr>
            <p:ph type="dt" idx="27"/>
          </p:nvPr>
        </p:nvSpPr>
        <p:spPr/>
        <p:txBody>
          <a:bodyPr/>
          <a:p>
            <a:r>
              <a:rPr lang="en-US"/>
              <a:t/>
            </a: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5"/>
          </p:nvPr>
        </p:nvSpPr>
        <p:spPr/>
        <p:txBody>
          <a:bodyPr/>
          <a:p>
            <a:r>
              <a:t>Footer</a:t>
            </a:r>
          </a:p>
        </p:txBody>
      </p:sp>
      <p:sp>
        <p:nvSpPr>
          <p:cNvPr id="7" name="PlaceHolder 6"/>
          <p:cNvSpPr>
            <a:spLocks noGrp="1"/>
          </p:cNvSpPr>
          <p:nvPr>
            <p:ph type="sldNum" idx="26"/>
          </p:nvPr>
        </p:nvSpPr>
        <p:spPr/>
        <p:txBody>
          <a:bodyPr/>
          <a:p>
            <a:fld id="{4A24B693-D238-46D5-B649-55F05ED2EC2F}" type="slidenum">
              <a:t>&lt;#&gt;</a:t>
            </a:fld>
          </a:p>
        </p:txBody>
      </p:sp>
      <p:sp>
        <p:nvSpPr>
          <p:cNvPr id="8" name="PlaceHolder 7"/>
          <p:cNvSpPr>
            <a:spLocks noGrp="1"/>
          </p:cNvSpPr>
          <p:nvPr>
            <p:ph type="dt" idx="27"/>
          </p:nvPr>
        </p:nvSpPr>
        <p:spPr/>
        <p:txBody>
          <a:bodyPr/>
          <a:p>
            <a:r>
              <a:rPr lang="en-US"/>
              <a:t/>
            </a: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3641BEE9-95C1-4A82-B4AF-54D0ACD4F68C}"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25"/>
          </p:nvPr>
        </p:nvSpPr>
        <p:spPr/>
        <p:txBody>
          <a:bodyPr/>
          <a:p>
            <a:r>
              <a:t>Footer</a:t>
            </a:r>
          </a:p>
        </p:txBody>
      </p:sp>
      <p:sp>
        <p:nvSpPr>
          <p:cNvPr id="8" name="PlaceHolder 7"/>
          <p:cNvSpPr>
            <a:spLocks noGrp="1"/>
          </p:cNvSpPr>
          <p:nvPr>
            <p:ph type="sldNum" idx="26"/>
          </p:nvPr>
        </p:nvSpPr>
        <p:spPr/>
        <p:txBody>
          <a:bodyPr/>
          <a:p>
            <a:fld id="{9861F3DC-9606-4E99-83A0-0C42A886D151}" type="slidenum">
              <a:t>&lt;#&gt;</a:t>
            </a:fld>
          </a:p>
        </p:txBody>
      </p:sp>
      <p:sp>
        <p:nvSpPr>
          <p:cNvPr id="9" name="PlaceHolder 8"/>
          <p:cNvSpPr>
            <a:spLocks noGrp="1"/>
          </p:cNvSpPr>
          <p:nvPr>
            <p:ph type="dt" idx="27"/>
          </p:nvPr>
        </p:nvSpPr>
        <p:spPr/>
        <p:txBody>
          <a:bodyPr/>
          <a:p>
            <a:r>
              <a:rPr lang="en-US"/>
              <a:t/>
            </a: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0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25"/>
          </p:nvPr>
        </p:nvSpPr>
        <p:spPr/>
        <p:txBody>
          <a:bodyPr/>
          <a:p>
            <a:r>
              <a:t>Footer</a:t>
            </a:r>
          </a:p>
        </p:txBody>
      </p:sp>
      <p:sp>
        <p:nvSpPr>
          <p:cNvPr id="10" name="PlaceHolder 9"/>
          <p:cNvSpPr>
            <a:spLocks noGrp="1"/>
          </p:cNvSpPr>
          <p:nvPr>
            <p:ph type="sldNum" idx="26"/>
          </p:nvPr>
        </p:nvSpPr>
        <p:spPr/>
        <p:txBody>
          <a:bodyPr/>
          <a:p>
            <a:fld id="{6AE39A15-C639-488D-A421-993B9AF6F079}" type="slidenum">
              <a:t>&lt;#&gt;</a:t>
            </a:fld>
          </a:p>
        </p:txBody>
      </p:sp>
      <p:sp>
        <p:nvSpPr>
          <p:cNvPr id="11" name="PlaceHolder 10"/>
          <p:cNvSpPr>
            <a:spLocks noGrp="1"/>
          </p:cNvSpPr>
          <p:nvPr>
            <p:ph type="dt" idx="27"/>
          </p:nvPr>
        </p:nvSpPr>
        <p:spPr/>
        <p:txBody>
          <a:bodyPr/>
          <a:p>
            <a:r>
              <a:rPr lang="en-US"/>
              <a:t/>
            </a:r>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E87FE007-49B3-462A-8590-44750940C507}"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1B50B58A-40ED-4E33-9B03-0C0E61F5F23F}"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D677B852-9BD7-431F-9DF3-917D56F2E006}"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2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2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8"/>
          </p:nvPr>
        </p:nvSpPr>
        <p:spPr/>
        <p:txBody>
          <a:bodyPr/>
          <a:p>
            <a:r>
              <a:t>Footer</a:t>
            </a:r>
          </a:p>
        </p:txBody>
      </p:sp>
      <p:sp>
        <p:nvSpPr>
          <p:cNvPr id="6" name="PlaceHolder 5"/>
          <p:cNvSpPr>
            <a:spLocks noGrp="1"/>
          </p:cNvSpPr>
          <p:nvPr>
            <p:ph type="sldNum" idx="29"/>
          </p:nvPr>
        </p:nvSpPr>
        <p:spPr/>
        <p:txBody>
          <a:bodyPr/>
          <a:p>
            <a:fld id="{D0351A18-AA15-4E8E-BF02-0292253046DA}" type="slidenum">
              <a:t>&lt;#&gt;</a:t>
            </a:fld>
          </a:p>
        </p:txBody>
      </p:sp>
      <p:sp>
        <p:nvSpPr>
          <p:cNvPr id="7" name="PlaceHolder 6"/>
          <p:cNvSpPr>
            <a:spLocks noGrp="1"/>
          </p:cNvSpPr>
          <p:nvPr>
            <p:ph type="dt" idx="30"/>
          </p:nvPr>
        </p:nvSpPr>
        <p:spPr/>
        <p:txBody>
          <a:bodyPr/>
          <a:p>
            <a:r>
              <a:rPr lang="en-US"/>
              <a:t/>
            </a:r>
          </a:p>
        </p:txBody>
      </p:sp>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F45BB244-06F0-45F1-BBF8-48B3B3D6C1AE}"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29"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3F5501E8-6A6B-40E6-B742-B72C68F40DF4}"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3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8"/>
          </p:nvPr>
        </p:nvSpPr>
        <p:spPr/>
        <p:txBody>
          <a:bodyPr/>
          <a:p>
            <a:r>
              <a:t>Footer</a:t>
            </a:r>
          </a:p>
        </p:txBody>
      </p:sp>
      <p:sp>
        <p:nvSpPr>
          <p:cNvPr id="7" name="PlaceHolder 6"/>
          <p:cNvSpPr>
            <a:spLocks noGrp="1"/>
          </p:cNvSpPr>
          <p:nvPr>
            <p:ph type="sldNum" idx="29"/>
          </p:nvPr>
        </p:nvSpPr>
        <p:spPr/>
        <p:txBody>
          <a:bodyPr/>
          <a:p>
            <a:fld id="{B12FBEF0-8F96-4A63-9D3B-942DAAB2E8EC}" type="slidenum">
              <a:t>&lt;#&gt;</a:t>
            </a:fld>
          </a:p>
        </p:txBody>
      </p:sp>
      <p:sp>
        <p:nvSpPr>
          <p:cNvPr id="8" name="PlaceHolder 7"/>
          <p:cNvSpPr>
            <a:spLocks noGrp="1"/>
          </p:cNvSpPr>
          <p:nvPr>
            <p:ph type="dt" idx="30"/>
          </p:nvPr>
        </p:nvSpPr>
        <p:spPr/>
        <p:txBody>
          <a:bodyPr/>
          <a:p>
            <a:r>
              <a:rPr lang="en-US"/>
              <a:t/>
            </a: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7"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8"/>
          </p:nvPr>
        </p:nvSpPr>
        <p:spPr/>
        <p:txBody>
          <a:bodyPr/>
          <a:p>
            <a:r>
              <a:t>Footer</a:t>
            </a:r>
          </a:p>
        </p:txBody>
      </p:sp>
      <p:sp>
        <p:nvSpPr>
          <p:cNvPr id="7" name="PlaceHolder 6"/>
          <p:cNvSpPr>
            <a:spLocks noGrp="1"/>
          </p:cNvSpPr>
          <p:nvPr>
            <p:ph type="sldNum" idx="29"/>
          </p:nvPr>
        </p:nvSpPr>
        <p:spPr/>
        <p:txBody>
          <a:bodyPr/>
          <a:p>
            <a:fld id="{88E33AA2-3147-48A0-AA14-4EACD7B97BC6}" type="slidenum">
              <a:t>&lt;#&gt;</a:t>
            </a:fld>
          </a:p>
        </p:txBody>
      </p:sp>
      <p:sp>
        <p:nvSpPr>
          <p:cNvPr id="8" name="PlaceHolder 7"/>
          <p:cNvSpPr>
            <a:spLocks noGrp="1"/>
          </p:cNvSpPr>
          <p:nvPr>
            <p:ph type="dt" idx="30"/>
          </p:nvPr>
        </p:nvSpPr>
        <p:spPr/>
        <p:txBody>
          <a:bodyPr/>
          <a:p>
            <a:r>
              <a:rPr lang="en-US"/>
              <a:t/>
            </a: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3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1"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8"/>
          </p:nvPr>
        </p:nvSpPr>
        <p:spPr/>
        <p:txBody>
          <a:bodyPr/>
          <a:p>
            <a:r>
              <a:t>Footer</a:t>
            </a:r>
          </a:p>
        </p:txBody>
      </p:sp>
      <p:sp>
        <p:nvSpPr>
          <p:cNvPr id="7" name="PlaceHolder 6"/>
          <p:cNvSpPr>
            <a:spLocks noGrp="1"/>
          </p:cNvSpPr>
          <p:nvPr>
            <p:ph type="sldNum" idx="29"/>
          </p:nvPr>
        </p:nvSpPr>
        <p:spPr/>
        <p:txBody>
          <a:bodyPr/>
          <a:p>
            <a:fld id="{663D27AC-2A28-458B-9C6C-57994337A416}" type="slidenum">
              <a:t>&lt;#&gt;</a:t>
            </a:fld>
          </a:p>
        </p:txBody>
      </p:sp>
      <p:sp>
        <p:nvSpPr>
          <p:cNvPr id="8" name="PlaceHolder 7"/>
          <p:cNvSpPr>
            <a:spLocks noGrp="1"/>
          </p:cNvSpPr>
          <p:nvPr>
            <p:ph type="dt" idx="30"/>
          </p:nvPr>
        </p:nvSpPr>
        <p:spPr/>
        <p:txBody>
          <a:bodyPr/>
          <a:p>
            <a:r>
              <a:rPr lang="en-US"/>
              <a:t/>
            </a: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4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3"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4"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8"/>
          </p:nvPr>
        </p:nvSpPr>
        <p:spPr/>
        <p:txBody>
          <a:bodyPr/>
          <a:p>
            <a:r>
              <a:t>Footer</a:t>
            </a:r>
          </a:p>
        </p:txBody>
      </p:sp>
      <p:sp>
        <p:nvSpPr>
          <p:cNvPr id="6" name="PlaceHolder 5"/>
          <p:cNvSpPr>
            <a:spLocks noGrp="1"/>
          </p:cNvSpPr>
          <p:nvPr>
            <p:ph type="sldNum" idx="29"/>
          </p:nvPr>
        </p:nvSpPr>
        <p:spPr/>
        <p:txBody>
          <a:bodyPr/>
          <a:p>
            <a:fld id="{FA0D5BEB-7597-44BC-8ADB-9B05F4C9CB17}" type="slidenum">
              <a:t>&lt;#&gt;</a:t>
            </a:fld>
          </a:p>
        </p:txBody>
      </p:sp>
      <p:sp>
        <p:nvSpPr>
          <p:cNvPr id="7" name="PlaceHolder 6"/>
          <p:cNvSpPr>
            <a:spLocks noGrp="1"/>
          </p:cNvSpPr>
          <p:nvPr>
            <p:ph type="dt" idx="30"/>
          </p:nvPr>
        </p:nvSpPr>
        <p:spPr/>
        <p:txBody>
          <a:bodyPr/>
          <a:p>
            <a:r>
              <a:rPr lang="en-US"/>
              <a:t/>
            </a:r>
          </a:p>
        </p:txBody>
      </p:sp>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9"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28"/>
          </p:nvPr>
        </p:nvSpPr>
        <p:spPr/>
        <p:txBody>
          <a:bodyPr/>
          <a:p>
            <a:r>
              <a:t>Footer</a:t>
            </a:r>
          </a:p>
        </p:txBody>
      </p:sp>
      <p:sp>
        <p:nvSpPr>
          <p:cNvPr id="8" name="PlaceHolder 7"/>
          <p:cNvSpPr>
            <a:spLocks noGrp="1"/>
          </p:cNvSpPr>
          <p:nvPr>
            <p:ph type="sldNum" idx="29"/>
          </p:nvPr>
        </p:nvSpPr>
        <p:spPr/>
        <p:txBody>
          <a:bodyPr/>
          <a:p>
            <a:fld id="{65E58767-98E0-4F09-B22E-0BF7DBFEE1F4}" type="slidenum">
              <a:t>&lt;#&gt;</a:t>
            </a:fld>
          </a:p>
        </p:txBody>
      </p:sp>
      <p:sp>
        <p:nvSpPr>
          <p:cNvPr id="9" name="PlaceHolder 8"/>
          <p:cNvSpPr>
            <a:spLocks noGrp="1"/>
          </p:cNvSpPr>
          <p:nvPr>
            <p:ph type="dt" idx="30"/>
          </p:nvPr>
        </p:nvSpPr>
        <p:spPr/>
        <p:txBody>
          <a:bodyPr/>
          <a:p>
            <a:r>
              <a:rPr lang="en-US"/>
              <a:t/>
            </a: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51"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2"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3"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4"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5"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6"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28"/>
          </p:nvPr>
        </p:nvSpPr>
        <p:spPr/>
        <p:txBody>
          <a:bodyPr/>
          <a:p>
            <a:r>
              <a:t>Footer</a:t>
            </a:r>
          </a:p>
        </p:txBody>
      </p:sp>
      <p:sp>
        <p:nvSpPr>
          <p:cNvPr id="10" name="PlaceHolder 9"/>
          <p:cNvSpPr>
            <a:spLocks noGrp="1"/>
          </p:cNvSpPr>
          <p:nvPr>
            <p:ph type="sldNum" idx="29"/>
          </p:nvPr>
        </p:nvSpPr>
        <p:spPr/>
        <p:txBody>
          <a:bodyPr/>
          <a:p>
            <a:fld id="{E8F32A2F-F9BC-4A07-806A-926FB86F1CEA}" type="slidenum">
              <a:t>&lt;#&gt;</a:t>
            </a:fld>
          </a:p>
        </p:txBody>
      </p:sp>
      <p:sp>
        <p:nvSpPr>
          <p:cNvPr id="11" name="PlaceHolder 10"/>
          <p:cNvSpPr>
            <a:spLocks noGrp="1"/>
          </p:cNvSpPr>
          <p:nvPr>
            <p:ph type="dt" idx="3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9" Type="http://schemas.openxmlformats.org/officeDocument/2006/relationships/slideLayout" Target="../slideLayouts/slideLayout116.xml"/><Relationship Id="rId10" Type="http://schemas.openxmlformats.org/officeDocument/2006/relationships/slideLayout" Target="../slideLayouts/slideLayout117.xml"/><Relationship Id="rId11" Type="http://schemas.openxmlformats.org/officeDocument/2006/relationships/slideLayout" Target="../slideLayouts/slideLayout118.xml"/><Relationship Id="rId12" Type="http://schemas.openxmlformats.org/officeDocument/2006/relationships/slideLayout" Target="../slideLayouts/slideLayout119.xml"/><Relationship Id="rId13" Type="http://schemas.openxmlformats.org/officeDocument/2006/relationships/slideLayout" Target="../slideLayouts/slideLayout1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3"/>
        </a:solidFill>
      </p:bgPr>
    </p:bg>
    <p:spTree>
      <p:nvGrpSpPr>
        <p:cNvPr id="1" name=""/>
        <p:cNvGrpSpPr/>
        <p:nvPr/>
      </p:nvGrpSpPr>
      <p:grpSpPr>
        <a:xfrm>
          <a:off x="0" y="0"/>
          <a:ext cx="0" cy="0"/>
          <a:chOff x="0" y="0"/>
          <a:chExt cx="0" cy="0"/>
        </a:xfrm>
      </p:grpSpPr>
      <p:cxnSp>
        <p:nvCxnSpPr>
          <p:cNvPr id="0" name="Straight Connector 3"/>
          <p:cNvCxnSpPr/>
          <p:nvPr/>
        </p:nvCxnSpPr>
        <p:spPr>
          <a:xfrm>
            <a:off x="803160" y="4267080"/>
            <a:ext cx="10584720" cy="720"/>
          </a:xfrm>
          <a:prstGeom prst="straightConnector1">
            <a:avLst/>
          </a:prstGeom>
          <a:ln w="0">
            <a:solidFill>
              <a:srgbClr val="000000"/>
            </a:solidFill>
          </a:ln>
        </p:spPr>
      </p:cxnSp>
      <p:grpSp>
        <p:nvGrpSpPr>
          <p:cNvPr id="1" name="Group 13"/>
          <p:cNvGrpSpPr/>
          <p:nvPr/>
        </p:nvGrpSpPr>
        <p:grpSpPr>
          <a:xfrm>
            <a:off x="803160" y="0"/>
            <a:ext cx="10585800" cy="6858360"/>
            <a:chOff x="803160" y="0"/>
            <a:chExt cx="10585800" cy="6858360"/>
          </a:xfrm>
        </p:grpSpPr>
        <p:cxnSp>
          <p:nvCxnSpPr>
            <p:cNvPr id="2" name="Straight Connector 14"/>
            <p:cNvCxnSpPr/>
            <p:nvPr/>
          </p:nvCxnSpPr>
          <p:spPr>
            <a:xfrm>
              <a:off x="804600" y="0"/>
              <a:ext cx="720" cy="6858720"/>
            </a:xfrm>
            <a:prstGeom prst="straightConnector1">
              <a:avLst/>
            </a:prstGeom>
            <a:ln w="0">
              <a:solidFill>
                <a:srgbClr val="000000"/>
              </a:solidFill>
            </a:ln>
          </p:spPr>
        </p:cxnSp>
        <p:cxnSp>
          <p:nvCxnSpPr>
            <p:cNvPr id="3" name="Straight Connector 15"/>
            <p:cNvCxnSpPr/>
            <p:nvPr/>
          </p:nvCxnSpPr>
          <p:spPr>
            <a:xfrm>
              <a:off x="803160" y="393120"/>
              <a:ext cx="10584720" cy="720"/>
            </a:xfrm>
            <a:prstGeom prst="straightConnector1">
              <a:avLst/>
            </a:prstGeom>
            <a:ln w="0">
              <a:solidFill>
                <a:srgbClr val="000000"/>
              </a:solidFill>
            </a:ln>
          </p:spPr>
        </p:cxnSp>
        <p:cxnSp>
          <p:nvCxnSpPr>
            <p:cNvPr id="4" name="Straight Connector 16"/>
            <p:cNvCxnSpPr/>
            <p:nvPr/>
          </p:nvCxnSpPr>
          <p:spPr>
            <a:xfrm>
              <a:off x="11388600" y="0"/>
              <a:ext cx="720" cy="6858720"/>
            </a:xfrm>
            <a:prstGeom prst="straightConnector1">
              <a:avLst/>
            </a:prstGeom>
            <a:ln w="0">
              <a:solidFill>
                <a:srgbClr val="000000"/>
              </a:solidFill>
            </a:ln>
          </p:spPr>
        </p:cxnSp>
        <p:cxnSp>
          <p:nvCxnSpPr>
            <p:cNvPr id="5" name="Straight Connector 17"/>
            <p:cNvCxnSpPr/>
            <p:nvPr/>
          </p:nvCxnSpPr>
          <p:spPr>
            <a:xfrm>
              <a:off x="803160" y="6451920"/>
              <a:ext cx="10584720" cy="720"/>
            </a:xfrm>
            <a:prstGeom prst="straightConnector1">
              <a:avLst/>
            </a:prstGeom>
            <a:ln w="0">
              <a:solidFill>
                <a:srgbClr val="000000"/>
              </a:solidFill>
            </a:ln>
          </p:spPr>
        </p:cxnSp>
      </p:grpSp>
      <p:sp>
        <p:nvSpPr>
          <p:cNvPr id="6" name="PlaceHolder 1"/>
          <p:cNvSpPr>
            <a:spLocks noGrp="1"/>
          </p:cNvSpPr>
          <p:nvPr>
            <p:ph type="ftr" idx="1"/>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200" spc="-1" strike="noStrike">
                <a:solidFill>
                  <a:srgbClr val="787878"/>
                </a:solidFill>
                <a:latin typeface="Aptos"/>
              </a:defRPr>
            </a:lvl1pPr>
          </a:lstStyle>
          <a:p>
            <a:pPr indent="0" algn="ctr">
              <a:lnSpc>
                <a:spcPct val="100000"/>
              </a:lnSpc>
              <a:buNone/>
              <a:tabLst>
                <a:tab algn="l" pos="0"/>
              </a:tabLst>
            </a:pPr>
            <a:r>
              <a:rPr b="0" lang="en-US" sz="1200" spc="-1" strike="noStrike">
                <a:solidFill>
                  <a:srgbClr val="787878"/>
                </a:solidFill>
                <a:latin typeface="Aptos"/>
              </a:rPr>
              <a:t> </a:t>
            </a:r>
            <a:endParaRPr b="0" lang="en-US" sz="1200" spc="-1" strike="noStrike">
              <a:solidFill>
                <a:srgbClr val="000000"/>
              </a:solidFill>
              <a:latin typeface="Times New Roman"/>
            </a:endParaRPr>
          </a:p>
        </p:txBody>
      </p:sp>
      <p:sp>
        <p:nvSpPr>
          <p:cNvPr id="7" name="PlaceHolder 2"/>
          <p:cNvSpPr>
            <a:spLocks noGrp="1"/>
          </p:cNvSpPr>
          <p:nvPr>
            <p:ph type="sldNum" idx="2"/>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7E4D02B3-DACF-4CBE-9BFD-927F4B6CC2E1}" type="slidenum">
              <a:rPr b="0" lang="en-US" sz="1200" spc="-1" strike="noStrike">
                <a:solidFill>
                  <a:srgbClr val="787878"/>
                </a:solidFill>
                <a:latin typeface="Aptos"/>
              </a:rPr>
              <a:t>75</a:t>
            </a:fld>
            <a:endParaRPr b="0" lang="en-US" sz="1200" spc="-1" strike="noStrike">
              <a:solidFill>
                <a:srgbClr val="000000"/>
              </a:solidFill>
              <a:latin typeface="Times New Roman"/>
            </a:endParaRPr>
          </a:p>
        </p:txBody>
      </p:sp>
      <p:sp>
        <p:nvSpPr>
          <p:cNvPr id="8" name="PlaceHolder 3"/>
          <p:cNvSpPr>
            <a:spLocks noGrp="1"/>
          </p:cNvSpPr>
          <p:nvPr>
            <p:ph type="dt" idx="3"/>
          </p:nvPr>
        </p:nvSpPr>
        <p:spPr>
          <a:xfrm rot="5400000">
            <a:off x="10041840" y="4203360"/>
            <a:ext cx="349344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9"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0"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3"/>
        </a:solidFill>
      </p:bgPr>
    </p:bg>
    <p:spTree>
      <p:nvGrpSpPr>
        <p:cNvPr id="1" name=""/>
        <p:cNvGrpSpPr/>
        <p:nvPr/>
      </p:nvGrpSpPr>
      <p:grpSpPr>
        <a:xfrm>
          <a:off x="0" y="0"/>
          <a:ext cx="0" cy="0"/>
          <a:chOff x="0" y="0"/>
          <a:chExt cx="0" cy="0"/>
        </a:xfrm>
      </p:grpSpPr>
      <p:grpSp>
        <p:nvGrpSpPr>
          <p:cNvPr id="47" name="Group 2"/>
          <p:cNvGrpSpPr/>
          <p:nvPr/>
        </p:nvGrpSpPr>
        <p:grpSpPr>
          <a:xfrm>
            <a:off x="803160" y="0"/>
            <a:ext cx="10585800" cy="6858360"/>
            <a:chOff x="803160" y="0"/>
            <a:chExt cx="10585800" cy="6858360"/>
          </a:xfrm>
        </p:grpSpPr>
        <p:cxnSp>
          <p:nvCxnSpPr>
            <p:cNvPr id="48" name="Straight Connector 3"/>
            <p:cNvCxnSpPr/>
            <p:nvPr/>
          </p:nvCxnSpPr>
          <p:spPr>
            <a:xfrm>
              <a:off x="804600" y="0"/>
              <a:ext cx="720" cy="6858720"/>
            </a:xfrm>
            <a:prstGeom prst="straightConnector1">
              <a:avLst/>
            </a:prstGeom>
            <a:ln w="0">
              <a:solidFill>
                <a:srgbClr val="000000"/>
              </a:solidFill>
            </a:ln>
          </p:spPr>
        </p:cxnSp>
        <p:cxnSp>
          <p:nvCxnSpPr>
            <p:cNvPr id="49" name="Straight Connector 8"/>
            <p:cNvCxnSpPr/>
            <p:nvPr/>
          </p:nvCxnSpPr>
          <p:spPr>
            <a:xfrm>
              <a:off x="803160" y="393120"/>
              <a:ext cx="10584720" cy="720"/>
            </a:xfrm>
            <a:prstGeom prst="straightConnector1">
              <a:avLst/>
            </a:prstGeom>
            <a:ln w="0">
              <a:solidFill>
                <a:srgbClr val="000000"/>
              </a:solidFill>
            </a:ln>
          </p:spPr>
        </p:cxnSp>
        <p:cxnSp>
          <p:nvCxnSpPr>
            <p:cNvPr id="50" name="Straight Connector 9"/>
            <p:cNvCxnSpPr/>
            <p:nvPr/>
          </p:nvCxnSpPr>
          <p:spPr>
            <a:xfrm>
              <a:off x="11388600" y="0"/>
              <a:ext cx="720" cy="6858720"/>
            </a:xfrm>
            <a:prstGeom prst="straightConnector1">
              <a:avLst/>
            </a:prstGeom>
            <a:ln w="0">
              <a:solidFill>
                <a:srgbClr val="000000"/>
              </a:solidFill>
            </a:ln>
          </p:spPr>
        </p:cxnSp>
        <p:cxnSp>
          <p:nvCxnSpPr>
            <p:cNvPr id="51" name="Straight Connector 11"/>
            <p:cNvCxnSpPr/>
            <p:nvPr/>
          </p:nvCxnSpPr>
          <p:spPr>
            <a:xfrm>
              <a:off x="803160" y="6451920"/>
              <a:ext cx="10584720" cy="720"/>
            </a:xfrm>
            <a:prstGeom prst="straightConnector1">
              <a:avLst/>
            </a:prstGeom>
            <a:ln w="0">
              <a:solidFill>
                <a:srgbClr val="000000"/>
              </a:solidFill>
            </a:ln>
          </p:spPr>
        </p:cxnSp>
      </p:grpSp>
      <p:sp>
        <p:nvSpPr>
          <p:cNvPr id="52" name="PlaceHolder 1"/>
          <p:cNvSpPr>
            <a:spLocks noGrp="1"/>
          </p:cNvSpPr>
          <p:nvPr>
            <p:ph type="ftr" idx="4"/>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200" spc="-1" strike="noStrike">
                <a:solidFill>
                  <a:srgbClr val="787878"/>
                </a:solidFill>
                <a:latin typeface="Aptos"/>
              </a:defRPr>
            </a:lvl1pPr>
          </a:lstStyle>
          <a:p>
            <a:pPr indent="0" algn="ctr">
              <a:lnSpc>
                <a:spcPct val="100000"/>
              </a:lnSpc>
              <a:buNone/>
              <a:tabLst>
                <a:tab algn="l" pos="0"/>
              </a:tabLst>
            </a:pPr>
            <a:r>
              <a:rPr b="0" lang="en-US" sz="1200" spc="-1" strike="noStrike">
                <a:solidFill>
                  <a:srgbClr val="787878"/>
                </a:solidFill>
                <a:latin typeface="Aptos"/>
              </a:rPr>
              <a:t>&lt;footer&gt;</a:t>
            </a:r>
            <a:endParaRPr b="0" lang="en-US" sz="1200" spc="-1" strike="noStrike">
              <a:solidFill>
                <a:srgbClr val="000000"/>
              </a:solidFill>
              <a:latin typeface="Times New Roman"/>
            </a:endParaRPr>
          </a:p>
        </p:txBody>
      </p:sp>
      <p:sp>
        <p:nvSpPr>
          <p:cNvPr id="53" name="PlaceHolder 2"/>
          <p:cNvSpPr>
            <a:spLocks noGrp="1"/>
          </p:cNvSpPr>
          <p:nvPr>
            <p:ph type="sldNum" idx="5"/>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E91E6BA3-C72B-4250-8D37-4604612B70F2}" type="slidenum">
              <a:rPr b="0" lang="en-US" sz="1200" spc="-1" strike="noStrike">
                <a:solidFill>
                  <a:srgbClr val="787878"/>
                </a:solidFill>
                <a:latin typeface="Aptos"/>
              </a:rPr>
              <a:t>&lt;number&gt;</a:t>
            </a:fld>
            <a:endParaRPr b="0" lang="en-US" sz="1200" spc="-1" strike="noStrike">
              <a:solidFill>
                <a:srgbClr val="000000"/>
              </a:solidFill>
              <a:latin typeface="Times New Roman"/>
            </a:endParaRPr>
          </a:p>
        </p:txBody>
      </p:sp>
      <p:sp>
        <p:nvSpPr>
          <p:cNvPr id="54" name="PlaceHolder 3"/>
          <p:cNvSpPr>
            <a:spLocks noGrp="1"/>
          </p:cNvSpPr>
          <p:nvPr>
            <p:ph type="dt" idx="6"/>
          </p:nvPr>
        </p:nvSpPr>
        <p:spPr>
          <a:xfrm>
            <a:off x="838080" y="6356520"/>
            <a:ext cx="274248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93" name="Group 14"/>
          <p:cNvGrpSpPr/>
          <p:nvPr/>
        </p:nvGrpSpPr>
        <p:grpSpPr>
          <a:xfrm>
            <a:off x="801360" y="402480"/>
            <a:ext cx="10591920" cy="6052680"/>
            <a:chOff x="801360" y="402480"/>
            <a:chExt cx="10591920" cy="6052680"/>
          </a:xfrm>
        </p:grpSpPr>
        <p:sp>
          <p:nvSpPr>
            <p:cNvPr id="94" name="Oval 7"/>
            <p:cNvSpPr/>
            <p:nvPr/>
          </p:nvSpPr>
          <p:spPr>
            <a:xfrm>
              <a:off x="3069360" y="402480"/>
              <a:ext cx="6052680" cy="6052680"/>
            </a:xfrm>
            <a:prstGeom prst="ellipse">
              <a:avLst/>
            </a:prstGeom>
            <a:noFill/>
            <a:ln w="6350">
              <a:solidFill>
                <a:srgbClr val="000000"/>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a typeface="DejaVu Sans"/>
              </a:endParaRPr>
            </a:p>
          </p:txBody>
        </p:sp>
        <p:cxnSp>
          <p:nvCxnSpPr>
            <p:cNvPr id="95" name="Straight Connector 9"/>
            <p:cNvCxnSpPr/>
            <p:nvPr/>
          </p:nvCxnSpPr>
          <p:spPr>
            <a:xfrm>
              <a:off x="801360" y="3421440"/>
              <a:ext cx="2271240" cy="720"/>
            </a:xfrm>
            <a:prstGeom prst="straightConnector1">
              <a:avLst/>
            </a:prstGeom>
            <a:ln w="0">
              <a:solidFill>
                <a:srgbClr val="000000"/>
              </a:solidFill>
            </a:ln>
          </p:spPr>
        </p:cxnSp>
        <p:cxnSp>
          <p:nvCxnSpPr>
            <p:cNvPr id="96" name="Straight Connector 10"/>
            <p:cNvCxnSpPr/>
            <p:nvPr/>
          </p:nvCxnSpPr>
          <p:spPr>
            <a:xfrm>
              <a:off x="9122400" y="3421440"/>
              <a:ext cx="2271240" cy="720"/>
            </a:xfrm>
            <a:prstGeom prst="straightConnector1">
              <a:avLst/>
            </a:prstGeom>
            <a:ln w="0">
              <a:solidFill>
                <a:srgbClr val="000000"/>
              </a:solidFill>
            </a:ln>
          </p:spPr>
        </p:cxnSp>
      </p:grpSp>
      <p:grpSp>
        <p:nvGrpSpPr>
          <p:cNvPr id="97" name="Group 2"/>
          <p:cNvGrpSpPr/>
          <p:nvPr/>
        </p:nvGrpSpPr>
        <p:grpSpPr>
          <a:xfrm>
            <a:off x="803160" y="0"/>
            <a:ext cx="10585800" cy="6858360"/>
            <a:chOff x="803160" y="0"/>
            <a:chExt cx="10585800" cy="6858360"/>
          </a:xfrm>
        </p:grpSpPr>
        <p:cxnSp>
          <p:nvCxnSpPr>
            <p:cNvPr id="98" name="Straight Connector 3"/>
            <p:cNvCxnSpPr/>
            <p:nvPr/>
          </p:nvCxnSpPr>
          <p:spPr>
            <a:xfrm>
              <a:off x="804600" y="0"/>
              <a:ext cx="720" cy="6858720"/>
            </a:xfrm>
            <a:prstGeom prst="straightConnector1">
              <a:avLst/>
            </a:prstGeom>
            <a:ln w="0">
              <a:solidFill>
                <a:srgbClr val="000000"/>
              </a:solidFill>
            </a:ln>
          </p:spPr>
        </p:cxnSp>
        <p:cxnSp>
          <p:nvCxnSpPr>
            <p:cNvPr id="99" name="Straight Connector 4"/>
            <p:cNvCxnSpPr/>
            <p:nvPr/>
          </p:nvCxnSpPr>
          <p:spPr>
            <a:xfrm>
              <a:off x="803160" y="393120"/>
              <a:ext cx="10584720" cy="720"/>
            </a:xfrm>
            <a:prstGeom prst="straightConnector1">
              <a:avLst/>
            </a:prstGeom>
            <a:ln w="0">
              <a:solidFill>
                <a:srgbClr val="000000"/>
              </a:solidFill>
            </a:ln>
          </p:spPr>
        </p:cxnSp>
        <p:cxnSp>
          <p:nvCxnSpPr>
            <p:cNvPr id="100" name="Straight Connector 5"/>
            <p:cNvCxnSpPr/>
            <p:nvPr/>
          </p:nvCxnSpPr>
          <p:spPr>
            <a:xfrm>
              <a:off x="11388600" y="0"/>
              <a:ext cx="720" cy="6858720"/>
            </a:xfrm>
            <a:prstGeom prst="straightConnector1">
              <a:avLst/>
            </a:prstGeom>
            <a:ln w="0">
              <a:solidFill>
                <a:srgbClr val="000000"/>
              </a:solidFill>
            </a:ln>
          </p:spPr>
        </p:cxnSp>
        <p:cxnSp>
          <p:nvCxnSpPr>
            <p:cNvPr id="101" name="Straight Connector 6"/>
            <p:cNvCxnSpPr/>
            <p:nvPr/>
          </p:nvCxnSpPr>
          <p:spPr>
            <a:xfrm>
              <a:off x="803160" y="6451920"/>
              <a:ext cx="10584720" cy="720"/>
            </a:xfrm>
            <a:prstGeom prst="straightConnector1">
              <a:avLst/>
            </a:prstGeom>
            <a:ln w="0">
              <a:solidFill>
                <a:srgbClr val="000000"/>
              </a:solidFill>
            </a:ln>
          </p:spPr>
        </p:cxnSp>
      </p:grpSp>
      <p:sp>
        <p:nvSpPr>
          <p:cNvPr id="102" name="PlaceHolder 1"/>
          <p:cNvSpPr>
            <a:spLocks noGrp="1"/>
          </p:cNvSpPr>
          <p:nvPr>
            <p:ph type="ftr" idx="7"/>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200" spc="-1" strike="noStrike">
                <a:solidFill>
                  <a:srgbClr val="787878"/>
                </a:solidFill>
                <a:latin typeface="Aptos"/>
              </a:defRPr>
            </a:lvl1pPr>
          </a:lstStyle>
          <a:p>
            <a:pPr indent="0" algn="ctr">
              <a:lnSpc>
                <a:spcPct val="100000"/>
              </a:lnSpc>
              <a:buNone/>
              <a:tabLst>
                <a:tab algn="l" pos="0"/>
              </a:tabLst>
            </a:pPr>
            <a:r>
              <a:rPr b="0" lang="en-US" sz="1200" spc="-1" strike="noStrike">
                <a:solidFill>
                  <a:srgbClr val="787878"/>
                </a:solidFill>
                <a:latin typeface="Aptos"/>
              </a:rPr>
              <a:t>&lt;footer&gt;</a:t>
            </a:r>
            <a:endParaRPr b="0" lang="en-US" sz="1200" spc="-1" strike="noStrike">
              <a:solidFill>
                <a:srgbClr val="000000"/>
              </a:solidFill>
              <a:latin typeface="Times New Roman"/>
            </a:endParaRPr>
          </a:p>
        </p:txBody>
      </p:sp>
      <p:sp>
        <p:nvSpPr>
          <p:cNvPr id="103" name="PlaceHolder 2"/>
          <p:cNvSpPr>
            <a:spLocks noGrp="1"/>
          </p:cNvSpPr>
          <p:nvPr>
            <p:ph type="sldNum" idx="8"/>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D243D4F2-EA82-4DD2-89A9-79B3E42EB4F5}" type="slidenum">
              <a:rPr b="0" lang="en-US" sz="1200" spc="-1" strike="noStrike">
                <a:solidFill>
                  <a:srgbClr val="787878"/>
                </a:solidFill>
                <a:latin typeface="Aptos"/>
              </a:rPr>
              <a:t>&lt;number&gt;</a:t>
            </a:fld>
            <a:endParaRPr b="0" lang="en-US" sz="1200" spc="-1" strike="noStrike">
              <a:solidFill>
                <a:srgbClr val="000000"/>
              </a:solidFill>
              <a:latin typeface="Times New Roman"/>
            </a:endParaRPr>
          </a:p>
        </p:txBody>
      </p:sp>
      <p:sp>
        <p:nvSpPr>
          <p:cNvPr id="104" name="PlaceHolder 3"/>
          <p:cNvSpPr>
            <a:spLocks noGrp="1"/>
          </p:cNvSpPr>
          <p:nvPr>
            <p:ph type="dt" idx="9"/>
          </p:nvPr>
        </p:nvSpPr>
        <p:spPr>
          <a:xfrm>
            <a:off x="838080" y="6356520"/>
            <a:ext cx="274248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0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3" name="PlaceHolder 1"/>
          <p:cNvSpPr>
            <a:spLocks noGrp="1"/>
          </p:cNvSpPr>
          <p:nvPr>
            <p:ph type="ftr" idx="10"/>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4" name="PlaceHolder 2"/>
          <p:cNvSpPr>
            <a:spLocks noGrp="1"/>
          </p:cNvSpPr>
          <p:nvPr>
            <p:ph type="sldNum" idx="11"/>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97C57725-352B-402F-9505-F9D969939BA8}" type="slidenum">
              <a:rPr b="0" lang="en-US" sz="1200" spc="-1" strike="noStrike">
                <a:solidFill>
                  <a:srgbClr val="787878"/>
                </a:solidFill>
                <a:latin typeface="Aptos"/>
              </a:rPr>
              <a:t>&lt;number&gt;</a:t>
            </a:fld>
            <a:endParaRPr b="0" lang="en-US" sz="1200" spc="-1" strike="noStrike">
              <a:solidFill>
                <a:srgbClr val="000000"/>
              </a:solidFill>
              <a:latin typeface="Times New Roman"/>
            </a:endParaRPr>
          </a:p>
        </p:txBody>
      </p:sp>
      <p:sp>
        <p:nvSpPr>
          <p:cNvPr id="145" name="PlaceHolder 3"/>
          <p:cNvSpPr>
            <a:spLocks noGrp="1"/>
          </p:cNvSpPr>
          <p:nvPr>
            <p:ph type="dt" idx="12"/>
          </p:nvPr>
        </p:nvSpPr>
        <p:spPr>
          <a:xfrm>
            <a:off x="838080" y="6356520"/>
            <a:ext cx="274248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46"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4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3"/>
        </a:solidFill>
      </p:bgPr>
    </p:bg>
    <p:spTree>
      <p:nvGrpSpPr>
        <p:cNvPr id="1" name=""/>
        <p:cNvGrpSpPr/>
        <p:nvPr/>
      </p:nvGrpSpPr>
      <p:grpSpPr>
        <a:xfrm>
          <a:off x="0" y="0"/>
          <a:ext cx="0" cy="0"/>
          <a:chOff x="0" y="0"/>
          <a:chExt cx="0" cy="0"/>
        </a:xfrm>
      </p:grpSpPr>
      <p:cxnSp>
        <p:nvCxnSpPr>
          <p:cNvPr id="184" name="Straight Connector 16"/>
          <p:cNvCxnSpPr/>
          <p:nvPr/>
        </p:nvCxnSpPr>
        <p:spPr>
          <a:xfrm>
            <a:off x="9250560" y="402120"/>
            <a:ext cx="720" cy="6054120"/>
          </a:xfrm>
          <a:prstGeom prst="straightConnector1">
            <a:avLst/>
          </a:prstGeom>
          <a:ln w="0">
            <a:solidFill>
              <a:srgbClr val="000000"/>
            </a:solidFill>
          </a:ln>
        </p:spPr>
      </p:cxnSp>
      <p:grpSp>
        <p:nvGrpSpPr>
          <p:cNvPr id="185" name="Group 5"/>
          <p:cNvGrpSpPr/>
          <p:nvPr/>
        </p:nvGrpSpPr>
        <p:grpSpPr>
          <a:xfrm>
            <a:off x="803160" y="0"/>
            <a:ext cx="10585800" cy="6858360"/>
            <a:chOff x="803160" y="0"/>
            <a:chExt cx="10585800" cy="6858360"/>
          </a:xfrm>
        </p:grpSpPr>
        <p:cxnSp>
          <p:nvCxnSpPr>
            <p:cNvPr id="186" name="Straight Connector 6"/>
            <p:cNvCxnSpPr/>
            <p:nvPr/>
          </p:nvCxnSpPr>
          <p:spPr>
            <a:xfrm>
              <a:off x="804600" y="0"/>
              <a:ext cx="720" cy="6858720"/>
            </a:xfrm>
            <a:prstGeom prst="straightConnector1">
              <a:avLst/>
            </a:prstGeom>
            <a:ln w="0">
              <a:solidFill>
                <a:srgbClr val="000000"/>
              </a:solidFill>
            </a:ln>
          </p:spPr>
        </p:cxnSp>
        <p:cxnSp>
          <p:nvCxnSpPr>
            <p:cNvPr id="187" name="Straight Connector 8"/>
            <p:cNvCxnSpPr/>
            <p:nvPr/>
          </p:nvCxnSpPr>
          <p:spPr>
            <a:xfrm>
              <a:off x="803160" y="393120"/>
              <a:ext cx="10584720" cy="720"/>
            </a:xfrm>
            <a:prstGeom prst="straightConnector1">
              <a:avLst/>
            </a:prstGeom>
            <a:ln w="0">
              <a:solidFill>
                <a:srgbClr val="000000"/>
              </a:solidFill>
            </a:ln>
          </p:spPr>
        </p:cxnSp>
        <p:cxnSp>
          <p:nvCxnSpPr>
            <p:cNvPr id="188" name="Straight Connector 9"/>
            <p:cNvCxnSpPr/>
            <p:nvPr/>
          </p:nvCxnSpPr>
          <p:spPr>
            <a:xfrm>
              <a:off x="11388600" y="0"/>
              <a:ext cx="720" cy="6858720"/>
            </a:xfrm>
            <a:prstGeom prst="straightConnector1">
              <a:avLst/>
            </a:prstGeom>
            <a:ln w="0">
              <a:solidFill>
                <a:srgbClr val="000000"/>
              </a:solidFill>
            </a:ln>
          </p:spPr>
        </p:cxnSp>
        <p:cxnSp>
          <p:nvCxnSpPr>
            <p:cNvPr id="189" name="Straight Connector 11"/>
            <p:cNvCxnSpPr/>
            <p:nvPr/>
          </p:nvCxnSpPr>
          <p:spPr>
            <a:xfrm>
              <a:off x="803160" y="6451920"/>
              <a:ext cx="10584720" cy="720"/>
            </a:xfrm>
            <a:prstGeom prst="straightConnector1">
              <a:avLst/>
            </a:prstGeom>
            <a:ln w="0">
              <a:solidFill>
                <a:srgbClr val="000000"/>
              </a:solidFill>
            </a:ln>
          </p:spPr>
        </p:cxnSp>
      </p:grpSp>
      <p:sp>
        <p:nvSpPr>
          <p:cNvPr id="190" name="PlaceHolder 1"/>
          <p:cNvSpPr>
            <a:spLocks noGrp="1"/>
          </p:cNvSpPr>
          <p:nvPr>
            <p:ph type="ftr" idx="13"/>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200" spc="-1" strike="noStrike">
                <a:solidFill>
                  <a:srgbClr val="787878"/>
                </a:solidFill>
                <a:latin typeface="Aptos"/>
              </a:defRPr>
            </a:lvl1pPr>
          </a:lstStyle>
          <a:p>
            <a:pPr indent="0" algn="ctr">
              <a:lnSpc>
                <a:spcPct val="100000"/>
              </a:lnSpc>
              <a:buNone/>
              <a:tabLst>
                <a:tab algn="l" pos="0"/>
              </a:tabLst>
            </a:pPr>
            <a:r>
              <a:rPr b="0" lang="en-US" sz="1200" spc="-1" strike="noStrike">
                <a:solidFill>
                  <a:srgbClr val="787878"/>
                </a:solidFill>
                <a:latin typeface="Aptos"/>
              </a:rPr>
              <a:t>&lt;footer&gt;</a:t>
            </a:r>
            <a:endParaRPr b="0" lang="en-US" sz="1200" spc="-1" strike="noStrike">
              <a:solidFill>
                <a:srgbClr val="000000"/>
              </a:solidFill>
              <a:latin typeface="Times New Roman"/>
            </a:endParaRPr>
          </a:p>
        </p:txBody>
      </p:sp>
      <p:sp>
        <p:nvSpPr>
          <p:cNvPr id="191" name="PlaceHolder 2"/>
          <p:cNvSpPr>
            <a:spLocks noGrp="1"/>
          </p:cNvSpPr>
          <p:nvPr>
            <p:ph type="sldNum" idx="14"/>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326349B2-6773-4ED8-8C1A-5E5F9A6E3D6D}" type="slidenum">
              <a:rPr b="0" lang="en-US" sz="1200" spc="-1" strike="noStrike">
                <a:solidFill>
                  <a:srgbClr val="787878"/>
                </a:solidFill>
                <a:latin typeface="Aptos"/>
              </a:rPr>
              <a:t>&lt;number&gt;</a:t>
            </a:fld>
            <a:endParaRPr b="0" lang="en-US" sz="1200" spc="-1" strike="noStrike">
              <a:solidFill>
                <a:srgbClr val="000000"/>
              </a:solidFill>
              <a:latin typeface="Times New Roman"/>
            </a:endParaRPr>
          </a:p>
        </p:txBody>
      </p:sp>
      <p:sp>
        <p:nvSpPr>
          <p:cNvPr id="192" name="PlaceHolder 3"/>
          <p:cNvSpPr>
            <a:spLocks noGrp="1"/>
          </p:cNvSpPr>
          <p:nvPr>
            <p:ph type="dt" idx="15"/>
          </p:nvPr>
        </p:nvSpPr>
        <p:spPr>
          <a:xfrm>
            <a:off x="838080" y="6356520"/>
            <a:ext cx="274248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9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9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1" name="PlaceHolder 1"/>
          <p:cNvSpPr>
            <a:spLocks noGrp="1"/>
          </p:cNvSpPr>
          <p:nvPr>
            <p:ph type="title"/>
          </p:nvPr>
        </p:nvSpPr>
        <p:spPr>
          <a:xfrm>
            <a:off x="1210320" y="790200"/>
            <a:ext cx="3291120" cy="14990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2" name="PlaceHolder 2"/>
          <p:cNvSpPr>
            <a:spLocks noGrp="1"/>
          </p:cNvSpPr>
          <p:nvPr>
            <p:ph type="body"/>
          </p:nvPr>
        </p:nvSpPr>
        <p:spPr>
          <a:xfrm>
            <a:off x="1207080" y="2468880"/>
            <a:ext cx="1605600" cy="3547080"/>
          </a:xfrm>
          <a:prstGeom prst="rect">
            <a:avLst/>
          </a:prstGeom>
          <a:noFill/>
          <a:ln w="0">
            <a:noFill/>
          </a:ln>
        </p:spPr>
        <p:txBody>
          <a:bodyPr lIns="0" rIns="0" tIns="0" bIns="0" anchor="t">
            <a:normAutofit fontScale="37000"/>
          </a:bodyPr>
          <a:p>
            <a:pPr marL="159840" indent="-11988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319680" indent="-11988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479520" indent="-10656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639360" indent="-7992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799200" indent="-7992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959040" indent="-7992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1118880" indent="-7992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3" name="PlaceHolder 3"/>
          <p:cNvSpPr>
            <a:spLocks noGrp="1"/>
          </p:cNvSpPr>
          <p:nvPr>
            <p:ph type="body"/>
          </p:nvPr>
        </p:nvSpPr>
        <p:spPr>
          <a:xfrm>
            <a:off x="2893680" y="2468880"/>
            <a:ext cx="1605600" cy="3547080"/>
          </a:xfrm>
          <a:prstGeom prst="rect">
            <a:avLst/>
          </a:prstGeom>
          <a:noFill/>
          <a:ln w="0">
            <a:noFill/>
          </a:ln>
        </p:spPr>
        <p:txBody>
          <a:bodyPr lIns="0" rIns="0" tIns="0" bIns="0" anchor="t">
            <a:normAutofit fontScale="37000"/>
          </a:bodyPr>
          <a:p>
            <a:pPr marL="159840" indent="-11988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319680" indent="-11988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479520" indent="-10656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639360" indent="-7992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799200" indent="-7992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959040" indent="-7992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1118880" indent="-7992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4" name="PlaceHolder 4"/>
          <p:cNvSpPr>
            <a:spLocks noGrp="1"/>
          </p:cNvSpPr>
          <p:nvPr>
            <p:ph type="ftr" idx="16"/>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5" name="PlaceHolder 5"/>
          <p:cNvSpPr>
            <a:spLocks noGrp="1"/>
          </p:cNvSpPr>
          <p:nvPr>
            <p:ph type="sldNum" idx="17"/>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46C08EDA-E8FB-4F89-B448-7271A6D6A5A3}" type="slidenum">
              <a:rPr b="0" lang="en-US" sz="1200" spc="-1" strike="noStrike">
                <a:solidFill>
                  <a:srgbClr val="787878"/>
                </a:solidFill>
                <a:latin typeface="Aptos"/>
              </a:rPr>
              <a:t>&lt;number&gt;</a:t>
            </a:fld>
            <a:endParaRPr b="0" lang="en-US" sz="1200" spc="-1" strike="noStrike">
              <a:solidFill>
                <a:srgbClr val="000000"/>
              </a:solidFill>
              <a:latin typeface="Times New Roman"/>
            </a:endParaRPr>
          </a:p>
        </p:txBody>
      </p:sp>
      <p:sp>
        <p:nvSpPr>
          <p:cNvPr id="236" name="PlaceHolder 6"/>
          <p:cNvSpPr>
            <a:spLocks noGrp="1"/>
          </p:cNvSpPr>
          <p:nvPr>
            <p:ph type="dt" idx="18"/>
          </p:nvPr>
        </p:nvSpPr>
        <p:spPr>
          <a:xfrm>
            <a:off x="838080" y="6356520"/>
            <a:ext cx="274248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3" name="PlaceHolder 1"/>
          <p:cNvSpPr>
            <a:spLocks noGrp="1"/>
          </p:cNvSpPr>
          <p:nvPr>
            <p:ph type="ftr" idx="19"/>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4" name="PlaceHolder 2"/>
          <p:cNvSpPr>
            <a:spLocks noGrp="1"/>
          </p:cNvSpPr>
          <p:nvPr>
            <p:ph type="sldNum" idx="20"/>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49656700-98B5-4820-8313-C5EDF3EDE3A4}" type="slidenum">
              <a:rPr b="0" lang="en-US" sz="1200" spc="-1" strike="noStrike">
                <a:solidFill>
                  <a:srgbClr val="787878"/>
                </a:solidFill>
                <a:latin typeface="Aptos"/>
              </a:rPr>
              <a:t>&lt;number&gt;</a:t>
            </a:fld>
            <a:endParaRPr b="0" lang="en-US" sz="1200" spc="-1" strike="noStrike">
              <a:solidFill>
                <a:srgbClr val="000000"/>
              </a:solidFill>
              <a:latin typeface="Times New Roman"/>
            </a:endParaRPr>
          </a:p>
        </p:txBody>
      </p:sp>
      <p:sp>
        <p:nvSpPr>
          <p:cNvPr id="275" name="PlaceHolder 3"/>
          <p:cNvSpPr>
            <a:spLocks noGrp="1"/>
          </p:cNvSpPr>
          <p:nvPr>
            <p:ph type="dt" idx="21"/>
          </p:nvPr>
        </p:nvSpPr>
        <p:spPr>
          <a:xfrm>
            <a:off x="838080" y="6356520"/>
            <a:ext cx="274248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76"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14" name="Group 8"/>
          <p:cNvGrpSpPr/>
          <p:nvPr/>
        </p:nvGrpSpPr>
        <p:grpSpPr>
          <a:xfrm>
            <a:off x="3357360" y="399960"/>
            <a:ext cx="5476680" cy="6053760"/>
            <a:chOff x="3357360" y="399960"/>
            <a:chExt cx="5476680" cy="6053760"/>
          </a:xfrm>
        </p:grpSpPr>
        <p:sp>
          <p:nvSpPr>
            <p:cNvPr id="315" name="Oval 7"/>
            <p:cNvSpPr/>
            <p:nvPr/>
          </p:nvSpPr>
          <p:spPr>
            <a:xfrm>
              <a:off x="3357360" y="690480"/>
              <a:ext cx="5476680" cy="5476680"/>
            </a:xfrm>
            <a:prstGeom prst="ellipse">
              <a:avLst/>
            </a:prstGeom>
            <a:noFill/>
            <a:ln w="6350">
              <a:solidFill>
                <a:srgbClr val="000000"/>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a typeface="DejaVu Sans"/>
              </a:endParaRPr>
            </a:p>
          </p:txBody>
        </p:sp>
        <p:cxnSp>
          <p:nvCxnSpPr>
            <p:cNvPr id="316" name="Straight Connector 5"/>
            <p:cNvCxnSpPr/>
            <p:nvPr/>
          </p:nvCxnSpPr>
          <p:spPr>
            <a:xfrm>
              <a:off x="6095880" y="399960"/>
              <a:ext cx="720" cy="290880"/>
            </a:xfrm>
            <a:prstGeom prst="straightConnector1">
              <a:avLst/>
            </a:prstGeom>
            <a:ln w="0">
              <a:solidFill>
                <a:srgbClr val="000000"/>
              </a:solidFill>
            </a:ln>
          </p:spPr>
        </p:cxnSp>
        <p:cxnSp>
          <p:nvCxnSpPr>
            <p:cNvPr id="317" name="Straight Connector 6"/>
            <p:cNvCxnSpPr/>
            <p:nvPr/>
          </p:nvCxnSpPr>
          <p:spPr>
            <a:xfrm>
              <a:off x="6095880" y="6163200"/>
              <a:ext cx="720" cy="290880"/>
            </a:xfrm>
            <a:prstGeom prst="straightConnector1">
              <a:avLst/>
            </a:prstGeom>
            <a:ln w="0">
              <a:solidFill>
                <a:srgbClr val="000000"/>
              </a:solidFill>
            </a:ln>
          </p:spPr>
        </p:cxnSp>
      </p:grpSp>
      <p:grpSp>
        <p:nvGrpSpPr>
          <p:cNvPr id="318" name="Group 2"/>
          <p:cNvGrpSpPr/>
          <p:nvPr/>
        </p:nvGrpSpPr>
        <p:grpSpPr>
          <a:xfrm>
            <a:off x="803160" y="0"/>
            <a:ext cx="10585800" cy="6858360"/>
            <a:chOff x="803160" y="0"/>
            <a:chExt cx="10585800" cy="6858360"/>
          </a:xfrm>
        </p:grpSpPr>
        <p:cxnSp>
          <p:nvCxnSpPr>
            <p:cNvPr id="319" name="Straight Connector 3"/>
            <p:cNvCxnSpPr/>
            <p:nvPr/>
          </p:nvCxnSpPr>
          <p:spPr>
            <a:xfrm>
              <a:off x="804600" y="0"/>
              <a:ext cx="720" cy="6858720"/>
            </a:xfrm>
            <a:prstGeom prst="straightConnector1">
              <a:avLst/>
            </a:prstGeom>
            <a:ln w="0">
              <a:solidFill>
                <a:srgbClr val="000000"/>
              </a:solidFill>
            </a:ln>
          </p:spPr>
        </p:cxnSp>
        <p:cxnSp>
          <p:nvCxnSpPr>
            <p:cNvPr id="320" name="Straight Connector 4"/>
            <p:cNvCxnSpPr/>
            <p:nvPr/>
          </p:nvCxnSpPr>
          <p:spPr>
            <a:xfrm>
              <a:off x="803160" y="393120"/>
              <a:ext cx="10584720" cy="720"/>
            </a:xfrm>
            <a:prstGeom prst="straightConnector1">
              <a:avLst/>
            </a:prstGeom>
            <a:ln w="0">
              <a:solidFill>
                <a:srgbClr val="000000"/>
              </a:solidFill>
            </a:ln>
          </p:spPr>
        </p:cxnSp>
        <p:cxnSp>
          <p:nvCxnSpPr>
            <p:cNvPr id="321" name="Straight Connector 9"/>
            <p:cNvCxnSpPr/>
            <p:nvPr/>
          </p:nvCxnSpPr>
          <p:spPr>
            <a:xfrm>
              <a:off x="11388600" y="0"/>
              <a:ext cx="720" cy="6858720"/>
            </a:xfrm>
            <a:prstGeom prst="straightConnector1">
              <a:avLst/>
            </a:prstGeom>
            <a:ln w="0">
              <a:solidFill>
                <a:srgbClr val="000000"/>
              </a:solidFill>
            </a:ln>
          </p:spPr>
        </p:cxnSp>
        <p:cxnSp>
          <p:nvCxnSpPr>
            <p:cNvPr id="322" name="Straight Connector 10"/>
            <p:cNvCxnSpPr/>
            <p:nvPr/>
          </p:nvCxnSpPr>
          <p:spPr>
            <a:xfrm>
              <a:off x="803160" y="6451920"/>
              <a:ext cx="10584720" cy="720"/>
            </a:xfrm>
            <a:prstGeom prst="straightConnector1">
              <a:avLst/>
            </a:prstGeom>
            <a:ln w="0">
              <a:solidFill>
                <a:srgbClr val="000000"/>
              </a:solidFill>
            </a:ln>
          </p:spPr>
        </p:cxnSp>
      </p:grpSp>
      <p:sp>
        <p:nvSpPr>
          <p:cNvPr id="323" name="PlaceHolder 1"/>
          <p:cNvSpPr>
            <a:spLocks noGrp="1"/>
          </p:cNvSpPr>
          <p:nvPr>
            <p:ph type="ftr" idx="22"/>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200" spc="-1" strike="noStrike">
                <a:solidFill>
                  <a:srgbClr val="787878"/>
                </a:solidFill>
                <a:latin typeface="Aptos"/>
              </a:defRPr>
            </a:lvl1pPr>
          </a:lstStyle>
          <a:p>
            <a:pPr indent="0" algn="ctr">
              <a:lnSpc>
                <a:spcPct val="100000"/>
              </a:lnSpc>
              <a:buNone/>
              <a:tabLst>
                <a:tab algn="l" pos="0"/>
              </a:tabLst>
            </a:pPr>
            <a:r>
              <a:rPr b="0" lang="en-US" sz="1200" spc="-1" strike="noStrike">
                <a:solidFill>
                  <a:srgbClr val="787878"/>
                </a:solidFill>
                <a:latin typeface="Aptos"/>
              </a:rPr>
              <a:t>&lt;footer&gt;</a:t>
            </a:r>
            <a:endParaRPr b="0" lang="en-US" sz="1200" spc="-1" strike="noStrike">
              <a:solidFill>
                <a:srgbClr val="000000"/>
              </a:solidFill>
              <a:latin typeface="Times New Roman"/>
            </a:endParaRPr>
          </a:p>
        </p:txBody>
      </p:sp>
      <p:sp>
        <p:nvSpPr>
          <p:cNvPr id="324" name="PlaceHolder 2"/>
          <p:cNvSpPr>
            <a:spLocks noGrp="1"/>
          </p:cNvSpPr>
          <p:nvPr>
            <p:ph type="sldNum" idx="23"/>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196D530D-A6BC-4983-997F-E70DB58BD241}" type="slidenum">
              <a:rPr b="0" lang="en-US" sz="1200" spc="-1" strike="noStrike">
                <a:solidFill>
                  <a:srgbClr val="787878"/>
                </a:solidFill>
                <a:latin typeface="Aptos"/>
              </a:rPr>
              <a:t>&lt;number&gt;</a:t>
            </a:fld>
            <a:endParaRPr b="0" lang="en-US" sz="1200" spc="-1" strike="noStrike">
              <a:solidFill>
                <a:srgbClr val="000000"/>
              </a:solidFill>
              <a:latin typeface="Times New Roman"/>
            </a:endParaRPr>
          </a:p>
        </p:txBody>
      </p:sp>
      <p:sp>
        <p:nvSpPr>
          <p:cNvPr id="325" name="PlaceHolder 3"/>
          <p:cNvSpPr>
            <a:spLocks noGrp="1"/>
          </p:cNvSpPr>
          <p:nvPr>
            <p:ph type="dt" idx="24"/>
          </p:nvPr>
        </p:nvSpPr>
        <p:spPr>
          <a:xfrm>
            <a:off x="838080" y="6356520"/>
            <a:ext cx="274248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26"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2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3"/>
        </a:solidFill>
      </p:bgPr>
    </p:bg>
    <p:spTree>
      <p:nvGrpSpPr>
        <p:cNvPr id="1" name=""/>
        <p:cNvGrpSpPr/>
        <p:nvPr/>
      </p:nvGrpSpPr>
      <p:grpSpPr>
        <a:xfrm>
          <a:off x="0" y="0"/>
          <a:ext cx="0" cy="0"/>
          <a:chOff x="0" y="0"/>
          <a:chExt cx="0" cy="0"/>
        </a:xfrm>
      </p:grpSpPr>
      <p:grpSp>
        <p:nvGrpSpPr>
          <p:cNvPr id="364" name="Group 12"/>
          <p:cNvGrpSpPr/>
          <p:nvPr/>
        </p:nvGrpSpPr>
        <p:grpSpPr>
          <a:xfrm>
            <a:off x="803160" y="0"/>
            <a:ext cx="10585800" cy="6858360"/>
            <a:chOff x="803160" y="0"/>
            <a:chExt cx="10585800" cy="6858360"/>
          </a:xfrm>
        </p:grpSpPr>
        <p:cxnSp>
          <p:nvCxnSpPr>
            <p:cNvPr id="365" name="Straight Connector 13"/>
            <p:cNvCxnSpPr/>
            <p:nvPr/>
          </p:nvCxnSpPr>
          <p:spPr>
            <a:xfrm>
              <a:off x="804600" y="0"/>
              <a:ext cx="720" cy="6858720"/>
            </a:xfrm>
            <a:prstGeom prst="straightConnector1">
              <a:avLst/>
            </a:prstGeom>
            <a:ln w="0">
              <a:solidFill>
                <a:srgbClr val="000000"/>
              </a:solidFill>
            </a:ln>
          </p:spPr>
        </p:cxnSp>
        <p:cxnSp>
          <p:nvCxnSpPr>
            <p:cNvPr id="366" name="Straight Connector 14"/>
            <p:cNvCxnSpPr/>
            <p:nvPr/>
          </p:nvCxnSpPr>
          <p:spPr>
            <a:xfrm>
              <a:off x="803160" y="393120"/>
              <a:ext cx="10584720" cy="720"/>
            </a:xfrm>
            <a:prstGeom prst="straightConnector1">
              <a:avLst/>
            </a:prstGeom>
            <a:ln w="0">
              <a:solidFill>
                <a:srgbClr val="000000"/>
              </a:solidFill>
            </a:ln>
          </p:spPr>
        </p:cxnSp>
        <p:cxnSp>
          <p:nvCxnSpPr>
            <p:cNvPr id="367" name="Straight Connector 15"/>
            <p:cNvCxnSpPr/>
            <p:nvPr/>
          </p:nvCxnSpPr>
          <p:spPr>
            <a:xfrm>
              <a:off x="11388600" y="0"/>
              <a:ext cx="720" cy="6858720"/>
            </a:xfrm>
            <a:prstGeom prst="straightConnector1">
              <a:avLst/>
            </a:prstGeom>
            <a:ln w="0">
              <a:solidFill>
                <a:srgbClr val="000000"/>
              </a:solidFill>
            </a:ln>
          </p:spPr>
        </p:cxnSp>
        <p:cxnSp>
          <p:nvCxnSpPr>
            <p:cNvPr id="368" name="Straight Connector 16"/>
            <p:cNvCxnSpPr/>
            <p:nvPr/>
          </p:nvCxnSpPr>
          <p:spPr>
            <a:xfrm>
              <a:off x="803160" y="6451920"/>
              <a:ext cx="10584720" cy="720"/>
            </a:xfrm>
            <a:prstGeom prst="straightConnector1">
              <a:avLst/>
            </a:prstGeom>
            <a:ln w="0">
              <a:solidFill>
                <a:srgbClr val="000000"/>
              </a:solidFill>
            </a:ln>
          </p:spPr>
        </p:cxnSp>
      </p:grpSp>
      <p:sp>
        <p:nvSpPr>
          <p:cNvPr id="369" name="PlaceHolder 1"/>
          <p:cNvSpPr>
            <a:spLocks noGrp="1"/>
          </p:cNvSpPr>
          <p:nvPr>
            <p:ph type="ftr" idx="25"/>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200" spc="-1" strike="noStrike">
                <a:solidFill>
                  <a:srgbClr val="787878"/>
                </a:solidFill>
                <a:latin typeface="Aptos"/>
              </a:defRPr>
            </a:lvl1pPr>
          </a:lstStyle>
          <a:p>
            <a:pPr indent="0" algn="ctr">
              <a:lnSpc>
                <a:spcPct val="100000"/>
              </a:lnSpc>
              <a:buNone/>
              <a:tabLst>
                <a:tab algn="l" pos="0"/>
              </a:tabLst>
            </a:pPr>
            <a:r>
              <a:rPr b="0" lang="en-US" sz="1200" spc="-1" strike="noStrike">
                <a:solidFill>
                  <a:srgbClr val="787878"/>
                </a:solidFill>
                <a:latin typeface="Aptos"/>
              </a:rPr>
              <a:t>&lt;footer&gt;</a:t>
            </a:r>
            <a:endParaRPr b="0" lang="en-US" sz="1200" spc="-1" strike="noStrike">
              <a:solidFill>
                <a:srgbClr val="000000"/>
              </a:solidFill>
              <a:latin typeface="Times New Roman"/>
            </a:endParaRPr>
          </a:p>
        </p:txBody>
      </p:sp>
      <p:sp>
        <p:nvSpPr>
          <p:cNvPr id="370" name="PlaceHolder 2"/>
          <p:cNvSpPr>
            <a:spLocks noGrp="1"/>
          </p:cNvSpPr>
          <p:nvPr>
            <p:ph type="sldNum" idx="26"/>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874E1301-4412-47CF-8F4E-EEA7B18E510C}" type="slidenum">
              <a:rPr b="0" lang="en-US" sz="1200" spc="-1" strike="noStrike">
                <a:solidFill>
                  <a:srgbClr val="787878"/>
                </a:solidFill>
                <a:latin typeface="Aptos"/>
              </a:rPr>
              <a:t>&lt;number&gt;</a:t>
            </a:fld>
            <a:endParaRPr b="0" lang="en-US" sz="1200" spc="-1" strike="noStrike">
              <a:solidFill>
                <a:srgbClr val="000000"/>
              </a:solidFill>
              <a:latin typeface="Times New Roman"/>
            </a:endParaRPr>
          </a:p>
        </p:txBody>
      </p:sp>
      <p:sp>
        <p:nvSpPr>
          <p:cNvPr id="371" name="PlaceHolder 3"/>
          <p:cNvSpPr>
            <a:spLocks noGrp="1"/>
          </p:cNvSpPr>
          <p:nvPr>
            <p:ph type="dt" idx="27"/>
          </p:nvPr>
        </p:nvSpPr>
        <p:spPr>
          <a:xfrm>
            <a:off x="838080" y="6356520"/>
            <a:ext cx="274248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7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7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3"/>
        </a:solidFill>
      </p:bgPr>
    </p:bg>
    <p:spTree>
      <p:nvGrpSpPr>
        <p:cNvPr id="1" name=""/>
        <p:cNvGrpSpPr/>
        <p:nvPr/>
      </p:nvGrpSpPr>
      <p:grpSpPr>
        <a:xfrm>
          <a:off x="0" y="0"/>
          <a:ext cx="0" cy="0"/>
          <a:chOff x="0" y="0"/>
          <a:chExt cx="0" cy="0"/>
        </a:xfrm>
      </p:grpSpPr>
      <p:cxnSp>
        <p:nvCxnSpPr>
          <p:cNvPr id="410" name="Straight Connector 11"/>
          <p:cNvCxnSpPr/>
          <p:nvPr/>
        </p:nvCxnSpPr>
        <p:spPr>
          <a:xfrm>
            <a:off x="4911480" y="402120"/>
            <a:ext cx="720" cy="6054120"/>
          </a:xfrm>
          <a:prstGeom prst="straightConnector1">
            <a:avLst/>
          </a:prstGeom>
          <a:ln w="0">
            <a:solidFill>
              <a:srgbClr val="000000"/>
            </a:solidFill>
          </a:ln>
        </p:spPr>
      </p:cxnSp>
      <p:grpSp>
        <p:nvGrpSpPr>
          <p:cNvPr id="411" name="Group 4"/>
          <p:cNvGrpSpPr/>
          <p:nvPr/>
        </p:nvGrpSpPr>
        <p:grpSpPr>
          <a:xfrm>
            <a:off x="803160" y="0"/>
            <a:ext cx="10585800" cy="6858360"/>
            <a:chOff x="803160" y="0"/>
            <a:chExt cx="10585800" cy="6858360"/>
          </a:xfrm>
        </p:grpSpPr>
        <p:cxnSp>
          <p:nvCxnSpPr>
            <p:cNvPr id="412" name="Straight Connector 5"/>
            <p:cNvCxnSpPr/>
            <p:nvPr/>
          </p:nvCxnSpPr>
          <p:spPr>
            <a:xfrm>
              <a:off x="804600" y="0"/>
              <a:ext cx="720" cy="6858720"/>
            </a:xfrm>
            <a:prstGeom prst="straightConnector1">
              <a:avLst/>
            </a:prstGeom>
            <a:ln w="0">
              <a:solidFill>
                <a:srgbClr val="000000"/>
              </a:solidFill>
            </a:ln>
          </p:spPr>
        </p:cxnSp>
        <p:cxnSp>
          <p:nvCxnSpPr>
            <p:cNvPr id="413" name="Straight Connector 6"/>
            <p:cNvCxnSpPr/>
            <p:nvPr/>
          </p:nvCxnSpPr>
          <p:spPr>
            <a:xfrm>
              <a:off x="803160" y="393120"/>
              <a:ext cx="10584720" cy="720"/>
            </a:xfrm>
            <a:prstGeom prst="straightConnector1">
              <a:avLst/>
            </a:prstGeom>
            <a:ln w="0">
              <a:solidFill>
                <a:srgbClr val="000000"/>
              </a:solidFill>
            </a:ln>
          </p:spPr>
        </p:cxnSp>
        <p:cxnSp>
          <p:nvCxnSpPr>
            <p:cNvPr id="414" name="Straight Connector 9"/>
            <p:cNvCxnSpPr/>
            <p:nvPr/>
          </p:nvCxnSpPr>
          <p:spPr>
            <a:xfrm>
              <a:off x="11388600" y="0"/>
              <a:ext cx="720" cy="6858720"/>
            </a:xfrm>
            <a:prstGeom prst="straightConnector1">
              <a:avLst/>
            </a:prstGeom>
            <a:ln w="0">
              <a:solidFill>
                <a:srgbClr val="000000"/>
              </a:solidFill>
            </a:ln>
          </p:spPr>
        </p:cxnSp>
        <p:cxnSp>
          <p:nvCxnSpPr>
            <p:cNvPr id="415" name="Straight Connector 12"/>
            <p:cNvCxnSpPr/>
            <p:nvPr/>
          </p:nvCxnSpPr>
          <p:spPr>
            <a:xfrm>
              <a:off x="803160" y="6451920"/>
              <a:ext cx="10584720" cy="720"/>
            </a:xfrm>
            <a:prstGeom prst="straightConnector1">
              <a:avLst/>
            </a:prstGeom>
            <a:ln w="0">
              <a:solidFill>
                <a:srgbClr val="000000"/>
              </a:solidFill>
            </a:ln>
          </p:spPr>
        </p:cxnSp>
      </p:grpSp>
      <p:sp>
        <p:nvSpPr>
          <p:cNvPr id="416" name="PlaceHolder 1"/>
          <p:cNvSpPr>
            <a:spLocks noGrp="1"/>
          </p:cNvSpPr>
          <p:nvPr>
            <p:ph type="ftr" idx="28"/>
          </p:nvPr>
        </p:nvSpPr>
        <p:spPr>
          <a:xfrm>
            <a:off x="4038480" y="6356520"/>
            <a:ext cx="411408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200" spc="-1" strike="noStrike">
                <a:solidFill>
                  <a:srgbClr val="787878"/>
                </a:solidFill>
                <a:latin typeface="Aptos"/>
              </a:defRPr>
            </a:lvl1pPr>
          </a:lstStyle>
          <a:p>
            <a:pPr indent="0" algn="ctr">
              <a:lnSpc>
                <a:spcPct val="100000"/>
              </a:lnSpc>
              <a:buNone/>
              <a:tabLst>
                <a:tab algn="l" pos="0"/>
              </a:tabLst>
            </a:pPr>
            <a:r>
              <a:rPr b="0" lang="en-US" sz="1200" spc="-1" strike="noStrike">
                <a:solidFill>
                  <a:srgbClr val="787878"/>
                </a:solidFill>
                <a:latin typeface="Aptos"/>
              </a:rPr>
              <a:t>&lt;footer&gt;</a:t>
            </a:r>
            <a:endParaRPr b="0" lang="en-US" sz="1200" spc="-1" strike="noStrike">
              <a:solidFill>
                <a:srgbClr val="000000"/>
              </a:solidFill>
              <a:latin typeface="Times New Roman"/>
            </a:endParaRPr>
          </a:p>
        </p:txBody>
      </p:sp>
      <p:sp>
        <p:nvSpPr>
          <p:cNvPr id="417" name="PlaceHolder 2"/>
          <p:cNvSpPr>
            <a:spLocks noGrp="1"/>
          </p:cNvSpPr>
          <p:nvPr>
            <p:ph type="sldNum" idx="29"/>
          </p:nvPr>
        </p:nvSpPr>
        <p:spPr>
          <a:xfrm>
            <a:off x="8610480" y="6356520"/>
            <a:ext cx="274248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787878"/>
                </a:solidFill>
                <a:latin typeface="Aptos"/>
              </a:defRPr>
            </a:lvl1pPr>
          </a:lstStyle>
          <a:p>
            <a:pPr indent="0" algn="r">
              <a:lnSpc>
                <a:spcPct val="100000"/>
              </a:lnSpc>
              <a:buNone/>
              <a:tabLst>
                <a:tab algn="l" pos="0"/>
              </a:tabLst>
            </a:pPr>
            <a:fld id="{BC4D6602-661A-43CA-9953-BB7D0F56A92E}" type="slidenum">
              <a:rPr b="0" lang="en-US" sz="1200" spc="-1" strike="noStrike">
                <a:solidFill>
                  <a:srgbClr val="787878"/>
                </a:solidFill>
                <a:latin typeface="Aptos"/>
              </a:rPr>
              <a:t>&lt;number&gt;</a:t>
            </a:fld>
            <a:endParaRPr b="0" lang="en-US" sz="1200" spc="-1" strike="noStrike">
              <a:solidFill>
                <a:srgbClr val="000000"/>
              </a:solidFill>
              <a:latin typeface="Times New Roman"/>
            </a:endParaRPr>
          </a:p>
        </p:txBody>
      </p:sp>
      <p:sp>
        <p:nvSpPr>
          <p:cNvPr id="418" name="PlaceHolder 3"/>
          <p:cNvSpPr>
            <a:spLocks noGrp="1"/>
          </p:cNvSpPr>
          <p:nvPr>
            <p:ph type="dt" idx="30"/>
          </p:nvPr>
        </p:nvSpPr>
        <p:spPr>
          <a:xfrm>
            <a:off x="838080" y="6356520"/>
            <a:ext cx="274248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19"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20"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7.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hyperlink" Target="http://arxiv.org/abs/2409.07498" TargetMode="External"/><Relationship Id="rId3" Type="http://schemas.openxmlformats.org/officeDocument/2006/relationships/slideLayout" Target="../slideLayouts/slideLayout49.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7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hyperlink" Target="http://arxiv.org/abs/physics/0603229" TargetMode="External"/><Relationship Id="rId3" Type="http://schemas.openxmlformats.org/officeDocument/2006/relationships/slideLayout" Target="../slideLayouts/slideLayout49.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hyperlink" Target="http://arxiv.org/abs/1601.05775" TargetMode="External"/><Relationship Id="rId2" Type="http://schemas.openxmlformats.org/officeDocument/2006/relationships/hyperlink" Target="http://arxiv.org/abs/2110.14972" TargetMode="External"/><Relationship Id="rId3" Type="http://schemas.openxmlformats.org/officeDocument/2006/relationships/image" Target="../media/image5.png"/><Relationship Id="rId4" Type="http://schemas.openxmlformats.org/officeDocument/2006/relationships/slideLayout" Target="../slideLayouts/slideLayout49.xml"/><Relationship Id="rId5"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hyperlink" Target="https://arxiv.org/abs/2007.07859" TargetMode="External"/><Relationship Id="rId2" Type="http://schemas.openxmlformats.org/officeDocument/2006/relationships/hyperlink" Target="https://journals.plos.org/plosone/article?id=10.1371/journal.pone.0219658" TargetMode="External"/><Relationship Id="rId3" Type="http://schemas.openxmlformats.org/officeDocument/2006/relationships/hyperlink" Target="https://journals.plos.org/plosone/article?id=10.1371/journal.pone.0219658" TargetMode="External"/><Relationship Id="rId4" Type="http://schemas.openxmlformats.org/officeDocument/2006/relationships/hyperlink" Target="https://doi.org/10.1371/journal.pone.0219658" TargetMode="External"/><Relationship Id="rId5" Type="http://schemas.openxmlformats.org/officeDocument/2006/relationships/image" Target="../media/image5.png"/><Relationship Id="rId6" Type="http://schemas.openxmlformats.org/officeDocument/2006/relationships/slideLayout" Target="../slideLayouts/slideLayout49.xml"/><Relationship Id="rId7"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3.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97.xml"/><Relationship Id="rId3"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9.xml"/><Relationship Id="rId3"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3.xml"/><Relationship Id="rId3"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3.xml"/><Relationship Id="rId3"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49.xml"/><Relationship Id="rId3"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09.xml"/><Relationship Id="rId3" Type="http://schemas.openxmlformats.org/officeDocument/2006/relationships/notesSlide" Target="../notesSlides/notesSlide8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3" name="PlaceHolder 1"/>
          <p:cNvSpPr>
            <a:spLocks noGrp="1"/>
          </p:cNvSpPr>
          <p:nvPr>
            <p:ph type="title"/>
          </p:nvPr>
        </p:nvSpPr>
        <p:spPr>
          <a:xfrm>
            <a:off x="1200960" y="4597560"/>
            <a:ext cx="9783360" cy="9795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Macro-Scale Network Measures and their Relation to Connectivity, Robustness, Resilience</a:t>
            </a:r>
            <a:endParaRPr b="0" lang="en-US" sz="3000" spc="-1" strike="noStrike">
              <a:solidFill>
                <a:srgbClr val="000000"/>
              </a:solidFill>
              <a:latin typeface="Arial"/>
            </a:endParaRPr>
          </a:p>
        </p:txBody>
      </p:sp>
      <p:sp>
        <p:nvSpPr>
          <p:cNvPr id="464" name="PlaceHolder 2"/>
          <p:cNvSpPr>
            <a:spLocks noGrp="1"/>
          </p:cNvSpPr>
          <p:nvPr>
            <p:ph type="ftr" idx="3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465" name="PlaceHolder 3"/>
          <p:cNvSpPr>
            <a:spLocks noGrp="1"/>
          </p:cNvSpPr>
          <p:nvPr>
            <p:ph/>
          </p:nvPr>
        </p:nvSpPr>
        <p:spPr>
          <a:xfrm>
            <a:off x="1207080" y="5668920"/>
            <a:ext cx="9784080" cy="639000"/>
          </a:xfrm>
          <a:prstGeom prst="rect">
            <a:avLst/>
          </a:prstGeom>
          <a:noFill/>
          <a:ln w="0">
            <a:noFill/>
          </a:ln>
        </p:spPr>
        <p:txBody>
          <a:bodyPr lIns="90000" rIns="90000" tIns="45000" bIns="45000" anchor="t">
            <a:normAutofit/>
          </a:bodyPr>
          <a:p>
            <a:pPr indent="0">
              <a:lnSpc>
                <a:spcPct val="90000"/>
              </a:lnSpc>
              <a:spcBef>
                <a:spcPts val="1001"/>
              </a:spcBef>
              <a:buNone/>
              <a:tabLst>
                <a:tab algn="l" pos="0"/>
              </a:tabLst>
            </a:pPr>
            <a:r>
              <a:rPr b="0" lang="en-US" sz="2000" spc="-1" strike="noStrike">
                <a:solidFill>
                  <a:srgbClr val="000000"/>
                </a:solidFill>
                <a:latin typeface="Aptos"/>
              </a:rPr>
              <a:t>Analyzing large-scale system properties and structural dynamics</a:t>
            </a:r>
            <a:endParaRPr b="0" lang="en-US" sz="2000" spc="-1" strike="noStrike">
              <a:solidFill>
                <a:srgbClr val="000000"/>
              </a:solidFill>
              <a:latin typeface="Arial"/>
            </a:endParaRPr>
          </a:p>
        </p:txBody>
      </p:sp>
      <p:sp>
        <p:nvSpPr>
          <p:cNvPr id="466" name="PlaceHolder 4"/>
          <p:cNvSpPr>
            <a:spLocks noGrp="1"/>
          </p:cNvSpPr>
          <p:nvPr>
            <p:ph type="sldNum" idx="3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E47494D8-8AD5-4C01-A151-C9BBAA05056E}" type="slidenum">
              <a:rPr b="0" lang="en-US" sz="1200" spc="-1" strike="noStrike">
                <a:solidFill>
                  <a:srgbClr val="787878"/>
                </a:solidFill>
                <a:latin typeface="Aptos"/>
              </a:rPr>
              <a:t>1</a:t>
            </a:fld>
            <a:endParaRPr b="0" lang="en-US" sz="1200" spc="-1" strike="noStrike">
              <a:solidFill>
                <a:srgbClr val="000000"/>
              </a:solidFill>
              <a:latin typeface="Times New Roman"/>
            </a:endParaRPr>
          </a:p>
        </p:txBody>
      </p:sp>
      <p:pic>
        <p:nvPicPr>
          <p:cNvPr id="467" name="Picture 5" descr="Close up shot of connecting patterns"/>
          <p:cNvPicPr/>
          <p:nvPr/>
        </p:nvPicPr>
        <p:blipFill>
          <a:blip r:embed="rId1"/>
          <a:srcRect l="0" t="29790" r="0" b="5715"/>
          <a:stretch/>
        </p:blipFill>
        <p:spPr>
          <a:xfrm>
            <a:off x="808200" y="405000"/>
            <a:ext cx="10574640" cy="383616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withEffect" fill="hold" presetClass="entr" presetID="10">
                                  <p:stCondLst>
                                    <p:cond delay="1000"/>
                                  </p:stCondLst>
                                  <p:iterate type="el">
                                    <p:tmAbs val="100"/>
                                  </p:iterate>
                                  <p:childTnLst>
                                    <p:set>
                                      <p:cBhvr>
                                        <p:cTn id="6" dur="1" fill="hold">
                                          <p:stCondLst>
                                            <p:cond delay="0"/>
                                          </p:stCondLst>
                                        </p:cTn>
                                        <p:tgtEl>
                                          <p:spTgt spid="463"/>
                                        </p:tgtEl>
                                        <p:attrNameLst>
                                          <p:attrName>style.visibility</p:attrName>
                                        </p:attrNameLst>
                                      </p:cBhvr>
                                      <p:to>
                                        <p:strVal val="visible"/>
                                      </p:to>
                                    </p:set>
                                    <p:animEffect filter="fade" transition="in">
                                      <p:cBhvr additive="repl">
                                        <p:cTn id="7" dur="700"/>
                                        <p:tgtEl>
                                          <p:spTgt spid="463"/>
                                        </p:tgtEl>
                                      </p:cBhvr>
                                    </p:animEffect>
                                  </p:childTnLst>
                                </p:cTn>
                              </p:par>
                              <p:par>
                                <p:cTn id="8" nodeType="withEffect" fill="hold" presetClass="entr" presetID="10">
                                  <p:stCondLst>
                                    <p:cond delay="250"/>
                                  </p:stCondLst>
                                  <p:iterate type="el">
                                    <p:tmAbs val="100"/>
                                  </p:iterate>
                                  <p:childTnLst>
                                    <p:set>
                                      <p:cBhvr>
                                        <p:cTn id="9" dur="1" fill="hold">
                                          <p:stCondLst>
                                            <p:cond delay="0"/>
                                          </p:stCondLst>
                                        </p:cTn>
                                        <p:tgtEl>
                                          <p:spTgt spid="465"/>
                                        </p:tgtEl>
                                        <p:attrNameLst>
                                          <p:attrName>style.visibility</p:attrName>
                                        </p:attrNameLst>
                                      </p:cBhvr>
                                      <p:to>
                                        <p:strVal val="visible"/>
                                      </p:to>
                                    </p:set>
                                    <p:animEffect filter="fade" transition="in">
                                      <p:cBhvr additive="repl">
                                        <p:cTn id="10" dur="500"/>
                                        <p:tgtEl>
                                          <p:spTgt spid="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8" name="PlaceHolder 1"/>
          <p:cNvSpPr>
            <a:spLocks noGrp="1"/>
          </p:cNvSpPr>
          <p:nvPr>
            <p:ph type="title"/>
          </p:nvPr>
        </p:nvSpPr>
        <p:spPr>
          <a:xfrm>
            <a:off x="1245240" y="786240"/>
            <a:ext cx="4022640" cy="1279440"/>
          </a:xfrm>
          <a:prstGeom prst="rect">
            <a:avLst/>
          </a:prstGeom>
          <a:noFill/>
          <a:ln w="0">
            <a:noFill/>
          </a:ln>
        </p:spPr>
        <p:txBody>
          <a:bodyPr lIns="90000" rIns="90000" tIns="45000" bIns="45000" anchor="t">
            <a:normAutofit/>
          </a:bodyPr>
          <a:p>
            <a:pPr indent="0">
              <a:lnSpc>
                <a:spcPct val="90000"/>
              </a:lnSpc>
              <a:buNone/>
              <a:tabLst>
                <a:tab algn="l" pos="0"/>
              </a:tabLst>
            </a:pPr>
            <a:r>
              <a:rPr b="0" lang="en-US" sz="3200" spc="-1" strike="noStrike">
                <a:solidFill>
                  <a:srgbClr val="000000"/>
                </a:solidFill>
                <a:latin typeface="Aptos Display"/>
              </a:rPr>
              <a:t>Learning Objectives</a:t>
            </a:r>
            <a:endParaRPr b="0" lang="en-US" sz="3200" spc="-1" strike="noStrike">
              <a:solidFill>
                <a:srgbClr val="000000"/>
              </a:solidFill>
              <a:latin typeface="Arial"/>
            </a:endParaRPr>
          </a:p>
        </p:txBody>
      </p:sp>
      <p:sp>
        <p:nvSpPr>
          <p:cNvPr id="469" name="PlaceHolder 2"/>
          <p:cNvSpPr>
            <a:spLocks noGrp="1"/>
          </p:cNvSpPr>
          <p:nvPr>
            <p:ph type="ftr" idx="3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pic>
        <p:nvPicPr>
          <p:cNvPr id="470" name="Content Placeholder 6" descr="Rubber bands connected attached to nails"/>
          <p:cNvPicPr/>
          <p:nvPr/>
        </p:nvPicPr>
        <p:blipFill>
          <a:blip r:embed="rId1">
            <a:alphaModFix amt="20000"/>
          </a:blip>
          <a:srcRect l="0" t="0" r="0" b="-2162"/>
          <a:stretch/>
        </p:blipFill>
        <p:spPr>
          <a:xfrm>
            <a:off x="1220400" y="2396160"/>
            <a:ext cx="4070160" cy="3637080"/>
          </a:xfrm>
          <a:prstGeom prst="rect">
            <a:avLst/>
          </a:prstGeom>
          <a:ln w="6350">
            <a:solidFill>
              <a:srgbClr val="000000"/>
            </a:solidFill>
            <a:round/>
          </a:ln>
        </p:spPr>
      </p:pic>
      <p:sp>
        <p:nvSpPr>
          <p:cNvPr id="471" name="PlaceHolder 3"/>
          <p:cNvSpPr>
            <a:spLocks noGrp="1"/>
          </p:cNvSpPr>
          <p:nvPr>
            <p:ph/>
          </p:nvPr>
        </p:nvSpPr>
        <p:spPr>
          <a:xfrm>
            <a:off x="5669280" y="786240"/>
            <a:ext cx="5302800" cy="530280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endParaRPr b="0" lang="en-US" sz="14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Connectivity and Robustness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Understand how network connectivity impacts robustness and resilience to faults or attacks.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Structural and Centralization Measures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Interpret measures like components, diameter, and centralization to assess network topology and bias.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Real-World Network Applications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Apply concepts to communication, organizational, and infrastructure networks for practical understanding.</a:t>
            </a:r>
            <a:endParaRPr b="0" lang="en-US" sz="1400" spc="-1" strike="noStrike">
              <a:solidFill>
                <a:srgbClr val="000000"/>
              </a:solidFill>
              <a:latin typeface="Arial"/>
            </a:endParaRPr>
          </a:p>
        </p:txBody>
      </p:sp>
      <p:sp>
        <p:nvSpPr>
          <p:cNvPr id="472" name="PlaceHolder 4"/>
          <p:cNvSpPr>
            <a:spLocks noGrp="1"/>
          </p:cNvSpPr>
          <p:nvPr>
            <p:ph type="sldNum" idx="3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28A8B018-9EDC-4A7E-A357-B082F788C35A}" type="slidenum">
              <a:rPr b="0" lang="en-US" sz="1200" spc="-1" strike="noStrike">
                <a:solidFill>
                  <a:srgbClr val="787878"/>
                </a:solidFill>
                <a:latin typeface="Aptos"/>
              </a:rPr>
              <a:t>2</a:t>
            </a:fld>
            <a:endParaRPr b="0" lang="en-US" sz="1200" spc="-1" strike="noStrike">
              <a:solidFill>
                <a:srgbClr val="000000"/>
              </a:solidFill>
              <a:latin typeface="Times New Roman"/>
            </a:endParaRPr>
          </a:p>
        </p:txBody>
      </p:sp>
    </p:spTree>
  </p:cSld>
  <p:transition>
    <p:fade/>
  </p:transition>
  <p:timing>
    <p:tnLst>
      <p:par>
        <p:cTn id="11" dur="indefinite" restart="never" nodeType="tmRoot">
          <p:childTnLst>
            <p:seq>
              <p:cTn id="12" dur="indefinite" nodeType="mainSeq">
                <p:childTnLst>
                  <p:par>
                    <p:cTn id="13" fill="hold">
                      <p:stCondLst>
                        <p:cond delay="0"/>
                      </p:stCondLst>
                      <p:childTnLst>
                        <p:par>
                          <p:cTn id="14" fill="hold">
                            <p:stCondLst>
                              <p:cond delay="0"/>
                            </p:stCondLst>
                            <p:childTnLst>
                              <p:par>
                                <p:cTn id="15" nodeType="withEffect" fill="hold" presetClass="entr" presetID="10">
                                  <p:stCondLst>
                                    <p:cond delay="250"/>
                                  </p:stCondLst>
                                  <p:iterate type="el">
                                    <p:tmAbs val="100"/>
                                  </p:iterate>
                                  <p:childTnLst>
                                    <p:set>
                                      <p:cBhvr>
                                        <p:cTn id="16" dur="1" fill="hold">
                                          <p:stCondLst>
                                            <p:cond delay="0"/>
                                          </p:stCondLst>
                                        </p:cTn>
                                        <p:tgtEl>
                                          <p:spTgt spid="471"/>
                                        </p:tgtEl>
                                        <p:attrNameLst>
                                          <p:attrName>style.visibility</p:attrName>
                                        </p:attrNameLst>
                                      </p:cBhvr>
                                      <p:to>
                                        <p:strVal val="visible"/>
                                      </p:to>
                                    </p:set>
                                    <p:animEffect filter="fade" transition="in">
                                      <p:cBhvr additive="repl">
                                        <p:cTn id="17" dur="500"/>
                                        <p:tgtEl>
                                          <p:spTgt spid="4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title"/>
          </p:nvPr>
        </p:nvSpPr>
        <p:spPr>
          <a:xfrm>
            <a:off x="3947040" y="1463040"/>
            <a:ext cx="4296960" cy="3931200"/>
          </a:xfrm>
          <a:prstGeom prst="rect">
            <a:avLst/>
          </a:prstGeom>
          <a:noFill/>
          <a:ln w="0">
            <a:noFill/>
          </a:ln>
        </p:spPr>
        <p:txBody>
          <a:bodyPr lIns="90000" rIns="90000" tIns="45000" bIns="45000" anchor="ctr">
            <a:normAutofit/>
          </a:bodyPr>
          <a:p>
            <a:pPr indent="0" algn="ctr">
              <a:lnSpc>
                <a:spcPct val="90000"/>
              </a:lnSpc>
              <a:buNone/>
              <a:tabLst>
                <a:tab algn="l" pos="0"/>
              </a:tabLst>
            </a:pPr>
            <a:r>
              <a:rPr b="0" lang="en-US" sz="4600" spc="-1" strike="noStrike">
                <a:solidFill>
                  <a:srgbClr val="000000"/>
                </a:solidFill>
                <a:latin typeface="Aptos Display"/>
              </a:rPr>
              <a:t>Connectivity, Robustness, and Resilience</a:t>
            </a:r>
            <a:endParaRPr b="0" lang="en-US" sz="4600" spc="-1" strike="noStrike">
              <a:solidFill>
                <a:srgbClr val="000000"/>
              </a:solidFill>
              <a:latin typeface="Arial"/>
            </a:endParaRPr>
          </a:p>
        </p:txBody>
      </p:sp>
      <p:sp>
        <p:nvSpPr>
          <p:cNvPr id="474" name="PlaceHolder 2"/>
          <p:cNvSpPr>
            <a:spLocks noGrp="1"/>
          </p:cNvSpPr>
          <p:nvPr>
            <p:ph type="ftr" idx="3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475" name="PlaceHolder 3"/>
          <p:cNvSpPr>
            <a:spLocks noGrp="1"/>
          </p:cNvSpPr>
          <p:nvPr>
            <p:ph type="sldNum" idx="3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3B31767F-61C5-4208-8225-3B4964EA33C9}" type="slidenum">
              <a:rPr b="0" lang="en-US" sz="1200" spc="-1" strike="noStrike">
                <a:solidFill>
                  <a:srgbClr val="787878"/>
                </a:solidFill>
                <a:latin typeface="Aptos"/>
              </a:rPr>
              <a:t>3</a:t>
            </a:fld>
            <a:endParaRPr b="0" lang="en-US" sz="1200" spc="-1" strike="noStrike">
              <a:solidFill>
                <a:srgbClr val="000000"/>
              </a:solidFill>
              <a:latin typeface="Times New Roman"/>
            </a:endParaRPr>
          </a:p>
        </p:txBody>
      </p:sp>
    </p:spTree>
  </p:cSld>
  <p:transition>
    <p:fade/>
  </p:transition>
  <p:timing>
    <p:tnLst>
      <p:par>
        <p:cTn id="18" dur="indefinite" restart="never" nodeType="tmRoot">
          <p:childTnLst>
            <p:seq>
              <p:cTn id="19" dur="indefinite" nodeType="mainSeq">
                <p:childTnLst>
                  <p:par>
                    <p:cTn id="20" fill="hold">
                      <p:stCondLst>
                        <p:cond delay="0"/>
                      </p:stCondLst>
                      <p:childTnLst>
                        <p:par>
                          <p:cTn id="21" fill="hold">
                            <p:stCondLst>
                              <p:cond delay="0"/>
                            </p:stCondLst>
                            <p:childTnLst>
                              <p:par>
                                <p:cTn id="22" nodeType="withEffect" fill="hold" presetClass="entr" presetID="10">
                                  <p:stCondLst>
                                    <p:cond delay="500"/>
                                  </p:stCondLst>
                                  <p:iterate type="el">
                                    <p:tmAbs val="100"/>
                                  </p:iterate>
                                  <p:childTnLst>
                                    <p:set>
                                      <p:cBhvr>
                                        <p:cTn id="23" dur="1" fill="hold">
                                          <p:stCondLst>
                                            <p:cond delay="0"/>
                                          </p:stCondLst>
                                        </p:cTn>
                                        <p:tgtEl>
                                          <p:spTgt spid="473"/>
                                        </p:tgtEl>
                                        <p:attrNameLst>
                                          <p:attrName>style.visibility</p:attrName>
                                        </p:attrNameLst>
                                      </p:cBhvr>
                                      <p:to>
                                        <p:strVal val="visible"/>
                                      </p:to>
                                    </p:set>
                                    <p:animEffect filter="fade" transition="in">
                                      <p:cBhvr additive="repl">
                                        <p:cTn id="24" dur="7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6" name="PlaceHolder 1"/>
          <p:cNvSpPr>
            <a:spLocks noGrp="1"/>
          </p:cNvSpPr>
          <p:nvPr>
            <p:ph type="title"/>
          </p:nvPr>
        </p:nvSpPr>
        <p:spPr>
          <a:xfrm>
            <a:off x="1245240" y="786240"/>
            <a:ext cx="4022640" cy="1279440"/>
          </a:xfrm>
          <a:prstGeom prst="rect">
            <a:avLst/>
          </a:prstGeom>
          <a:noFill/>
          <a:ln w="0">
            <a:noFill/>
          </a:ln>
        </p:spPr>
        <p:txBody>
          <a:bodyPr lIns="90000" rIns="90000" tIns="45000" bIns="45000" anchor="t">
            <a:normAutofit/>
          </a:bodyPr>
          <a:p>
            <a:pPr indent="0">
              <a:lnSpc>
                <a:spcPct val="90000"/>
              </a:lnSpc>
              <a:buNone/>
              <a:tabLst>
                <a:tab algn="l" pos="0"/>
              </a:tabLst>
            </a:pPr>
            <a:r>
              <a:rPr b="0" lang="en-US" sz="3200" spc="-1" strike="noStrike">
                <a:solidFill>
                  <a:srgbClr val="000000"/>
                </a:solidFill>
                <a:latin typeface="Aptos Display"/>
              </a:rPr>
              <a:t>Conceptual Foundations</a:t>
            </a:r>
            <a:endParaRPr b="0" lang="en-US" sz="3200" spc="-1" strike="noStrike">
              <a:solidFill>
                <a:srgbClr val="000000"/>
              </a:solidFill>
              <a:latin typeface="Arial"/>
            </a:endParaRPr>
          </a:p>
        </p:txBody>
      </p:sp>
      <p:sp>
        <p:nvSpPr>
          <p:cNvPr id="477" name="PlaceHolder 2"/>
          <p:cNvSpPr>
            <a:spLocks noGrp="1"/>
          </p:cNvSpPr>
          <p:nvPr>
            <p:ph type="ftr" idx="4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pic>
        <p:nvPicPr>
          <p:cNvPr id="478" name="Content Placeholder 6" descr="Illustration of linked circles represents people in social network."/>
          <p:cNvPicPr/>
          <p:nvPr/>
        </p:nvPicPr>
        <p:blipFill>
          <a:blip r:embed="rId1">
            <a:alphaModFix amt="20000"/>
          </a:blip>
          <a:srcRect l="0" t="0" r="0" b="-1485"/>
          <a:stretch/>
        </p:blipFill>
        <p:spPr>
          <a:xfrm>
            <a:off x="1220400" y="2396160"/>
            <a:ext cx="4070160" cy="3637080"/>
          </a:xfrm>
          <a:prstGeom prst="rect">
            <a:avLst/>
          </a:prstGeom>
          <a:ln w="6350">
            <a:solidFill>
              <a:srgbClr val="000000"/>
            </a:solidFill>
            <a:round/>
          </a:ln>
        </p:spPr>
      </p:pic>
      <p:sp>
        <p:nvSpPr>
          <p:cNvPr id="479" name="PlaceHolder 3"/>
          <p:cNvSpPr>
            <a:spLocks noGrp="1"/>
          </p:cNvSpPr>
          <p:nvPr>
            <p:ph/>
          </p:nvPr>
        </p:nvSpPr>
        <p:spPr>
          <a:xfrm>
            <a:off x="5669280" y="786240"/>
            <a:ext cx="5302800" cy="530280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r>
              <a:rPr b="1" lang="en-US" sz="1400" spc="-1" strike="noStrike">
                <a:solidFill>
                  <a:srgbClr val="000000"/>
                </a:solidFill>
                <a:latin typeface="Aptos"/>
              </a:rPr>
              <a:t>Network Connectivity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Connectivity is the ability of nodes to reach each other through paths, forming the network's backbone structure.</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Robustness and Resilience</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Robustness measures resistance to failures; resilience is the network's ability to restore function after disruptions.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Trade-offs in Design</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Redundancy improves fault tolerance but may increase costs; design must balance these factors.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Percolation Theory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Percolation theory explains giant component existence during node or edge removal in real-world systems.</a:t>
            </a:r>
            <a:endParaRPr b="0" lang="en-US" sz="1400" spc="-1" strike="noStrike">
              <a:solidFill>
                <a:srgbClr val="000000"/>
              </a:solidFill>
              <a:latin typeface="Arial"/>
            </a:endParaRPr>
          </a:p>
        </p:txBody>
      </p:sp>
      <p:sp>
        <p:nvSpPr>
          <p:cNvPr id="480" name="PlaceHolder 4"/>
          <p:cNvSpPr>
            <a:spLocks noGrp="1"/>
          </p:cNvSpPr>
          <p:nvPr>
            <p:ph type="sldNum" idx="4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1B1A399B-854E-41A5-895D-883CE69D31EF}" type="slidenum">
              <a:rPr b="0" lang="en-US" sz="1200" spc="-1" strike="noStrike">
                <a:solidFill>
                  <a:srgbClr val="787878"/>
                </a:solidFill>
                <a:latin typeface="Aptos"/>
              </a:rPr>
              <a:t>4</a:t>
            </a:fld>
            <a:endParaRPr b="0" lang="en-US" sz="1200" spc="-1" strike="noStrike">
              <a:solidFill>
                <a:srgbClr val="000000"/>
              </a:solidFill>
              <a:latin typeface="Times New Roman"/>
            </a:endParaRPr>
          </a:p>
        </p:txBody>
      </p:sp>
    </p:spTree>
  </p:cSld>
  <p:transition>
    <p:fade/>
  </p:transition>
  <p:timing>
    <p:tnLst>
      <p:par>
        <p:cTn id="25" dur="indefinite" restart="never" nodeType="tmRoot">
          <p:childTnLst>
            <p:seq>
              <p:cTn id="26" dur="indefinite" nodeType="mainSeq">
                <p:childTnLst>
                  <p:par>
                    <p:cTn id="27" fill="hold">
                      <p:stCondLst>
                        <p:cond delay="0"/>
                      </p:stCondLst>
                      <p:childTnLst>
                        <p:par>
                          <p:cTn id="28" fill="hold">
                            <p:stCondLst>
                              <p:cond delay="0"/>
                            </p:stCondLst>
                            <p:childTnLst>
                              <p:par>
                                <p:cTn id="29" nodeType="withEffect" fill="hold" presetClass="entr" presetID="10">
                                  <p:stCondLst>
                                    <p:cond delay="250"/>
                                  </p:stCondLst>
                                  <p:iterate type="el">
                                    <p:tmAbs val="100"/>
                                  </p:iterate>
                                  <p:childTnLst>
                                    <p:set>
                                      <p:cBhvr>
                                        <p:cTn id="30" dur="1" fill="hold">
                                          <p:stCondLst>
                                            <p:cond delay="0"/>
                                          </p:stCondLst>
                                        </p:cTn>
                                        <p:tgtEl>
                                          <p:spTgt spid="479"/>
                                        </p:tgtEl>
                                        <p:attrNameLst>
                                          <p:attrName>style.visibility</p:attrName>
                                        </p:attrNameLst>
                                      </p:cBhvr>
                                      <p:to>
                                        <p:strVal val="visible"/>
                                      </p:to>
                                    </p:set>
                                    <p:animEffect filter="fade" transition="in">
                                      <p:cBhvr additive="repl">
                                        <p:cTn id="31" dur="500"/>
                                        <p:tgtEl>
                                          <p:spTgt spid="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1" name="Picture 1" descr="A diagram of network reliability&#10;&#10;AI-generated content may be incorrect."/>
          <p:cNvPicPr/>
          <p:nvPr/>
        </p:nvPicPr>
        <p:blipFill>
          <a:blip r:embed="rId1"/>
          <a:stretch/>
        </p:blipFill>
        <p:spPr>
          <a:xfrm>
            <a:off x="155520" y="0"/>
            <a:ext cx="6139440" cy="6857280"/>
          </a:xfrm>
          <a:prstGeom prst="rect">
            <a:avLst/>
          </a:prstGeom>
          <a:ln w="0">
            <a:noFill/>
          </a:ln>
        </p:spPr>
      </p:pic>
      <p:sp>
        <p:nvSpPr>
          <p:cNvPr id="482" name="TextBox 2"/>
          <p:cNvSpPr/>
          <p:nvPr/>
        </p:nvSpPr>
        <p:spPr>
          <a:xfrm>
            <a:off x="6294960" y="5571360"/>
            <a:ext cx="6095160" cy="1461240"/>
          </a:xfrm>
          <a:prstGeom prst="rect">
            <a:avLst/>
          </a:prstGeom>
          <a:noFill/>
          <a:ln w="0">
            <a:noFill/>
          </a:ln>
        </p:spPr>
        <p:style>
          <a:lnRef idx="0"/>
          <a:fillRef idx="0"/>
          <a:effectRef idx="0"/>
          <a:fontRef idx="minor"/>
        </p:style>
        <p:txBody>
          <a:bodyPr numCol="1" spcCol="0" horzOverflow="overflow" vertOverflow="overflow" lIns="90000" rIns="90000" tIns="45000" bIns="45000" anchor="t">
            <a:spAutoFit/>
          </a:bodyPr>
          <a:p>
            <a:pPr>
              <a:lnSpc>
                <a:spcPct val="100000"/>
              </a:lnSpc>
            </a:pPr>
            <a:r>
              <a:rPr b="0" lang="en-US" sz="1800" spc="-1" strike="noStrike">
                <a:solidFill>
                  <a:srgbClr val="333333"/>
                </a:solidFill>
                <a:latin typeface="HelveticaNeue Regular"/>
                <a:ea typeface="HelveticaNeue Regular"/>
              </a:rPr>
              <a:t>J. Xu and D. J. Nair, "Data-Driven Network Connectivity Analysis: An Underestimated Metric," in </a:t>
            </a:r>
            <a:r>
              <a:rPr b="0" i="1" lang="en-US" sz="1800" spc="-1" strike="noStrike">
                <a:solidFill>
                  <a:srgbClr val="333333"/>
                </a:solidFill>
                <a:latin typeface="HelveticaNeue Regular"/>
                <a:ea typeface="HelveticaNeue Regular"/>
              </a:rPr>
              <a:t>IEEE Access</a:t>
            </a:r>
            <a:r>
              <a:rPr b="0" lang="en-US" sz="1800" spc="-1" strike="noStrike">
                <a:solidFill>
                  <a:srgbClr val="333333"/>
                </a:solidFill>
                <a:latin typeface="HelveticaNeue Regular"/>
                <a:ea typeface="HelveticaNeue Regular"/>
              </a:rPr>
              <a:t>, vol. 12, pp. 60908-60927, 2024, doi: 10.1109/ACCESS.2024.3393968. </a:t>
            </a: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3"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fontScale="72000"/>
          </a:bodyPr>
          <a:p>
            <a:pPr indent="0">
              <a:lnSpc>
                <a:spcPct val="90000"/>
              </a:lnSpc>
              <a:buNone/>
              <a:tabLst>
                <a:tab algn="l" pos="0"/>
              </a:tabLst>
            </a:pPr>
            <a:r>
              <a:rPr b="0" lang="en-US" sz="3000" spc="-1" strike="noStrike">
                <a:solidFill>
                  <a:srgbClr val="000000"/>
                </a:solidFill>
                <a:latin typeface="Aptos Display"/>
              </a:rPr>
              <a:t>Structural Robustness and Vulnerability of Networks.</a:t>
            </a:r>
            <a:endParaRPr b="0" lang="en-US" sz="3000" spc="-1" strike="noStrike">
              <a:solidFill>
                <a:srgbClr val="000000"/>
              </a:solidFill>
              <a:latin typeface="Arial"/>
            </a:endParaRPr>
          </a:p>
        </p:txBody>
      </p:sp>
      <p:sp>
        <p:nvSpPr>
          <p:cNvPr id="484" name="PlaceHolder 2"/>
          <p:cNvSpPr>
            <a:spLocks noGrp="1"/>
          </p:cNvSpPr>
          <p:nvPr>
            <p:ph type="ftr" idx="4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485"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486"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487" name="PlaceHolder 4"/>
          <p:cNvSpPr>
            <a:spLocks noGrp="1"/>
          </p:cNvSpPr>
          <p:nvPr>
            <p:ph type="sldNum" idx="4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A8F19944-1D2B-45EF-93B9-AC5F393D2B14}" type="slidenum">
              <a:rPr b="0" lang="en-US" sz="1200" spc="-1" strike="noStrike">
                <a:solidFill>
                  <a:srgbClr val="787878"/>
                </a:solidFill>
                <a:latin typeface="Aptos"/>
              </a:rPr>
              <a:t>6</a:t>
            </a:fld>
            <a:endParaRPr b="0" lang="en-US" sz="1200" spc="-1" strike="noStrike">
              <a:solidFill>
                <a:srgbClr val="000000"/>
              </a:solidFill>
              <a:latin typeface="Times New Roman"/>
            </a:endParaRPr>
          </a:p>
        </p:txBody>
      </p:sp>
      <p:sp>
        <p:nvSpPr>
          <p:cNvPr id="488" name="TextBox 5"/>
          <p:cNvSpPr/>
          <p:nvPr/>
        </p:nvSpPr>
        <p:spPr>
          <a:xfrm>
            <a:off x="841680" y="2451600"/>
            <a:ext cx="8276760" cy="1186920"/>
          </a:xfrm>
          <a:prstGeom prst="rect">
            <a:avLst/>
          </a:prstGeom>
          <a:noFill/>
          <a:ln w="0">
            <a:noFill/>
          </a:ln>
        </p:spPr>
        <p:style>
          <a:lnRef idx="0"/>
          <a:fillRef idx="0"/>
          <a:effectRef idx="0"/>
          <a:fontRef idx="minor"/>
        </p:style>
        <p:txBody>
          <a:bodyPr numCol="1" spcCol="0" horzOverflow="overflow" vertOverflow="overflow" lIns="90000" rIns="90000" tIns="45000" bIns="45000" anchor="t">
            <a:spAutoFit/>
          </a:bodyPr>
          <a:p>
            <a:pPr>
              <a:lnSpc>
                <a:spcPct val="100000"/>
              </a:lnSpc>
            </a:pPr>
            <a:r>
              <a:rPr b="0" lang="en-US" sz="1800" spc="-1" strike="noStrike">
                <a:solidFill>
                  <a:srgbClr val="000000"/>
                </a:solidFill>
                <a:latin typeface="Aptos"/>
                <a:ea typeface="DejaVu Sans"/>
              </a:rPr>
              <a:t>Schwarze, A. C., Jiang, J., Wray, J., &amp; Porter, M. A. (2024). Structural Robustness and Vulnerability of Networks. </a:t>
            </a:r>
            <a:r>
              <a:rPr b="0" i="1" lang="en-US" sz="1800" spc="-1" strike="noStrike">
                <a:solidFill>
                  <a:srgbClr val="000000"/>
                </a:solidFill>
                <a:latin typeface="Aptos"/>
                <a:ea typeface="DejaVu Sans"/>
              </a:rPr>
              <a:t>arXiv [Physics.Soc-Ph]</a:t>
            </a:r>
            <a:r>
              <a:rPr b="0" lang="en-US" sz="1800" spc="-1" strike="noStrike">
                <a:solidFill>
                  <a:srgbClr val="000000"/>
                </a:solidFill>
                <a:latin typeface="Aptos"/>
                <a:ea typeface="DejaVu Sans"/>
              </a:rPr>
              <a:t>. Retrieved from </a:t>
            </a:r>
            <a:r>
              <a:rPr b="0" lang="en-US" sz="1800" spc="-1" strike="noStrike" u="sng">
                <a:solidFill>
                  <a:srgbClr val="467886"/>
                </a:solidFill>
                <a:uFillTx/>
                <a:latin typeface="Aptos"/>
                <a:ea typeface="DejaVu Sans"/>
                <a:hlinkClick r:id="rId2"/>
              </a:rPr>
              <a:t>http://arxiv.org/abs/2409.07498</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p:transition>
    <p:fade/>
  </p:transition>
  <p:timing>
    <p:tnLst>
      <p:par>
        <p:cTn id="32" dur="indefinite" restart="never" nodeType="tmRoot">
          <p:childTnLst>
            <p:seq>
              <p:cTn id="33" dur="indefinite" nodeType="mainSeq">
                <p:childTnLst>
                  <p:par>
                    <p:cTn id="34" fill="hold">
                      <p:stCondLst>
                        <p:cond delay="0"/>
                      </p:stCondLst>
                      <p:childTnLst>
                        <p:par>
                          <p:cTn id="35" fill="hold">
                            <p:stCondLst>
                              <p:cond delay="0"/>
                            </p:stCondLst>
                            <p:childTnLst>
                              <p:par>
                                <p:cTn id="36" nodeType="withEffect" fill="hold" presetClass="entr" presetID="10">
                                  <p:stCondLst>
                                    <p:cond delay="250"/>
                                  </p:stCondLst>
                                  <p:endCondLst>
                                    <p:cond delay="0" evt="begin">
                                      <p:tn val="36"/>
                                    </p:cond>
                                  </p:endCondLst>
                                  <p:iterate type="el">
                                    <p:tmAbs val="100"/>
                                  </p:iterate>
                                  <p:childTnLst>
                                    <p:set>
                                      <p:cBhvr>
                                        <p:cTn id="37" dur="1" fill="hold">
                                          <p:stCondLst>
                                            <p:cond delay="0"/>
                                          </p:stCondLst>
                                        </p:cTn>
                                        <p:tgtEl>
                                          <p:spTgt spid="485"/>
                                        </p:tgtEl>
                                        <p:attrNameLst>
                                          <p:attrName>style.visibility</p:attrName>
                                        </p:attrNameLst>
                                      </p:cBhvr>
                                      <p:to>
                                        <p:strVal val="visible"/>
                                      </p:to>
                                    </p:set>
                                    <p:animEffect filter="fade" transition="in">
                                      <p:cBhvr additive="repl">
                                        <p:cTn id="38" dur="5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9" name="Rectangle 12"/>
          <p:cNvSpPr/>
          <p:nvPr/>
        </p:nvSpPr>
        <p:spPr>
          <a:xfrm>
            <a:off x="0" y="0"/>
            <a:ext cx="4058280" cy="685728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tabLst>
                <a:tab algn="l" pos="0"/>
              </a:tabLst>
            </a:pPr>
            <a:endParaRPr b="0" lang="en-US" sz="1800" spc="-1" strike="noStrike">
              <a:solidFill>
                <a:srgbClr val="ffffff"/>
              </a:solidFill>
              <a:latin typeface="Calibri"/>
              <a:ea typeface="DejaVu Sans"/>
            </a:endParaRPr>
          </a:p>
        </p:txBody>
      </p:sp>
      <p:sp>
        <p:nvSpPr>
          <p:cNvPr id="490" name="PlaceHolder 1"/>
          <p:cNvSpPr>
            <a:spLocks noGrp="1"/>
          </p:cNvSpPr>
          <p:nvPr>
            <p:ph type="title"/>
          </p:nvPr>
        </p:nvSpPr>
        <p:spPr>
          <a:xfrm>
            <a:off x="838080" y="1412640"/>
            <a:ext cx="2898360" cy="4363200"/>
          </a:xfrm>
          <a:prstGeom prst="rect">
            <a:avLst/>
          </a:prstGeom>
          <a:noFill/>
          <a:ln w="0">
            <a:noFill/>
          </a:ln>
        </p:spPr>
        <p:txBody>
          <a:bodyPr lIns="0" rIns="0" tIns="0" bIns="0" anchor="t">
            <a:normAutofit/>
          </a:bodyPr>
          <a:p>
            <a:pPr indent="0">
              <a:lnSpc>
                <a:spcPct val="90000"/>
              </a:lnSpc>
              <a:buNone/>
              <a:tabLst>
                <a:tab algn="l" pos="0"/>
              </a:tabLst>
            </a:pPr>
            <a:r>
              <a:rPr b="0" lang="en-US" sz="4000" spc="-1" strike="noStrike">
                <a:solidFill>
                  <a:srgbClr val="ffffff"/>
                </a:solidFill>
                <a:latin typeface="Aptos Display"/>
              </a:rPr>
              <a:t>Network Attack Surface</a:t>
            </a:r>
            <a:br>
              <a:rPr sz="4000"/>
            </a:br>
            <a:r>
              <a:rPr b="0" lang="en-US" sz="4000" spc="-1" strike="noStrike">
                <a:solidFill>
                  <a:srgbClr val="ffffff"/>
                </a:solidFill>
                <a:latin typeface="Aptos Display"/>
              </a:rPr>
              <a:t>-Nodes</a:t>
            </a:r>
            <a:endParaRPr b="0" lang="en-US" sz="4000" spc="-1" strike="noStrike">
              <a:solidFill>
                <a:srgbClr val="000000"/>
              </a:solidFill>
              <a:latin typeface="Arial"/>
            </a:endParaRPr>
          </a:p>
        </p:txBody>
      </p:sp>
      <p:sp>
        <p:nvSpPr>
          <p:cNvPr id="491" name="PlaceHolder 2"/>
          <p:cNvSpPr>
            <a:spLocks noGrp="1"/>
          </p:cNvSpPr>
          <p:nvPr>
            <p:ph/>
          </p:nvPr>
        </p:nvSpPr>
        <p:spPr>
          <a:xfrm>
            <a:off x="4321440" y="2494080"/>
            <a:ext cx="3426480" cy="4363200"/>
          </a:xfrm>
          <a:prstGeom prst="rect">
            <a:avLst/>
          </a:prstGeom>
          <a:noFill/>
          <a:ln w="0">
            <a:noFill/>
          </a:ln>
        </p:spPr>
        <p:txBody>
          <a:bodyPr lIns="0" rIns="0" tIns="0" bIns="0" anchor="t">
            <a:normAutofit/>
          </a:bodyPr>
          <a:p>
            <a:pPr indent="0">
              <a:lnSpc>
                <a:spcPct val="90000"/>
              </a:lnSpc>
              <a:spcBef>
                <a:spcPts val="2500"/>
              </a:spcBef>
              <a:buNone/>
              <a:tabLst>
                <a:tab algn="l" pos="0"/>
              </a:tabLst>
            </a:pPr>
            <a:r>
              <a:rPr b="0" lang="en-US" sz="2000" spc="-1" strike="noStrike">
                <a:solidFill>
                  <a:srgbClr val="000000"/>
                </a:solidFill>
                <a:latin typeface="Aptos"/>
              </a:rPr>
              <a:t>Structural Attacks</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Node removal </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Node disability</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Node relation</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Node Substitution</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Node Addition</a:t>
            </a:r>
            <a:endParaRPr b="0" lang="en-US" sz="2000" spc="-1" strike="noStrike">
              <a:solidFill>
                <a:srgbClr val="000000"/>
              </a:solidFill>
              <a:latin typeface="Arial"/>
            </a:endParaRPr>
          </a:p>
          <a:p>
            <a:pPr indent="0">
              <a:lnSpc>
                <a:spcPct val="90000"/>
              </a:lnSpc>
              <a:spcBef>
                <a:spcPts val="2500"/>
              </a:spcBef>
              <a:buNone/>
              <a:tabLst>
                <a:tab algn="l" pos="0"/>
              </a:tabLst>
            </a:pPr>
            <a:endParaRPr b="0" lang="en-US" sz="2000" spc="-1" strike="noStrike">
              <a:solidFill>
                <a:srgbClr val="000000"/>
              </a:solidFill>
              <a:latin typeface="Arial"/>
            </a:endParaRPr>
          </a:p>
          <a:p>
            <a:pPr indent="0">
              <a:lnSpc>
                <a:spcPct val="90000"/>
              </a:lnSpc>
              <a:spcBef>
                <a:spcPts val="2500"/>
              </a:spcBef>
              <a:buNone/>
              <a:tabLst>
                <a:tab algn="l" pos="0"/>
              </a:tabLst>
            </a:pPr>
            <a:endParaRPr b="0" lang="en-US" sz="2000" spc="-1" strike="noStrike">
              <a:solidFill>
                <a:srgbClr val="000000"/>
              </a:solidFill>
              <a:latin typeface="Arial"/>
            </a:endParaRPr>
          </a:p>
          <a:p>
            <a:pPr indent="0">
              <a:lnSpc>
                <a:spcPct val="90000"/>
              </a:lnSpc>
              <a:spcBef>
                <a:spcPts val="2500"/>
              </a:spcBef>
              <a:buNone/>
              <a:tabLst>
                <a:tab algn="l" pos="0"/>
              </a:tabLst>
            </a:pPr>
            <a:endParaRPr b="0" lang="en-US" sz="2000" spc="-1" strike="noStrike">
              <a:solidFill>
                <a:srgbClr val="000000"/>
              </a:solidFill>
              <a:latin typeface="Arial"/>
            </a:endParaRPr>
          </a:p>
        </p:txBody>
      </p:sp>
      <p:cxnSp>
        <p:nvCxnSpPr>
          <p:cNvPr id="492" name="Straight Connector 14"/>
          <p:cNvCxnSpPr/>
          <p:nvPr/>
        </p:nvCxnSpPr>
        <p:spPr>
          <a:xfrm>
            <a:off x="8129520" y="1412280"/>
            <a:ext cx="720" cy="3658320"/>
          </a:xfrm>
          <a:prstGeom prst="straightConnector1">
            <a:avLst/>
          </a:prstGeom>
          <a:ln w="0">
            <a:solidFill>
              <a:srgbClr val="808080"/>
            </a:solidFill>
          </a:ln>
        </p:spPr>
      </p:cxnSp>
      <p:sp>
        <p:nvSpPr>
          <p:cNvPr id="493" name="PlaceHolder 3"/>
          <p:cNvSpPr>
            <a:spLocks noGrp="1"/>
          </p:cNvSpPr>
          <p:nvPr>
            <p:ph/>
          </p:nvPr>
        </p:nvSpPr>
        <p:spPr>
          <a:xfrm>
            <a:off x="8439840" y="2481120"/>
            <a:ext cx="3197160" cy="4363200"/>
          </a:xfrm>
          <a:prstGeom prst="rect">
            <a:avLst/>
          </a:prstGeom>
          <a:noFill/>
          <a:ln w="0">
            <a:noFill/>
          </a:ln>
        </p:spPr>
        <p:txBody>
          <a:bodyPr lIns="0" rIns="0" tIns="0" bIns="0" anchor="t">
            <a:normAutofit/>
          </a:bodyPr>
          <a:p>
            <a:pPr indent="0">
              <a:lnSpc>
                <a:spcPct val="90000"/>
              </a:lnSpc>
              <a:spcBef>
                <a:spcPts val="1001"/>
              </a:spcBef>
              <a:buNone/>
              <a:tabLst>
                <a:tab algn="l" pos="0"/>
              </a:tabLst>
            </a:pPr>
            <a:r>
              <a:rPr b="0" lang="en-US" sz="2000" spc="-1" strike="noStrike">
                <a:solidFill>
                  <a:srgbClr val="000000"/>
                </a:solidFill>
                <a:latin typeface="Aptos"/>
              </a:rPr>
              <a:t>Functional Attacks</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Node infection/compromise</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Node capacity reduction</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Node overload</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Node misreporting</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Node jamming or interference</a:t>
            </a:r>
            <a:endParaRPr b="0" lang="en-US" sz="2000" spc="-1" strike="noStrike">
              <a:solidFill>
                <a:srgbClr val="000000"/>
              </a:solidFill>
              <a:latin typeface="Arial"/>
            </a:endParaRPr>
          </a:p>
          <a:p>
            <a:pPr indent="0">
              <a:lnSpc>
                <a:spcPct val="90000"/>
              </a:lnSpc>
              <a:spcBef>
                <a:spcPts val="1001"/>
              </a:spcBef>
              <a:buNone/>
              <a:tabLst>
                <a:tab algn="l" pos="0"/>
              </a:tabLst>
            </a:pPr>
            <a:endParaRPr b="0" lang="en-US" sz="2000" spc="-1" strike="noStrike">
              <a:solidFill>
                <a:srgbClr val="000000"/>
              </a:solidFill>
              <a:latin typeface="Arial"/>
            </a:endParaRPr>
          </a:p>
        </p:txBody>
      </p:sp>
      <p:sp>
        <p:nvSpPr>
          <p:cNvPr id="494" name="PlaceHolder 4"/>
          <p:cNvSpPr>
            <a:spLocks noGrp="1"/>
          </p:cNvSpPr>
          <p:nvPr>
            <p:ph type="ftr" idx="44"/>
          </p:nvPr>
        </p:nvSpPr>
        <p:spPr>
          <a:xfrm>
            <a:off x="4380840" y="6356520"/>
            <a:ext cx="40582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495" name="PlaceHolder 5"/>
          <p:cNvSpPr>
            <a:spLocks noGrp="1"/>
          </p:cNvSpPr>
          <p:nvPr>
            <p:ph type="sldNum" idx="45"/>
          </p:nvPr>
        </p:nvSpPr>
        <p:spPr>
          <a:xfrm>
            <a:off x="9202320" y="6356520"/>
            <a:ext cx="215064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1DA9F72A-BDEE-4D48-AD74-630B2E393D0F}" type="slidenum">
              <a:rPr b="0" lang="en-US" sz="1200" spc="-1" strike="noStrike">
                <a:solidFill>
                  <a:srgbClr val="787878"/>
                </a:solidFill>
                <a:latin typeface="Aptos"/>
              </a:rPr>
              <a:t>7</a:t>
            </a:fld>
            <a:endParaRPr b="0" lang="en-US" sz="1200" spc="-1" strike="noStrike">
              <a:solidFill>
                <a:srgbClr val="000000"/>
              </a:solidFill>
              <a:latin typeface="Times New Roman"/>
            </a:endParaRPr>
          </a:p>
        </p:txBody>
      </p:sp>
      <p:sp>
        <p:nvSpPr>
          <p:cNvPr id="496" name="Content Placeholder 4"/>
          <p:cNvSpPr/>
          <p:nvPr/>
        </p:nvSpPr>
        <p:spPr>
          <a:xfrm>
            <a:off x="4729320" y="69120"/>
            <a:ext cx="7314480" cy="1503360"/>
          </a:xfrm>
          <a:prstGeom prst="rect">
            <a:avLst/>
          </a:prstGeom>
          <a:noFill/>
          <a:ln w="0">
            <a:noFill/>
          </a:ln>
        </p:spPr>
        <p:style>
          <a:lnRef idx="0"/>
          <a:fillRef idx="0"/>
          <a:effectRef idx="0"/>
          <a:fontRef idx="minor"/>
        </p:style>
        <p:txBody>
          <a:bodyPr lIns="90000" rIns="90000" tIns="45000" bIns="45000" anchor="t">
            <a:normAutofit/>
          </a:bodyPr>
          <a:p>
            <a:pPr>
              <a:lnSpc>
                <a:spcPct val="90000"/>
              </a:lnSpc>
              <a:spcBef>
                <a:spcPts val="2500"/>
              </a:spcBef>
              <a:tabLst>
                <a:tab algn="l" pos="0"/>
              </a:tabLst>
            </a:pPr>
            <a:r>
              <a:rPr b="0" lang="en-US" sz="2000" spc="-1" strike="noStrike">
                <a:solidFill>
                  <a:srgbClr val="000000"/>
                </a:solidFill>
                <a:latin typeface="Aptos"/>
                <a:ea typeface="DejaVu Sans"/>
              </a:rPr>
              <a:t>Strategies:  </a:t>
            </a:r>
            <a:endParaRPr b="0" lang="en-US" sz="2000" spc="-1" strike="noStrike">
              <a:solidFill>
                <a:srgbClr val="000000"/>
              </a:solidFill>
              <a:latin typeface="Arial"/>
            </a:endParaRPr>
          </a:p>
          <a:p>
            <a:pPr>
              <a:lnSpc>
                <a:spcPct val="90000"/>
              </a:lnSpc>
              <a:spcBef>
                <a:spcPts val="2500"/>
              </a:spcBef>
              <a:tabLst>
                <a:tab algn="l" pos="0"/>
              </a:tabLst>
            </a:pPr>
            <a:r>
              <a:rPr b="0" lang="en-US" sz="2000" spc="-1" strike="noStrike">
                <a:solidFill>
                  <a:srgbClr val="000000"/>
                </a:solidFill>
                <a:latin typeface="Aptos"/>
                <a:ea typeface="DejaVu Sans"/>
              </a:rPr>
              <a:t>Random or Targeting of hubs, betweenness, eigenvector, articulation, etc…  Adaptive/iterative targeting.</a:t>
            </a:r>
            <a:endParaRPr b="0" lang="en-US" sz="2000" spc="-1" strike="noStrike">
              <a:solidFill>
                <a:srgbClr val="000000"/>
              </a:solidFill>
              <a:latin typeface="Arial"/>
            </a:endParaRPr>
          </a:p>
        </p:txBody>
      </p:sp>
    </p:spTree>
  </p:cSld>
  <p:transition>
    <p:fade/>
  </p:transition>
  <p:timing>
    <p:tnLst>
      <p:par>
        <p:cTn id="39" dur="indefinite" restart="never" nodeType="tmRoot">
          <p:childTnLst>
            <p:seq>
              <p:cTn id="40" dur="indefinite" nodeType="mainSeq">
                <p:childTnLst>
                  <p:par>
                    <p:cTn id="41" fill="hold">
                      <p:stCondLst>
                        <p:cond delay="0"/>
                      </p:stCondLst>
                      <p:childTnLst>
                        <p:par>
                          <p:cTn id="42" fill="hold">
                            <p:stCondLst>
                              <p:cond delay="0"/>
                            </p:stCondLst>
                            <p:childTnLst>
                              <p:par>
                                <p:cTn id="43" nodeType="withEffect" fill="hold" presetClass="entr" presetID="10">
                                  <p:stCondLst>
                                    <p:cond delay="250"/>
                                  </p:stCondLst>
                                  <p:iterate type="el">
                                    <p:tmAbs val="100"/>
                                  </p:iterate>
                                  <p:childTnLst>
                                    <p:set>
                                      <p:cBhvr>
                                        <p:cTn id="44" dur="1" fill="hold">
                                          <p:stCondLst>
                                            <p:cond delay="0"/>
                                          </p:stCondLst>
                                        </p:cTn>
                                        <p:tgtEl>
                                          <p:spTgt spid="491"/>
                                        </p:tgtEl>
                                        <p:attrNameLst>
                                          <p:attrName>style.visibility</p:attrName>
                                        </p:attrNameLst>
                                      </p:cBhvr>
                                      <p:to>
                                        <p:strVal val="visible"/>
                                      </p:to>
                                    </p:set>
                                    <p:animEffect filter="fade" transition="in">
                                      <p:cBhvr additive="repl">
                                        <p:cTn id="45" dur="500"/>
                                        <p:tgtEl>
                                          <p:spTgt spid="491"/>
                                        </p:tgtEl>
                                      </p:cBhvr>
                                    </p:animEffect>
                                  </p:childTnLst>
                                </p:cTn>
                              </p:par>
                              <p:par>
                                <p:cTn id="46" nodeType="withEffect" fill="hold" presetClass="entr" presetID="10">
                                  <p:stCondLst>
                                    <p:cond delay="250"/>
                                  </p:stCondLst>
                                  <p:iterate type="el">
                                    <p:tmAbs val="100"/>
                                  </p:iterate>
                                  <p:childTnLst>
                                    <p:set>
                                      <p:cBhvr>
                                        <p:cTn id="47" dur="1" fill="hold">
                                          <p:stCondLst>
                                            <p:cond delay="0"/>
                                          </p:stCondLst>
                                        </p:cTn>
                                        <p:tgtEl>
                                          <p:spTgt spid="496"/>
                                        </p:tgtEl>
                                        <p:attrNameLst>
                                          <p:attrName>style.visibility</p:attrName>
                                        </p:attrNameLst>
                                      </p:cBhvr>
                                      <p:to>
                                        <p:strVal val="visible"/>
                                      </p:to>
                                    </p:set>
                                    <p:animEffect filter="fade" transition="in">
                                      <p:cBhvr additive="repl">
                                        <p:cTn id="48" dur="500"/>
                                        <p:tgtEl>
                                          <p:spTgt spid="4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7" name="Rectangle 12"/>
          <p:cNvSpPr/>
          <p:nvPr/>
        </p:nvSpPr>
        <p:spPr>
          <a:xfrm>
            <a:off x="0" y="0"/>
            <a:ext cx="4058280" cy="685728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tabLst>
                <a:tab algn="l" pos="0"/>
              </a:tabLst>
            </a:pPr>
            <a:endParaRPr b="0" lang="en-US" sz="1800" spc="-1" strike="noStrike">
              <a:solidFill>
                <a:srgbClr val="ffffff"/>
              </a:solidFill>
              <a:latin typeface="Calibri"/>
              <a:ea typeface="DejaVu Sans"/>
            </a:endParaRPr>
          </a:p>
        </p:txBody>
      </p:sp>
      <p:sp>
        <p:nvSpPr>
          <p:cNvPr id="498" name="PlaceHolder 1"/>
          <p:cNvSpPr>
            <a:spLocks noGrp="1"/>
          </p:cNvSpPr>
          <p:nvPr>
            <p:ph type="title"/>
          </p:nvPr>
        </p:nvSpPr>
        <p:spPr>
          <a:xfrm>
            <a:off x="838080" y="1412640"/>
            <a:ext cx="2898360" cy="4363200"/>
          </a:xfrm>
          <a:prstGeom prst="rect">
            <a:avLst/>
          </a:prstGeom>
          <a:noFill/>
          <a:ln w="0">
            <a:noFill/>
          </a:ln>
        </p:spPr>
        <p:txBody>
          <a:bodyPr lIns="0" rIns="0" tIns="0" bIns="0" anchor="t">
            <a:normAutofit/>
          </a:bodyPr>
          <a:p>
            <a:pPr indent="0">
              <a:lnSpc>
                <a:spcPct val="90000"/>
              </a:lnSpc>
              <a:buNone/>
              <a:tabLst>
                <a:tab algn="l" pos="0"/>
              </a:tabLst>
            </a:pPr>
            <a:r>
              <a:rPr b="0" lang="en-US" sz="4000" spc="-1" strike="noStrike">
                <a:solidFill>
                  <a:srgbClr val="ffffff"/>
                </a:solidFill>
                <a:latin typeface="Aptos Display"/>
              </a:rPr>
              <a:t>Network Attack Surface</a:t>
            </a:r>
            <a:br>
              <a:rPr sz="4000"/>
            </a:br>
            <a:r>
              <a:rPr b="0" lang="en-US" sz="4000" spc="-1" strike="noStrike">
                <a:solidFill>
                  <a:srgbClr val="ffffff"/>
                </a:solidFill>
                <a:latin typeface="Aptos Display"/>
              </a:rPr>
              <a:t>-Edges</a:t>
            </a:r>
            <a:endParaRPr b="0" lang="en-US" sz="4000" spc="-1" strike="noStrike">
              <a:solidFill>
                <a:srgbClr val="000000"/>
              </a:solidFill>
              <a:latin typeface="Arial"/>
            </a:endParaRPr>
          </a:p>
        </p:txBody>
      </p:sp>
      <p:sp>
        <p:nvSpPr>
          <p:cNvPr id="499" name="PlaceHolder 2"/>
          <p:cNvSpPr>
            <a:spLocks noGrp="1"/>
          </p:cNvSpPr>
          <p:nvPr>
            <p:ph/>
          </p:nvPr>
        </p:nvSpPr>
        <p:spPr>
          <a:xfrm>
            <a:off x="4382280" y="2494080"/>
            <a:ext cx="3426480" cy="4363200"/>
          </a:xfrm>
          <a:prstGeom prst="rect">
            <a:avLst/>
          </a:prstGeom>
          <a:noFill/>
          <a:ln w="0">
            <a:noFill/>
          </a:ln>
        </p:spPr>
        <p:txBody>
          <a:bodyPr lIns="0" rIns="0" tIns="0" bIns="0" anchor="t">
            <a:normAutofit/>
          </a:bodyPr>
          <a:p>
            <a:pPr indent="0">
              <a:lnSpc>
                <a:spcPct val="90000"/>
              </a:lnSpc>
              <a:spcBef>
                <a:spcPts val="2500"/>
              </a:spcBef>
              <a:buNone/>
              <a:tabLst>
                <a:tab algn="l" pos="0"/>
              </a:tabLst>
            </a:pPr>
            <a:r>
              <a:rPr b="0" lang="en-US" sz="2000" spc="-1" strike="noStrike">
                <a:solidFill>
                  <a:srgbClr val="000000"/>
                </a:solidFill>
                <a:latin typeface="Aptos"/>
              </a:rPr>
              <a:t>Structural Attacks</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Edge removal</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Edge addition</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Edge rewiring</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Edge suppression</a:t>
            </a:r>
            <a:endParaRPr b="0" lang="en-US" sz="2000" spc="-1" strike="noStrike">
              <a:solidFill>
                <a:srgbClr val="000000"/>
              </a:solidFill>
              <a:latin typeface="Arial"/>
            </a:endParaRPr>
          </a:p>
          <a:p>
            <a:pPr marL="228600" indent="-228600">
              <a:lnSpc>
                <a:spcPct val="90000"/>
              </a:lnSpc>
              <a:spcBef>
                <a:spcPts val="2500"/>
              </a:spcBef>
              <a:buClr>
                <a:srgbClr val="000000"/>
              </a:buClr>
              <a:buFont typeface="Arial"/>
              <a:buChar char="•"/>
              <a:tabLst>
                <a:tab algn="l" pos="0"/>
              </a:tabLst>
            </a:pPr>
            <a:r>
              <a:rPr b="0" lang="en-US" sz="2000" spc="-1" strike="noStrike">
                <a:solidFill>
                  <a:srgbClr val="000000"/>
                </a:solidFill>
                <a:latin typeface="Aptos"/>
              </a:rPr>
              <a:t>Edge duplication/shadowing</a:t>
            </a:r>
            <a:endParaRPr b="0" lang="en-US" sz="20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p:txBody>
      </p:sp>
      <p:cxnSp>
        <p:nvCxnSpPr>
          <p:cNvPr id="500" name="Straight Connector 14"/>
          <p:cNvCxnSpPr/>
          <p:nvPr/>
        </p:nvCxnSpPr>
        <p:spPr>
          <a:xfrm>
            <a:off x="8129520" y="1412280"/>
            <a:ext cx="720" cy="3658320"/>
          </a:xfrm>
          <a:prstGeom prst="straightConnector1">
            <a:avLst/>
          </a:prstGeom>
          <a:ln w="0">
            <a:solidFill>
              <a:srgbClr val="808080"/>
            </a:solidFill>
          </a:ln>
        </p:spPr>
      </p:cxnSp>
      <p:sp>
        <p:nvSpPr>
          <p:cNvPr id="501" name="PlaceHolder 3"/>
          <p:cNvSpPr>
            <a:spLocks noGrp="1"/>
          </p:cNvSpPr>
          <p:nvPr>
            <p:ph/>
          </p:nvPr>
        </p:nvSpPr>
        <p:spPr>
          <a:xfrm>
            <a:off x="8450280" y="2471040"/>
            <a:ext cx="3197160" cy="4363200"/>
          </a:xfrm>
          <a:prstGeom prst="rect">
            <a:avLst/>
          </a:prstGeom>
          <a:noFill/>
          <a:ln w="0">
            <a:noFill/>
          </a:ln>
        </p:spPr>
        <p:txBody>
          <a:bodyPr lIns="0" rIns="0" tIns="0" bIns="0" anchor="t">
            <a:normAutofit/>
          </a:bodyPr>
          <a:p>
            <a:pPr indent="0">
              <a:lnSpc>
                <a:spcPct val="90000"/>
              </a:lnSpc>
              <a:spcBef>
                <a:spcPts val="1001"/>
              </a:spcBef>
              <a:buNone/>
              <a:tabLst>
                <a:tab algn="l" pos="0"/>
              </a:tabLst>
            </a:pPr>
            <a:r>
              <a:rPr b="0" lang="en-US" sz="2000" spc="-1" strike="noStrike">
                <a:solidFill>
                  <a:srgbClr val="000000"/>
                </a:solidFill>
                <a:latin typeface="Aptos"/>
              </a:rPr>
              <a:t>Functional Attacks</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Edge throttling/rate limiting</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Edge degradation</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Edge overload</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Edge capacity expansion</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Edge direction swap</a:t>
            </a:r>
            <a:endParaRPr b="0" lang="en-US" sz="2000" spc="-1" strike="noStrike">
              <a:solidFill>
                <a:srgbClr val="000000"/>
              </a:solidFill>
              <a:latin typeface="Arial"/>
            </a:endParaRPr>
          </a:p>
          <a:p>
            <a:pPr marL="228600" indent="-228600">
              <a:lnSpc>
                <a:spcPct val="90000"/>
              </a:lnSpc>
              <a:spcBef>
                <a:spcPts val="1001"/>
              </a:spcBef>
              <a:buClr>
                <a:srgbClr val="000000"/>
              </a:buClr>
              <a:buFont typeface="Arial"/>
              <a:buChar char="•"/>
              <a:tabLst>
                <a:tab algn="l" pos="0"/>
              </a:tabLst>
            </a:pPr>
            <a:r>
              <a:rPr b="0" lang="en-US" sz="2000" spc="-1" strike="noStrike">
                <a:solidFill>
                  <a:srgbClr val="000000"/>
                </a:solidFill>
                <a:latin typeface="Aptos"/>
              </a:rPr>
              <a:t>Edge poisoning</a:t>
            </a:r>
            <a:endParaRPr b="0" lang="en-US" sz="2000" spc="-1" strike="noStrike">
              <a:solidFill>
                <a:srgbClr val="000000"/>
              </a:solidFill>
              <a:latin typeface="Arial"/>
            </a:endParaRPr>
          </a:p>
          <a:p>
            <a:pPr indent="0">
              <a:lnSpc>
                <a:spcPct val="90000"/>
              </a:lnSpc>
              <a:spcBef>
                <a:spcPts val="1001"/>
              </a:spcBef>
              <a:buNone/>
              <a:tabLst>
                <a:tab algn="l" pos="0"/>
              </a:tabLst>
            </a:pPr>
            <a:endParaRPr b="0" lang="en-US" sz="2000" spc="-1" strike="noStrike">
              <a:solidFill>
                <a:srgbClr val="000000"/>
              </a:solidFill>
              <a:latin typeface="Arial"/>
            </a:endParaRPr>
          </a:p>
        </p:txBody>
      </p:sp>
      <p:sp>
        <p:nvSpPr>
          <p:cNvPr id="502" name="PlaceHolder 4"/>
          <p:cNvSpPr>
            <a:spLocks noGrp="1"/>
          </p:cNvSpPr>
          <p:nvPr>
            <p:ph type="ftr" idx="46"/>
          </p:nvPr>
        </p:nvSpPr>
        <p:spPr>
          <a:xfrm>
            <a:off x="4380840" y="6356520"/>
            <a:ext cx="40582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03" name="PlaceHolder 5"/>
          <p:cNvSpPr>
            <a:spLocks noGrp="1"/>
          </p:cNvSpPr>
          <p:nvPr>
            <p:ph type="sldNum" idx="47"/>
          </p:nvPr>
        </p:nvSpPr>
        <p:spPr>
          <a:xfrm>
            <a:off x="9202320" y="6356520"/>
            <a:ext cx="215064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E665E70A-6881-4BCC-AA80-405F1BBD1BCB}" type="slidenum">
              <a:rPr b="0" lang="en-US" sz="1200" spc="-1" strike="noStrike">
                <a:solidFill>
                  <a:srgbClr val="787878"/>
                </a:solidFill>
                <a:latin typeface="Aptos"/>
              </a:rPr>
              <a:t>8</a:t>
            </a:fld>
            <a:endParaRPr b="0" lang="en-US" sz="1200" spc="-1" strike="noStrike">
              <a:solidFill>
                <a:srgbClr val="000000"/>
              </a:solidFill>
              <a:latin typeface="Times New Roman"/>
            </a:endParaRPr>
          </a:p>
        </p:txBody>
      </p:sp>
      <p:sp>
        <p:nvSpPr>
          <p:cNvPr id="504" name="Content Placeholder 4"/>
          <p:cNvSpPr/>
          <p:nvPr/>
        </p:nvSpPr>
        <p:spPr>
          <a:xfrm>
            <a:off x="4729320" y="69120"/>
            <a:ext cx="7314480" cy="1503360"/>
          </a:xfrm>
          <a:prstGeom prst="rect">
            <a:avLst/>
          </a:prstGeom>
          <a:noFill/>
          <a:ln w="0">
            <a:noFill/>
          </a:ln>
        </p:spPr>
        <p:style>
          <a:lnRef idx="0"/>
          <a:fillRef idx="0"/>
          <a:effectRef idx="0"/>
          <a:fontRef idx="minor"/>
        </p:style>
        <p:txBody>
          <a:bodyPr lIns="90000" rIns="90000" tIns="45000" bIns="45000" anchor="t">
            <a:normAutofit/>
          </a:bodyPr>
          <a:p>
            <a:pPr>
              <a:lnSpc>
                <a:spcPct val="90000"/>
              </a:lnSpc>
              <a:spcBef>
                <a:spcPts val="2500"/>
              </a:spcBef>
              <a:tabLst>
                <a:tab algn="l" pos="0"/>
              </a:tabLst>
            </a:pPr>
            <a:r>
              <a:rPr b="0" lang="en-US" sz="2000" spc="-1" strike="noStrike">
                <a:solidFill>
                  <a:srgbClr val="000000"/>
                </a:solidFill>
                <a:latin typeface="Aptos"/>
                <a:ea typeface="DejaVu Sans"/>
              </a:rPr>
              <a:t>Strategies:  </a:t>
            </a:r>
            <a:endParaRPr b="0" lang="en-US" sz="2000" spc="-1" strike="noStrike">
              <a:solidFill>
                <a:srgbClr val="000000"/>
              </a:solidFill>
              <a:latin typeface="Arial"/>
            </a:endParaRPr>
          </a:p>
          <a:p>
            <a:pPr>
              <a:lnSpc>
                <a:spcPct val="90000"/>
              </a:lnSpc>
              <a:spcBef>
                <a:spcPts val="2500"/>
              </a:spcBef>
              <a:tabLst>
                <a:tab algn="l" pos="0"/>
              </a:tabLst>
            </a:pPr>
            <a:r>
              <a:rPr b="0" lang="en-US" sz="2000" spc="-1" strike="noStrike">
                <a:solidFill>
                  <a:srgbClr val="000000"/>
                </a:solidFill>
                <a:latin typeface="Aptos"/>
                <a:ea typeface="DejaVu Sans"/>
              </a:rPr>
              <a:t>Random or Targeting betweenness, bridges, minimum conductance cuts, inter-community edges, shortest path cuts.</a:t>
            </a:r>
            <a:endParaRPr b="0" lang="en-US" sz="2000" spc="-1" strike="noStrike">
              <a:solidFill>
                <a:srgbClr val="000000"/>
              </a:solidFill>
              <a:latin typeface="Arial"/>
            </a:endParaRPr>
          </a:p>
        </p:txBody>
      </p:sp>
    </p:spTree>
  </p:cSld>
  <p:transition>
    <p:fade/>
  </p:transition>
  <p:timing>
    <p:tnLst>
      <p:par>
        <p:cTn id="49" dur="indefinite" restart="never" nodeType="tmRoot">
          <p:childTnLst>
            <p:seq>
              <p:cTn id="50" dur="indefinite" nodeType="mainSeq">
                <p:childTnLst>
                  <p:par>
                    <p:cTn id="51" fill="hold">
                      <p:stCondLst>
                        <p:cond delay="0"/>
                      </p:stCondLst>
                      <p:childTnLst>
                        <p:par>
                          <p:cTn id="52" fill="hold">
                            <p:stCondLst>
                              <p:cond delay="0"/>
                            </p:stCondLst>
                            <p:childTnLst>
                              <p:par>
                                <p:cTn id="53" nodeType="withEffect" fill="hold" presetClass="entr" presetID="10">
                                  <p:stCondLst>
                                    <p:cond delay="250"/>
                                  </p:stCondLst>
                                  <p:iterate type="el">
                                    <p:tmAbs val="100"/>
                                  </p:iterate>
                                  <p:childTnLst>
                                    <p:set>
                                      <p:cBhvr>
                                        <p:cTn id="54" dur="1" fill="hold">
                                          <p:stCondLst>
                                            <p:cond delay="0"/>
                                          </p:stCondLst>
                                        </p:cTn>
                                        <p:tgtEl>
                                          <p:spTgt spid="499"/>
                                        </p:tgtEl>
                                        <p:attrNameLst>
                                          <p:attrName>style.visibility</p:attrName>
                                        </p:attrNameLst>
                                      </p:cBhvr>
                                      <p:to>
                                        <p:strVal val="visible"/>
                                      </p:to>
                                    </p:set>
                                    <p:animEffect filter="fade" transition="in">
                                      <p:cBhvr additive="repl">
                                        <p:cTn id="55" dur="500"/>
                                        <p:tgtEl>
                                          <p:spTgt spid="499"/>
                                        </p:tgtEl>
                                      </p:cBhvr>
                                    </p:animEffect>
                                  </p:childTnLst>
                                </p:cTn>
                              </p:par>
                              <p:par>
                                <p:cTn id="56" nodeType="withEffect" fill="hold" presetClass="entr" presetID="10">
                                  <p:stCondLst>
                                    <p:cond delay="250"/>
                                  </p:stCondLst>
                                  <p:iterate type="el">
                                    <p:tmAbs val="100"/>
                                  </p:iterate>
                                  <p:childTnLst>
                                    <p:set>
                                      <p:cBhvr>
                                        <p:cTn id="57" dur="1" fill="hold">
                                          <p:stCondLst>
                                            <p:cond delay="0"/>
                                          </p:stCondLst>
                                        </p:cTn>
                                        <p:tgtEl>
                                          <p:spTgt spid="504"/>
                                        </p:tgtEl>
                                        <p:attrNameLst>
                                          <p:attrName>style.visibility</p:attrName>
                                        </p:attrNameLst>
                                      </p:cBhvr>
                                      <p:to>
                                        <p:strVal val="visible"/>
                                      </p:to>
                                    </p:set>
                                    <p:animEffect filter="fade" transition="in">
                                      <p:cBhvr additive="repl">
                                        <p:cTn id="58" dur="500"/>
                                        <p:tgtEl>
                                          <p:spTgt spid="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505" name="Rectangle 28"/>
          <p:cNvSpPr/>
          <p:nvPr/>
        </p:nvSpPr>
        <p:spPr>
          <a:xfrm>
            <a:off x="0" y="0"/>
            <a:ext cx="1219140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a typeface="DejaVu Sans"/>
            </a:endParaRPr>
          </a:p>
        </p:txBody>
      </p:sp>
      <p:sp>
        <p:nvSpPr>
          <p:cNvPr id="506" name="Rectangle 30"/>
          <p:cNvSpPr/>
          <p:nvPr/>
        </p:nvSpPr>
        <p:spPr>
          <a:xfrm flipH="1" rot="5400000">
            <a:off x="-1418040" y="1418040"/>
            <a:ext cx="6874920" cy="4039920"/>
          </a:xfrm>
          <a:prstGeom prst="rect">
            <a:avLst/>
          </a:prstGeom>
          <a:gradFill rotWithShape="0">
            <a:gsLst>
              <a:gs pos="0">
                <a:srgbClr val="000000"/>
              </a:gs>
              <a:gs pos="100000">
                <a:srgbClr val="104862"/>
              </a:gs>
            </a:gsLst>
            <a:lin ang="13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a typeface="DejaVu Sans"/>
            </a:endParaRPr>
          </a:p>
        </p:txBody>
      </p:sp>
      <p:sp>
        <p:nvSpPr>
          <p:cNvPr id="507" name="Rectangle 32"/>
          <p:cNvSpPr/>
          <p:nvPr/>
        </p:nvSpPr>
        <p:spPr>
          <a:xfrm rot="16200000">
            <a:off x="-158040" y="2661120"/>
            <a:ext cx="4354920" cy="4037760"/>
          </a:xfrm>
          <a:prstGeom prst="rect">
            <a:avLst/>
          </a:prstGeom>
          <a:gradFill rotWithShape="0">
            <a:gsLst>
              <a:gs pos="0">
                <a:srgbClr val="156082">
                  <a:alpha val="50196"/>
                </a:srgbClr>
              </a:gs>
              <a:gs pos="100000">
                <a:srgbClr val="0b3041">
                  <a:alpha val="0"/>
                </a:srgbClr>
              </a:gs>
            </a:gsLst>
            <a:lin ang="6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a typeface="DejaVu Sans"/>
            </a:endParaRPr>
          </a:p>
        </p:txBody>
      </p:sp>
      <p:sp>
        <p:nvSpPr>
          <p:cNvPr id="508" name="Rectangle 34"/>
          <p:cNvSpPr/>
          <p:nvPr/>
        </p:nvSpPr>
        <p:spPr>
          <a:xfrm flipH="1" rot="16200000">
            <a:off x="-1180440" y="1637640"/>
            <a:ext cx="6856920" cy="3580560"/>
          </a:xfrm>
          <a:prstGeom prst="rect">
            <a:avLst/>
          </a:prstGeom>
          <a:gradFill rotWithShape="0">
            <a:gsLst>
              <a:gs pos="31000">
                <a:srgbClr val="156082">
                  <a:alpha val="0"/>
                </a:srgbClr>
              </a:gs>
              <a:gs pos="100000">
                <a:srgbClr val="000000">
                  <a:alpha val="59215"/>
                </a:srgbClr>
              </a:gs>
            </a:gsLst>
            <a:lin ang="186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a typeface="DejaVu Sans"/>
            </a:endParaRPr>
          </a:p>
        </p:txBody>
      </p:sp>
      <p:sp>
        <p:nvSpPr>
          <p:cNvPr id="509" name="Freeform: Shape 36"/>
          <p:cNvSpPr/>
          <p:nvPr/>
        </p:nvSpPr>
        <p:spPr>
          <a:xfrm rot="6097800">
            <a:off x="-745920" y="1200600"/>
            <a:ext cx="4807440" cy="4087800"/>
          </a:xfrm>
          <a:custGeom>
            <a:avLst/>
            <a:gdLst>
              <a:gd name="textAreaLeft" fmla="*/ 0 w 4807440"/>
              <a:gd name="textAreaRight" fmla="*/ 4808160 w 4807440"/>
              <a:gd name="textAreaTop" fmla="*/ 0 h 4087800"/>
              <a:gd name="textAreaBottom" fmla="*/ 4088520 h 4087800"/>
            </a:gdLst>
            <a:ahLst/>
            <a:rect l="textAreaLeft" t="textAreaTop" r="textAreaRight" b="textAreaBottom"/>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rotWithShape="0">
            <a:gsLst>
              <a:gs pos="39000">
                <a:srgbClr val="46b1e1">
                  <a:alpha val="0"/>
                </a:srgbClr>
              </a:gs>
              <a:gs pos="100000">
                <a:srgbClr val="104862">
                  <a:alpha val="26274"/>
                </a:srgbClr>
              </a:gs>
            </a:gsLst>
            <a:lin ang="3096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a typeface="DejaVu Sans"/>
            </a:endParaRPr>
          </a:p>
        </p:txBody>
      </p:sp>
      <p:sp>
        <p:nvSpPr>
          <p:cNvPr id="510" name="PlaceHolder 1"/>
          <p:cNvSpPr>
            <a:spLocks noGrp="1"/>
          </p:cNvSpPr>
          <p:nvPr>
            <p:ph type="title"/>
          </p:nvPr>
        </p:nvSpPr>
        <p:spPr>
          <a:xfrm>
            <a:off x="659880" y="2766960"/>
            <a:ext cx="2880000" cy="3071160"/>
          </a:xfrm>
          <a:prstGeom prst="rect">
            <a:avLst/>
          </a:prstGeom>
          <a:noFill/>
          <a:ln w="0">
            <a:noFill/>
          </a:ln>
        </p:spPr>
        <p:txBody>
          <a:bodyPr lIns="90000" rIns="90000" tIns="45000" bIns="45000" anchor="t">
            <a:normAutofit/>
          </a:bodyPr>
          <a:p>
            <a:pPr indent="0">
              <a:lnSpc>
                <a:spcPct val="90000"/>
              </a:lnSpc>
              <a:buNone/>
              <a:tabLst>
                <a:tab algn="l" pos="0"/>
              </a:tabLst>
            </a:pPr>
            <a:r>
              <a:rPr b="0" lang="en-US" sz="3400" spc="-1" strike="noStrike">
                <a:solidFill>
                  <a:srgbClr val="ffffff"/>
                </a:solidFill>
                <a:latin typeface="Aptos Display"/>
              </a:rPr>
              <a:t>Topology‑Level &amp; Higher‑Order Attacks</a:t>
            </a:r>
            <a:br>
              <a:rPr sz="3400"/>
            </a:br>
            <a:endParaRPr b="0" lang="en-US" sz="3400" spc="-1" strike="noStrike">
              <a:solidFill>
                <a:srgbClr val="000000"/>
              </a:solidFill>
              <a:latin typeface="Arial"/>
            </a:endParaRPr>
          </a:p>
        </p:txBody>
      </p:sp>
      <p:graphicFrame>
        <p:nvGraphicFramePr>
          <p:cNvPr id="511" name="Content Placeholder 5"/>
          <p:cNvGraphicFramePr/>
          <p:nvPr/>
        </p:nvGraphicFramePr>
        <p:xfrm>
          <a:off x="4667400" y="467280"/>
          <a:ext cx="6895440" cy="6280560"/>
        </p:xfrm>
        <a:graphic>
          <a:graphicData uri="http://schemas.openxmlformats.org/drawingml/2006/table">
            <a:tbl>
              <a:tblPr/>
              <a:tblGrid>
                <a:gridCol w="6895800"/>
              </a:tblGrid>
              <a:tr h="5923440">
                <a:tc>
                  <a:txBody>
                    <a:bodyPr lIns="149760" rIns="102960" anchor="t">
                      <a:noAutofit/>
                    </a:bodyPr>
                    <a:p>
                      <a:pPr>
                        <a:lnSpc>
                          <a:spcPts val="1500"/>
                        </a:lnSpc>
                      </a:pPr>
                      <a:r>
                        <a:rPr b="1" lang="en-US" sz="1800" spc="-1" strike="noStrike">
                          <a:solidFill>
                            <a:srgbClr val="000000"/>
                          </a:solidFill>
                          <a:latin typeface="Segoe UI"/>
                        </a:rPr>
                        <a:t>Topology Alteration Attacks</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Global rewiring</a:t>
                      </a:r>
                      <a:r>
                        <a:rPr b="0" lang="en-US" sz="1800" spc="-1" strike="noStrike">
                          <a:solidFill>
                            <a:srgbClr val="000000"/>
                          </a:solidFill>
                          <a:latin typeface="Segoe UI"/>
                        </a:rPr>
                        <a:t> (destroys clustering or small‑world structure)</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Modularity disruption</a:t>
                      </a:r>
                      <a:r>
                        <a:rPr b="0" lang="en-US" sz="1800" spc="-1" strike="noStrike">
                          <a:solidFill>
                            <a:srgbClr val="000000"/>
                          </a:solidFill>
                          <a:latin typeface="Segoe UI"/>
                        </a:rPr>
                        <a:t> (break communities or artificially intensify them)</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Geometry distortion</a:t>
                      </a:r>
                      <a:r>
                        <a:rPr b="0" lang="en-US" sz="1800" spc="-1" strike="noStrike">
                          <a:solidFill>
                            <a:srgbClr val="000000"/>
                          </a:solidFill>
                          <a:latin typeface="Segoe UI"/>
                        </a:rPr>
                        <a:t> (in spatial networks)</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Multilayer attack propagation</a:t>
                      </a:r>
                      <a:r>
                        <a:rPr b="0" lang="en-US" sz="1800" spc="-1" strike="noStrike">
                          <a:solidFill>
                            <a:srgbClr val="000000"/>
                          </a:solidFill>
                          <a:latin typeface="Segoe UI"/>
                        </a:rPr>
                        <a:t> (remove dependencies in interdependent networks)</a:t>
                      </a:r>
                      <a:endParaRPr b="0" lang="en-US" sz="1800" spc="-1" strike="noStrike">
                        <a:solidFill>
                          <a:srgbClr val="000000"/>
                        </a:solidFill>
                        <a:latin typeface="Arial"/>
                      </a:endParaRPr>
                    </a:p>
                    <a:p>
                      <a:pPr>
                        <a:lnSpc>
                          <a:spcPts val="1500"/>
                        </a:lnSpc>
                      </a:pPr>
                      <a:endParaRPr b="0" lang="en-US" sz="1800" spc="-1" strike="noStrike">
                        <a:solidFill>
                          <a:srgbClr val="000000"/>
                        </a:solidFill>
                        <a:latin typeface="Arial"/>
                      </a:endParaRPr>
                    </a:p>
                    <a:p>
                      <a:pPr>
                        <a:lnSpc>
                          <a:spcPts val="1500"/>
                        </a:lnSpc>
                      </a:pPr>
                      <a:r>
                        <a:rPr b="1" lang="en-US" sz="1800" spc="-1" strike="noStrike">
                          <a:solidFill>
                            <a:srgbClr val="000000"/>
                          </a:solidFill>
                          <a:latin typeface="Segoe UI"/>
                        </a:rPr>
                        <a:t>Flow‑Level or Functional Attacks</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Denial‑of‑Service at cut bottlenecks</a:t>
                      </a:r>
                      <a:r>
                        <a:rPr b="0" lang="en-US" sz="1800" spc="-1" strike="noStrike">
                          <a:solidFill>
                            <a:srgbClr val="000000"/>
                          </a:solidFill>
                          <a:latin typeface="Segoe UI"/>
                        </a:rPr>
                        <a:t> (conductance‑relevant)</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Cascade initiation</a:t>
                      </a:r>
                      <a:r>
                        <a:rPr b="0" lang="en-US" sz="1800" spc="-1" strike="noStrike">
                          <a:solidFill>
                            <a:srgbClr val="000000"/>
                          </a:solidFill>
                          <a:latin typeface="Segoe UI"/>
                        </a:rPr>
                        <a:t> (trigger load redistribution cascades)</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Routing manipulation</a:t>
                      </a:r>
                      <a:r>
                        <a:rPr b="0" lang="en-US" sz="1800" spc="-1" strike="noStrike">
                          <a:solidFill>
                            <a:srgbClr val="000000"/>
                          </a:solidFill>
                          <a:latin typeface="Segoe UI"/>
                        </a:rPr>
                        <a:t> (force traffic through fragile parts)</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Diffusion sabotage</a:t>
                      </a:r>
                      <a:r>
                        <a:rPr b="0" lang="en-US" sz="1800" spc="-1" strike="noStrike">
                          <a:solidFill>
                            <a:srgbClr val="000000"/>
                          </a:solidFill>
                          <a:latin typeface="Segoe UI"/>
                        </a:rPr>
                        <a:t> (slow or redirect diffusion processes)</a:t>
                      </a:r>
                      <a:endParaRPr b="0" lang="en-US" sz="1800" spc="-1" strike="noStrike">
                        <a:solidFill>
                          <a:srgbClr val="000000"/>
                        </a:solidFill>
                        <a:latin typeface="Arial"/>
                      </a:endParaRPr>
                    </a:p>
                    <a:p>
                      <a:pPr>
                        <a:lnSpc>
                          <a:spcPts val="1500"/>
                        </a:lnSpc>
                      </a:pPr>
                      <a:endParaRPr b="0" lang="en-US" sz="1800" spc="-1" strike="noStrike">
                        <a:solidFill>
                          <a:srgbClr val="000000"/>
                        </a:solidFill>
                        <a:latin typeface="Arial"/>
                      </a:endParaRPr>
                    </a:p>
                    <a:p>
                      <a:pPr>
                        <a:lnSpc>
                          <a:spcPts val="1500"/>
                        </a:lnSpc>
                      </a:pPr>
                      <a:r>
                        <a:rPr b="1" lang="en-US" sz="1800" spc="-1" strike="noStrike">
                          <a:solidFill>
                            <a:srgbClr val="000000"/>
                          </a:solidFill>
                          <a:latin typeface="Segoe UI"/>
                        </a:rPr>
                        <a:t>Data / Information Attacks (important for algorithmic networks)</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Graph poisoning attacks</a:t>
                      </a:r>
                      <a:r>
                        <a:rPr b="0" lang="en-US" sz="1800" spc="-1" strike="noStrike">
                          <a:solidFill>
                            <a:srgbClr val="000000"/>
                          </a:solidFill>
                          <a:latin typeface="Segoe UI"/>
                        </a:rPr>
                        <a:t> (on GNNs or community detection)</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Graph inference attacks</a:t>
                      </a:r>
                      <a:r>
                        <a:rPr b="0" lang="en-US" sz="1800" spc="-1" strike="noStrike">
                          <a:solidFill>
                            <a:srgbClr val="000000"/>
                          </a:solidFill>
                          <a:latin typeface="Segoe UI"/>
                        </a:rPr>
                        <a:t> (privacy leakage, structural reconstruction)</a:t>
                      </a:r>
                      <a:endParaRPr b="0" lang="en-US" sz="1800" spc="-1" strike="noStrike">
                        <a:solidFill>
                          <a:srgbClr val="000000"/>
                        </a:solidFill>
                        <a:latin typeface="Arial"/>
                      </a:endParaRPr>
                    </a:p>
                    <a:p>
                      <a:pPr marL="285840" indent="-285840">
                        <a:lnSpc>
                          <a:spcPts val="1500"/>
                        </a:lnSpc>
                        <a:buClr>
                          <a:srgbClr val="000000"/>
                        </a:buClr>
                        <a:buFont typeface="Arial"/>
                        <a:buChar char="•"/>
                      </a:pPr>
                      <a:r>
                        <a:rPr b="1" lang="en-US" sz="1800" spc="-1" strike="noStrike">
                          <a:solidFill>
                            <a:srgbClr val="000000"/>
                          </a:solidFill>
                          <a:latin typeface="Segoe UI"/>
                        </a:rPr>
                        <a:t>Contagion seeding strategies</a:t>
                      </a:r>
                      <a:r>
                        <a:rPr b="0" lang="en-US" sz="1800" spc="-1" strike="noStrike">
                          <a:solidFill>
                            <a:srgbClr val="000000"/>
                          </a:solidFill>
                          <a:latin typeface="Segoe UI"/>
                        </a:rPr>
                        <a:t> (high‑degree vs high‑k‑core seeding)</a:t>
                      </a:r>
                      <a:endParaRPr b="0" lang="en-US" sz="1800" spc="-1" strike="noStrike">
                        <a:solidFill>
                          <a:srgbClr val="000000"/>
                        </a:solidFill>
                        <a:latin typeface="Arial"/>
                      </a:endParaRPr>
                    </a:p>
                  </a:txBody>
                  <a:tcPr anchor="t" marL="149760" marR="102960">
                    <a:lnL w="18720">
                      <a:solidFill>
                        <a:srgbClr val="000000"/>
                      </a:solidFill>
                      <a:prstDash val="solid"/>
                    </a:lnL>
                    <a:lnR w="18720">
                      <a:solidFill>
                        <a:srgbClr val="000000"/>
                      </a:solidFill>
                      <a:prstDash val="solid"/>
                    </a:lnR>
                    <a:lnT w="18720">
                      <a:solidFill>
                        <a:srgbClr val="000000"/>
                      </a:solidFill>
                      <a:prstDash val="solid"/>
                    </a:lnT>
                    <a:lnB w="6480">
                      <a:solidFill>
                        <a:srgbClr val="808080"/>
                      </a:solidFill>
                      <a:prstDash val="solid"/>
                    </a:lnB>
                    <a:solidFill>
                      <a:srgbClr val="ffffff"/>
                    </a:solidFill>
                  </a:tcPr>
                </a:tc>
              </a:tr>
              <a:tr h="0">
                <a:tc>
                  <a:txBody>
                    <a:bodyPr lIns="149760" rIns="102960" anchor="t">
                      <a:noAutofit/>
                    </a:bodyPr>
                    <a:p>
                      <a:endParaRPr b="0" lang="en-US" sz="1800" spc="-1" strike="noStrike">
                        <a:solidFill>
                          <a:srgbClr val="000000"/>
                        </a:solidFill>
                        <a:latin typeface="Aptos"/>
                      </a:endParaRPr>
                    </a:p>
                  </a:txBody>
                  <a:tcPr anchor="t" marL="149760" marR="102960">
                    <a:lnL w="18720">
                      <a:solidFill>
                        <a:srgbClr val="000000"/>
                      </a:solidFill>
                      <a:prstDash val="solid"/>
                    </a:lnL>
                    <a:lnR w="18720">
                      <a:solidFill>
                        <a:srgbClr val="000000"/>
                      </a:solidFill>
                      <a:prstDash val="solid"/>
                    </a:lnR>
                    <a:lnT w="6480">
                      <a:solidFill>
                        <a:srgbClr val="808080"/>
                      </a:solidFill>
                      <a:prstDash val="solid"/>
                    </a:lnT>
                    <a:lnB w="18720">
                      <a:solidFill>
                        <a:srgbClr val="000000"/>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2" name="Picture 4" descr="A diagram of a network&#10;&#10;AI-generated content may be incorrect."/>
          <p:cNvPicPr/>
          <p:nvPr/>
        </p:nvPicPr>
        <p:blipFill>
          <a:blip r:embed="rId1"/>
          <a:stretch/>
        </p:blipFill>
        <p:spPr>
          <a:xfrm>
            <a:off x="2413080" y="68400"/>
            <a:ext cx="7365240" cy="6720840"/>
          </a:xfrm>
          <a:prstGeom prst="rect">
            <a:avLst/>
          </a:prstGeom>
          <a:ln w="0">
            <a:noFill/>
          </a:ln>
        </p:spPr>
      </p:pic>
      <p:sp>
        <p:nvSpPr>
          <p:cNvPr id="513" name="TextBox 5"/>
          <p:cNvSpPr/>
          <p:nvPr/>
        </p:nvSpPr>
        <p:spPr>
          <a:xfrm>
            <a:off x="5975640" y="6486480"/>
            <a:ext cx="4233240" cy="638280"/>
          </a:xfrm>
          <a:prstGeom prst="rect">
            <a:avLst/>
          </a:prstGeom>
          <a:noFill/>
          <a:ln w="0">
            <a:noFill/>
          </a:ln>
        </p:spPr>
        <p:style>
          <a:lnRef idx="0"/>
          <a:fillRef idx="0"/>
          <a:effectRef idx="0"/>
          <a:fontRef idx="minor"/>
        </p:style>
        <p:txBody>
          <a:bodyPr numCol="1" spcCol="0" horzOverflow="overflow" vertOverflow="overflow" lIns="90000" rIns="90000" tIns="45000" bIns="45000" anchor="t">
            <a:spAutoFit/>
          </a:bodyPr>
          <a:p>
            <a:pPr>
              <a:lnSpc>
                <a:spcPct val="100000"/>
              </a:lnSpc>
            </a:pPr>
            <a:r>
              <a:rPr b="0" lang="en-US" sz="1800" spc="-1" strike="noStrike">
                <a:solidFill>
                  <a:srgbClr val="000000"/>
                </a:solidFill>
                <a:latin typeface="Aptos"/>
                <a:ea typeface="DejaVu Sans"/>
              </a:rPr>
              <a:t>Created with Microsoft Copilot: 2026</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title"/>
          </p:nvPr>
        </p:nvSpPr>
        <p:spPr>
          <a:xfrm>
            <a:off x="3947040" y="1463040"/>
            <a:ext cx="4296960" cy="3931200"/>
          </a:xfrm>
          <a:prstGeom prst="rect">
            <a:avLst/>
          </a:prstGeom>
          <a:noFill/>
          <a:ln w="0">
            <a:noFill/>
          </a:ln>
        </p:spPr>
        <p:txBody>
          <a:bodyPr lIns="90000" rIns="90000" tIns="45000" bIns="45000" anchor="ctr">
            <a:normAutofit/>
          </a:bodyPr>
          <a:p>
            <a:pPr indent="0" algn="ctr">
              <a:lnSpc>
                <a:spcPct val="90000"/>
              </a:lnSpc>
              <a:buNone/>
              <a:tabLst>
                <a:tab algn="l" pos="0"/>
              </a:tabLst>
            </a:pPr>
            <a:r>
              <a:rPr b="0" lang="en-US" sz="3900" spc="-1" strike="noStrike">
                <a:solidFill>
                  <a:srgbClr val="000000"/>
                </a:solidFill>
                <a:latin typeface="Aptos Display"/>
              </a:rPr>
              <a:t>Structural and Fragmentation Measures</a:t>
            </a:r>
            <a:endParaRPr b="0" lang="en-US" sz="3900" spc="-1" strike="noStrike">
              <a:solidFill>
                <a:srgbClr val="000000"/>
              </a:solidFill>
              <a:latin typeface="Arial"/>
            </a:endParaRPr>
          </a:p>
        </p:txBody>
      </p:sp>
      <p:sp>
        <p:nvSpPr>
          <p:cNvPr id="515" name="PlaceHolder 2"/>
          <p:cNvSpPr>
            <a:spLocks noGrp="1"/>
          </p:cNvSpPr>
          <p:nvPr>
            <p:ph type="ftr" idx="4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16" name="PlaceHolder 3"/>
          <p:cNvSpPr>
            <a:spLocks noGrp="1"/>
          </p:cNvSpPr>
          <p:nvPr>
            <p:ph type="sldNum" idx="4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64EBAE17-9228-49C7-925E-7D46E893D4E0}" type="slidenum">
              <a:rPr b="0" lang="en-US" sz="1200" spc="-1" strike="noStrike">
                <a:solidFill>
                  <a:srgbClr val="787878"/>
                </a:solidFill>
                <a:latin typeface="Aptos"/>
              </a:rPr>
              <a:t>11</a:t>
            </a:fld>
            <a:endParaRPr b="0" lang="en-US" sz="1200" spc="-1" strike="noStrike">
              <a:solidFill>
                <a:srgbClr val="000000"/>
              </a:solidFill>
              <a:latin typeface="Times New Roman"/>
            </a:endParaRPr>
          </a:p>
        </p:txBody>
      </p:sp>
    </p:spTree>
  </p:cSld>
  <p:transition>
    <p:fade/>
  </p:transition>
  <p:timing>
    <p:tnLst>
      <p:par>
        <p:cTn id="59" dur="indefinite" restart="never" nodeType="tmRoot">
          <p:childTnLst>
            <p:seq>
              <p:cTn id="60" dur="indefinite" nodeType="mainSeq">
                <p:childTnLst>
                  <p:par>
                    <p:cTn id="61" fill="hold">
                      <p:stCondLst>
                        <p:cond delay="0"/>
                      </p:stCondLst>
                      <p:childTnLst>
                        <p:par>
                          <p:cTn id="62" fill="hold">
                            <p:stCondLst>
                              <p:cond delay="0"/>
                            </p:stCondLst>
                            <p:childTnLst>
                              <p:par>
                                <p:cTn id="63" nodeType="withEffect" fill="hold" presetClass="entr" presetID="10">
                                  <p:stCondLst>
                                    <p:cond delay="500"/>
                                  </p:stCondLst>
                                  <p:iterate type="wd">
                                    <p:tmAbs val="150"/>
                                  </p:iterate>
                                  <p:childTnLst>
                                    <p:set>
                                      <p:cBhvr>
                                        <p:cTn id="64" dur="1" fill="hold">
                                          <p:stCondLst>
                                            <p:cond delay="0"/>
                                          </p:stCondLst>
                                        </p:cTn>
                                        <p:tgtEl>
                                          <p:spTgt spid="514"/>
                                        </p:tgtEl>
                                        <p:attrNameLst>
                                          <p:attrName>style.visibility</p:attrName>
                                        </p:attrNameLst>
                                      </p:cBhvr>
                                      <p:to>
                                        <p:strVal val="visible"/>
                                      </p:to>
                                    </p:set>
                                    <p:animEffect filter="fade" transition="in">
                                      <p:cBhvr additive="repl">
                                        <p:cTn id="65" dur="1000"/>
                                        <p:tgtEl>
                                          <p:spTgt spid="5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7" name="PlaceHolder 1"/>
          <p:cNvSpPr>
            <a:spLocks noGrp="1"/>
          </p:cNvSpPr>
          <p:nvPr>
            <p:ph type="title"/>
          </p:nvPr>
        </p:nvSpPr>
        <p:spPr>
          <a:xfrm>
            <a:off x="1245240" y="786240"/>
            <a:ext cx="4022640" cy="1279440"/>
          </a:xfrm>
          <a:prstGeom prst="rect">
            <a:avLst/>
          </a:prstGeom>
          <a:noFill/>
          <a:ln w="0">
            <a:noFill/>
          </a:ln>
        </p:spPr>
        <p:txBody>
          <a:bodyPr lIns="90000" rIns="90000" tIns="45000" bIns="45000" anchor="t">
            <a:normAutofit/>
          </a:bodyPr>
          <a:p>
            <a:pPr indent="0">
              <a:lnSpc>
                <a:spcPct val="90000"/>
              </a:lnSpc>
              <a:buNone/>
              <a:tabLst>
                <a:tab algn="l" pos="0"/>
              </a:tabLst>
            </a:pPr>
            <a:r>
              <a:rPr b="0" lang="en-US" sz="3200" spc="-1" strike="noStrike">
                <a:solidFill>
                  <a:srgbClr val="000000"/>
                </a:solidFill>
                <a:latin typeface="Aptos Display"/>
              </a:rPr>
              <a:t>Components and Isolates</a:t>
            </a:r>
            <a:endParaRPr b="0" lang="en-US" sz="3200" spc="-1" strike="noStrike">
              <a:solidFill>
                <a:srgbClr val="000000"/>
              </a:solidFill>
              <a:latin typeface="Arial"/>
            </a:endParaRPr>
          </a:p>
        </p:txBody>
      </p:sp>
      <p:sp>
        <p:nvSpPr>
          <p:cNvPr id="518" name="PlaceHolder 2"/>
          <p:cNvSpPr>
            <a:spLocks noGrp="1"/>
          </p:cNvSpPr>
          <p:nvPr>
            <p:ph type="ftr" idx="5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pic>
        <p:nvPicPr>
          <p:cNvPr id="519" name="Content Placeholder 6" descr="Networking concept on white matte background."/>
          <p:cNvPicPr/>
          <p:nvPr/>
        </p:nvPicPr>
        <p:blipFill>
          <a:blip r:embed="rId1">
            <a:alphaModFix amt="20000"/>
          </a:blip>
          <a:srcRect l="0" t="0" r="0" b="-1203"/>
          <a:stretch/>
        </p:blipFill>
        <p:spPr>
          <a:xfrm>
            <a:off x="1220400" y="2396160"/>
            <a:ext cx="4070160" cy="3637080"/>
          </a:xfrm>
          <a:prstGeom prst="rect">
            <a:avLst/>
          </a:prstGeom>
          <a:ln w="6350">
            <a:solidFill>
              <a:srgbClr val="000000"/>
            </a:solidFill>
            <a:round/>
          </a:ln>
        </p:spPr>
      </p:pic>
      <p:sp>
        <p:nvSpPr>
          <p:cNvPr id="520" name="PlaceHolder 3"/>
          <p:cNvSpPr>
            <a:spLocks noGrp="1"/>
          </p:cNvSpPr>
          <p:nvPr>
            <p:ph/>
          </p:nvPr>
        </p:nvSpPr>
        <p:spPr>
          <a:xfrm>
            <a:off x="5669280" y="786240"/>
            <a:ext cx="5302800" cy="530280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r>
              <a:rPr b="1" lang="en-US" sz="1400" spc="-1" strike="noStrike">
                <a:solidFill>
                  <a:srgbClr val="000000"/>
                </a:solidFill>
                <a:latin typeface="Aptos"/>
              </a:rPr>
              <a:t>Definition of Components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Components are maximal sets of nodes mutually reachable in a network, showing connectivity structure.</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Types of Components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Undirected networks have connected components, while directed networks have strong and weak components.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Role of Isolates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Isolates are nodes with zero connections, indicating disengagement or possible incomplete data in networks.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Impact on Network Health</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High numbers of components and isolates reduce connectivity, hindering information flow and collaboration.</a:t>
            </a:r>
            <a:endParaRPr b="0" lang="en-US" sz="1400" spc="-1" strike="noStrike">
              <a:solidFill>
                <a:srgbClr val="000000"/>
              </a:solidFill>
              <a:latin typeface="Arial"/>
            </a:endParaRPr>
          </a:p>
        </p:txBody>
      </p:sp>
      <p:sp>
        <p:nvSpPr>
          <p:cNvPr id="521" name="PlaceHolder 4"/>
          <p:cNvSpPr>
            <a:spLocks noGrp="1"/>
          </p:cNvSpPr>
          <p:nvPr>
            <p:ph type="sldNum" idx="5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6F49F0A6-5B05-4E02-917A-140A838F2E48}" type="slidenum">
              <a:rPr b="0" lang="en-US" sz="1200" spc="-1" strike="noStrike">
                <a:solidFill>
                  <a:srgbClr val="787878"/>
                </a:solidFill>
                <a:latin typeface="Aptos"/>
              </a:rPr>
              <a:t>12</a:t>
            </a:fld>
            <a:endParaRPr b="0" lang="en-US" sz="1200" spc="-1" strike="noStrike">
              <a:solidFill>
                <a:srgbClr val="000000"/>
              </a:solidFill>
              <a:latin typeface="Times New Roman"/>
            </a:endParaRPr>
          </a:p>
        </p:txBody>
      </p:sp>
    </p:spTree>
  </p:cSld>
  <p:transition>
    <p:fade/>
  </p:transition>
  <p:timing>
    <p:tnLst>
      <p:par>
        <p:cTn id="66" dur="indefinite" restart="never" nodeType="tmRoot">
          <p:childTnLst>
            <p:seq>
              <p:cTn id="67" dur="indefinite" nodeType="mainSeq">
                <p:childTnLst>
                  <p:par>
                    <p:cTn id="68" fill="hold">
                      <p:stCondLst>
                        <p:cond delay="0"/>
                      </p:stCondLst>
                      <p:childTnLst>
                        <p:par>
                          <p:cTn id="69" fill="hold">
                            <p:stCondLst>
                              <p:cond delay="0"/>
                            </p:stCondLst>
                            <p:childTnLst>
                              <p:par>
                                <p:cTn id="70" nodeType="withEffect" fill="hold" presetClass="entr" presetID="10">
                                  <p:stCondLst>
                                    <p:cond delay="250"/>
                                  </p:stCondLst>
                                  <p:iterate type="el">
                                    <p:tmAbs val="100"/>
                                  </p:iterate>
                                  <p:childTnLst>
                                    <p:set>
                                      <p:cBhvr>
                                        <p:cTn id="71" dur="1" fill="hold">
                                          <p:stCondLst>
                                            <p:cond delay="0"/>
                                          </p:stCondLst>
                                        </p:cTn>
                                        <p:tgtEl>
                                          <p:spTgt spid="520"/>
                                        </p:tgtEl>
                                        <p:attrNameLst>
                                          <p:attrName>style.visibility</p:attrName>
                                        </p:attrNameLst>
                                      </p:cBhvr>
                                      <p:to>
                                        <p:strVal val="visible"/>
                                      </p:to>
                                    </p:set>
                                    <p:animEffect filter="fade" transition="in">
                                      <p:cBhvr additive="repl">
                                        <p:cTn id="72" dur="500"/>
                                        <p:tgtEl>
                                          <p:spTgt spid="5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2" name="PlaceHolder 1"/>
          <p:cNvSpPr>
            <a:spLocks noGrp="1"/>
          </p:cNvSpPr>
          <p:nvPr>
            <p:ph type="title"/>
          </p:nvPr>
        </p:nvSpPr>
        <p:spPr>
          <a:xfrm>
            <a:off x="841680" y="389880"/>
            <a:ext cx="7771680" cy="475200"/>
          </a:xfrm>
          <a:prstGeom prst="rect">
            <a:avLst/>
          </a:prstGeom>
          <a:noFill/>
          <a:ln w="0">
            <a:noFill/>
          </a:ln>
        </p:spPr>
        <p:txBody>
          <a:bodyPr lIns="90000" rIns="90000" tIns="45000" bIns="45000" anchor="b">
            <a:normAutofit fontScale="90000"/>
          </a:bodyPr>
          <a:p>
            <a:pPr indent="0">
              <a:lnSpc>
                <a:spcPct val="90000"/>
              </a:lnSpc>
              <a:buNone/>
              <a:tabLst>
                <a:tab algn="l" pos="0"/>
              </a:tabLst>
            </a:pPr>
            <a:r>
              <a:rPr b="0" lang="en-US" sz="3200" spc="-1" strike="noStrike">
                <a:solidFill>
                  <a:srgbClr val="000000"/>
                </a:solidFill>
                <a:latin typeface="Aptos Display"/>
              </a:rPr>
              <a:t>Structure and Fragmentation</a:t>
            </a:r>
            <a:endParaRPr b="0" lang="en-US" sz="3200" spc="-1" strike="noStrike">
              <a:solidFill>
                <a:srgbClr val="000000"/>
              </a:solidFill>
              <a:latin typeface="Arial"/>
            </a:endParaRPr>
          </a:p>
        </p:txBody>
      </p:sp>
      <p:sp>
        <p:nvSpPr>
          <p:cNvPr id="523" name="PlaceHolder 2"/>
          <p:cNvSpPr>
            <a:spLocks noGrp="1"/>
          </p:cNvSpPr>
          <p:nvPr>
            <p:ph type="ftr" idx="5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24" name="PlaceHolder 3"/>
          <p:cNvSpPr>
            <a:spLocks noGrp="1"/>
          </p:cNvSpPr>
          <p:nvPr>
            <p:ph/>
          </p:nvPr>
        </p:nvSpPr>
        <p:spPr>
          <a:xfrm>
            <a:off x="810360" y="1129320"/>
            <a:ext cx="8168400" cy="4905000"/>
          </a:xfrm>
          <a:prstGeom prst="rect">
            <a:avLst/>
          </a:prstGeom>
          <a:noFill/>
          <a:ln w="0">
            <a:noFill/>
          </a:ln>
        </p:spPr>
        <p:txBody>
          <a:bodyPr lIns="90000" rIns="90000" tIns="45000" bIns="45000" anchor="t">
            <a:normAutofit/>
          </a:bodyPr>
          <a:p>
            <a:pPr indent="0">
              <a:lnSpc>
                <a:spcPct val="90000"/>
              </a:lnSpc>
              <a:spcBef>
                <a:spcPts val="1001"/>
              </a:spcBef>
              <a:buNone/>
              <a:tabLst>
                <a:tab algn="l" pos="0"/>
              </a:tabLst>
            </a:pPr>
            <a:r>
              <a:rPr b="1" lang="en-US" sz="1100" spc="-1" strike="noStrike">
                <a:solidFill>
                  <a:srgbClr val="000000"/>
                </a:solidFill>
                <a:latin typeface="Segoe UI"/>
              </a:rPr>
              <a:t>Diameter</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i="1" lang="en-US" sz="1100" spc="-1" strike="noStrike">
                <a:solidFill>
                  <a:srgbClr val="000000"/>
                </a:solidFill>
                <a:latin typeface="Segoe UI"/>
              </a:rPr>
              <a:t>Longest geodesic.</a:t>
            </a:r>
            <a:r>
              <a:rPr b="0" lang="en-US" sz="1100" spc="-1" strike="noStrike">
                <a:solidFill>
                  <a:srgbClr val="000000"/>
                </a:solidFill>
                <a:latin typeface="Segoe UI"/>
              </a:rPr>
              <a:t> Establishes the network’s “worst‑case” reachability horizon; sensitive to outliers and fragmentation.</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Conductance (Φ) / Expansion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i="1" lang="en-US" sz="1100" spc="-1" strike="noStrike">
                <a:solidFill>
                  <a:srgbClr val="000000"/>
                </a:solidFill>
                <a:latin typeface="Segoe UI"/>
              </a:rPr>
              <a:t>Bottleneck strength across a cut.</a:t>
            </a:r>
            <a:r>
              <a:rPr b="0" lang="en-US" sz="1100" spc="-1" strike="noStrike">
                <a:solidFill>
                  <a:srgbClr val="000000"/>
                </a:solidFill>
                <a:latin typeface="Segoe UI"/>
              </a:rPr>
              <a:t> Low Φ exposes sparse inter‑community ties (easy to fragment), high Φ indicates well‑mixed structure.</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Adhesion (Edge‑Connectivity, λ(G))</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i="1" lang="en-US" sz="1100" spc="-1" strike="noStrike">
                <a:solidFill>
                  <a:srgbClr val="000000"/>
                </a:solidFill>
                <a:latin typeface="Segoe UI"/>
              </a:rPr>
              <a:t>Minimum edges to disconnect.</a:t>
            </a:r>
            <a:r>
              <a:rPr b="0" lang="en-US" sz="1100" spc="-1" strike="noStrike">
                <a:solidFill>
                  <a:srgbClr val="000000"/>
                </a:solidFill>
                <a:latin typeface="Segoe UI"/>
              </a:rPr>
              <a:t> Operational robustness of links; complements conductance with an exact cut threshold.</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Node Connectivity (κ(G))</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i="1" lang="en-US" sz="1100" spc="-1" strike="noStrike">
                <a:solidFill>
                  <a:srgbClr val="000000"/>
                </a:solidFill>
                <a:latin typeface="Segoe UI"/>
              </a:rPr>
              <a:t>Minimum nodes to disconnect.</a:t>
            </a:r>
            <a:r>
              <a:rPr b="0" lang="en-US" sz="1100" spc="-1" strike="noStrike">
                <a:solidFill>
                  <a:srgbClr val="000000"/>
                </a:solidFill>
                <a:latin typeface="Segoe UI"/>
              </a:rPr>
              <a:t> Single‑point‑of‑failure exposure at the node level; pairs naturally with λ(G); teach κ(G) ≤ λ(G) ≤ δ(G).</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Algebraic Connectivity (λ₂ of Laplacian)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i="1" lang="en-US" sz="1100" spc="-1" strike="noStrike">
                <a:solidFill>
                  <a:srgbClr val="000000"/>
                </a:solidFill>
                <a:latin typeface="Segoe UI"/>
              </a:rPr>
              <a:t>Spectral cohesion.</a:t>
            </a:r>
            <a:r>
              <a:rPr b="0" lang="en-US" sz="1100" spc="-1" strike="noStrike">
                <a:solidFill>
                  <a:srgbClr val="000000"/>
                </a:solidFill>
                <a:latin typeface="Segoe UI"/>
              </a:rPr>
              <a:t> A single scalar that rises with tighter global “glue,” faster synchronization, and resistance to fragmentation.</a:t>
            </a: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25"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26" name="PlaceHolder 4"/>
          <p:cNvSpPr>
            <a:spLocks noGrp="1"/>
          </p:cNvSpPr>
          <p:nvPr>
            <p:ph type="sldNum" idx="5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61BA4732-497D-4387-B92D-EE5010D6A13F}" type="slidenum">
              <a:rPr b="0" lang="en-US" sz="1200" spc="-1" strike="noStrike">
                <a:solidFill>
                  <a:srgbClr val="787878"/>
                </a:solidFill>
                <a:latin typeface="Aptos"/>
              </a:rPr>
              <a:t>13</a:t>
            </a:fld>
            <a:endParaRPr b="0" lang="en-US" sz="1200" spc="-1" strike="noStrike">
              <a:solidFill>
                <a:srgbClr val="000000"/>
              </a:solidFill>
              <a:latin typeface="Times New Roman"/>
            </a:endParaRPr>
          </a:p>
        </p:txBody>
      </p:sp>
    </p:spTree>
  </p:cSld>
  <p:transition>
    <p:fade/>
  </p:transition>
  <p:timing>
    <p:tnLst>
      <p:par>
        <p:cTn id="73" dur="indefinite" restart="never" nodeType="tmRoot">
          <p:childTnLst>
            <p:seq>
              <p:cTn id="74" dur="indefinite" nodeType="mainSeq">
                <p:childTnLst>
                  <p:par>
                    <p:cTn id="75" fill="hold">
                      <p:stCondLst>
                        <p:cond delay="0"/>
                      </p:stCondLst>
                      <p:childTnLst>
                        <p:par>
                          <p:cTn id="76" fill="hold">
                            <p:stCondLst>
                              <p:cond delay="0"/>
                            </p:stCondLst>
                            <p:childTnLst>
                              <p:par>
                                <p:cTn id="77" nodeType="withEffect" fill="hold" presetClass="entr" presetID="10">
                                  <p:stCondLst>
                                    <p:cond delay="250"/>
                                  </p:stCondLst>
                                  <p:iterate type="el">
                                    <p:tmAbs val="100"/>
                                  </p:iterate>
                                  <p:childTnLst>
                                    <p:set>
                                      <p:cBhvr>
                                        <p:cTn id="78" dur="1" fill="hold">
                                          <p:stCondLst>
                                            <p:cond delay="0"/>
                                          </p:stCondLst>
                                        </p:cTn>
                                        <p:tgtEl>
                                          <p:spTgt spid="524"/>
                                        </p:tgtEl>
                                        <p:attrNameLst>
                                          <p:attrName>style.visibility</p:attrName>
                                        </p:attrNameLst>
                                      </p:cBhvr>
                                      <p:to>
                                        <p:strVal val="visible"/>
                                      </p:to>
                                    </p:set>
                                    <p:animEffect filter="fade" transition="in">
                                      <p:cBhvr additive="repl">
                                        <p:cTn id="79" dur="500"/>
                                        <p:tgtEl>
                                          <p:spTgt spid="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7" name="PlaceHolder 1"/>
          <p:cNvSpPr>
            <a:spLocks noGrp="1"/>
          </p:cNvSpPr>
          <p:nvPr>
            <p:ph type="title"/>
          </p:nvPr>
        </p:nvSpPr>
        <p:spPr>
          <a:xfrm>
            <a:off x="1245240" y="786240"/>
            <a:ext cx="4022640" cy="1279440"/>
          </a:xfrm>
          <a:prstGeom prst="rect">
            <a:avLst/>
          </a:prstGeom>
          <a:noFill/>
          <a:ln w="0">
            <a:noFill/>
          </a:ln>
        </p:spPr>
        <p:txBody>
          <a:bodyPr lIns="90000" rIns="90000" tIns="45000" bIns="45000" anchor="t">
            <a:normAutofit/>
          </a:bodyPr>
          <a:p>
            <a:pPr indent="0">
              <a:lnSpc>
                <a:spcPct val="90000"/>
              </a:lnSpc>
              <a:buNone/>
              <a:tabLst>
                <a:tab algn="l" pos="0"/>
              </a:tabLst>
            </a:pPr>
            <a:r>
              <a:rPr b="0" lang="en-US" sz="2700" spc="-1" strike="noStrike">
                <a:solidFill>
                  <a:srgbClr val="000000"/>
                </a:solidFill>
                <a:latin typeface="Aptos Display"/>
              </a:rPr>
              <a:t>Bridges and Articulation Points</a:t>
            </a:r>
            <a:endParaRPr b="0" lang="en-US" sz="2700" spc="-1" strike="noStrike">
              <a:solidFill>
                <a:srgbClr val="000000"/>
              </a:solidFill>
              <a:latin typeface="Arial"/>
            </a:endParaRPr>
          </a:p>
        </p:txBody>
      </p:sp>
      <p:sp>
        <p:nvSpPr>
          <p:cNvPr id="528" name="PlaceHolder 2"/>
          <p:cNvSpPr>
            <a:spLocks noGrp="1"/>
          </p:cNvSpPr>
          <p:nvPr>
            <p:ph type="ftr" idx="5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pic>
        <p:nvPicPr>
          <p:cNvPr id="529" name="Content Placeholder 6" descr="Networking concept on white matte background."/>
          <p:cNvPicPr/>
          <p:nvPr/>
        </p:nvPicPr>
        <p:blipFill>
          <a:blip r:embed="rId1">
            <a:alphaModFix amt="20000"/>
          </a:blip>
          <a:srcRect l="0" t="0" r="0" b="-1533"/>
          <a:stretch/>
        </p:blipFill>
        <p:spPr>
          <a:xfrm>
            <a:off x="1220400" y="2396160"/>
            <a:ext cx="4070160" cy="3637080"/>
          </a:xfrm>
          <a:prstGeom prst="rect">
            <a:avLst/>
          </a:prstGeom>
          <a:ln w="6350">
            <a:solidFill>
              <a:srgbClr val="000000"/>
            </a:solidFill>
            <a:round/>
          </a:ln>
        </p:spPr>
      </p:pic>
      <p:sp>
        <p:nvSpPr>
          <p:cNvPr id="530" name="PlaceHolder 3"/>
          <p:cNvSpPr>
            <a:spLocks noGrp="1"/>
          </p:cNvSpPr>
          <p:nvPr>
            <p:ph/>
          </p:nvPr>
        </p:nvSpPr>
        <p:spPr>
          <a:xfrm>
            <a:off x="5669280" y="786240"/>
            <a:ext cx="5302800" cy="530280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r>
              <a:rPr b="1" lang="en-US" sz="1400" spc="-1" strike="noStrike">
                <a:solidFill>
                  <a:srgbClr val="000000"/>
                </a:solidFill>
                <a:latin typeface="Aptos"/>
              </a:rPr>
              <a:t>Definition of Bridges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Bridges are edges which, if removed, increase the number of disconnected components in a network.</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Definition of Articulation Points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Articulation points are nodes whose removal fragments the network into separate parts.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Importance in Network Resilience</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Identifying bridges and articulation points helps design resilient systems by addressing single points of failure.</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Real-world Network Examples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In communication and social networks, articulation points represent key routers or influential individuals linking communities.</a:t>
            </a:r>
            <a:endParaRPr b="0" lang="en-US" sz="1400" spc="-1" strike="noStrike">
              <a:solidFill>
                <a:srgbClr val="000000"/>
              </a:solidFill>
              <a:latin typeface="Arial"/>
            </a:endParaRPr>
          </a:p>
        </p:txBody>
      </p:sp>
      <p:sp>
        <p:nvSpPr>
          <p:cNvPr id="531" name="PlaceHolder 4"/>
          <p:cNvSpPr>
            <a:spLocks noGrp="1"/>
          </p:cNvSpPr>
          <p:nvPr>
            <p:ph type="sldNum" idx="5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999B8A21-F0E9-42B1-B5E1-B8D89CAA7AF0}" type="slidenum">
              <a:rPr b="0" lang="en-US" sz="1200" spc="-1" strike="noStrike">
                <a:solidFill>
                  <a:srgbClr val="787878"/>
                </a:solidFill>
                <a:latin typeface="Aptos"/>
              </a:rPr>
              <a:t>14</a:t>
            </a:fld>
            <a:endParaRPr b="0" lang="en-US" sz="1200" spc="-1" strike="noStrike">
              <a:solidFill>
                <a:srgbClr val="000000"/>
              </a:solidFill>
              <a:latin typeface="Times New Roman"/>
            </a:endParaRPr>
          </a:p>
        </p:txBody>
      </p:sp>
    </p:spTree>
  </p:cSld>
  <p:transition>
    <p:fade/>
  </p:transition>
  <p:timing>
    <p:tnLst>
      <p:par>
        <p:cTn id="80" dur="indefinite" restart="never" nodeType="tmRoot">
          <p:childTnLst>
            <p:seq>
              <p:cTn id="81" dur="indefinite" nodeType="mainSeq">
                <p:childTnLst>
                  <p:par>
                    <p:cTn id="82" fill="hold">
                      <p:stCondLst>
                        <p:cond delay="0"/>
                      </p:stCondLst>
                      <p:childTnLst>
                        <p:par>
                          <p:cTn id="83" fill="hold">
                            <p:stCondLst>
                              <p:cond delay="0"/>
                            </p:stCondLst>
                            <p:childTnLst>
                              <p:par>
                                <p:cTn id="84" nodeType="withEffect" fill="hold" presetClass="entr" presetID="10">
                                  <p:stCondLst>
                                    <p:cond delay="250"/>
                                  </p:stCondLst>
                                  <p:iterate type="el">
                                    <p:tmAbs val="100"/>
                                  </p:iterate>
                                  <p:childTnLst>
                                    <p:set>
                                      <p:cBhvr>
                                        <p:cTn id="85" dur="1" fill="hold">
                                          <p:stCondLst>
                                            <p:cond delay="0"/>
                                          </p:stCondLst>
                                        </p:cTn>
                                        <p:tgtEl>
                                          <p:spTgt spid="530"/>
                                        </p:tgtEl>
                                        <p:attrNameLst>
                                          <p:attrName>style.visibility</p:attrName>
                                        </p:attrNameLst>
                                      </p:cBhvr>
                                      <p:to>
                                        <p:strVal val="visible"/>
                                      </p:to>
                                    </p:set>
                                    <p:animEffect filter="fade" transition="in">
                                      <p:cBhvr additive="repl">
                                        <p:cTn id="86" dur="500"/>
                                        <p:tgtEl>
                                          <p:spTgt spid="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2"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Diameter</a:t>
            </a:r>
            <a:endParaRPr b="0" lang="en-US" sz="3000" spc="-1" strike="noStrike">
              <a:solidFill>
                <a:srgbClr val="000000"/>
              </a:solidFill>
              <a:latin typeface="Arial"/>
            </a:endParaRPr>
          </a:p>
        </p:txBody>
      </p:sp>
      <p:sp>
        <p:nvSpPr>
          <p:cNvPr id="533" name="PlaceHolder 2"/>
          <p:cNvSpPr>
            <a:spLocks noGrp="1"/>
          </p:cNvSpPr>
          <p:nvPr>
            <p:ph type="ftr" idx="5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34"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WHAT it Measures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Diameter</a:t>
            </a:r>
            <a:r>
              <a:rPr b="0" lang="en-US" sz="1100" spc="-1" strike="noStrike">
                <a:solidFill>
                  <a:srgbClr val="000000"/>
                </a:solidFill>
                <a:latin typeface="Segoe UI"/>
              </a:rPr>
              <a:t> is the </a:t>
            </a:r>
            <a:r>
              <a:rPr b="1" lang="en-US" sz="1100" spc="-1" strike="noStrike">
                <a:solidFill>
                  <a:srgbClr val="000000"/>
                </a:solidFill>
                <a:latin typeface="Segoe UI"/>
              </a:rPr>
              <a:t>maximum shortest‑path distance</a:t>
            </a:r>
            <a:r>
              <a:rPr b="0" lang="en-US" sz="1100" spc="-1" strike="noStrike">
                <a:solidFill>
                  <a:srgbClr val="000000"/>
                </a:solidFill>
                <a:latin typeface="Segoe UI"/>
              </a:rPr>
              <a:t> observed between any two reachable nodes in the network (i.e., the maximum of node </a:t>
            </a:r>
            <a:r>
              <a:rPr b="1" lang="en-US" sz="1100" spc="-1" strike="noStrike">
                <a:solidFill>
                  <a:srgbClr val="000000"/>
                </a:solidFill>
                <a:latin typeface="Segoe UI"/>
              </a:rPr>
              <a:t>eccentricities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Conventions you must state explicitly (they change the value/meaning):</a:t>
            </a:r>
            <a:r>
              <a:rPr b="0" lang="en-US" sz="1100" spc="-1" strike="noStrike">
                <a:solidFill>
                  <a:srgbClr val="000000"/>
                </a:solidFill>
                <a:latin typeface="Segoe UI"/>
              </a:rPr>
              <a:t>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Disconnected graphs:</a:t>
            </a:r>
            <a:r>
              <a:rPr b="0" lang="en-US" sz="1100" spc="-1" strike="noStrike">
                <a:solidFill>
                  <a:srgbClr val="000000"/>
                </a:solidFill>
                <a:latin typeface="Segoe UI"/>
              </a:rPr>
              <a:t> diameter is often taken as </a:t>
            </a:r>
            <a:r>
              <a:rPr b="1" lang="en-US" sz="1100" spc="-1" strike="noStrike">
                <a:solidFill>
                  <a:srgbClr val="000000"/>
                </a:solidFill>
                <a:latin typeface="Segoe UI"/>
              </a:rPr>
              <a:t>∞</a:t>
            </a:r>
            <a:r>
              <a:rPr b="0" lang="en-US" sz="1100" spc="-1" strike="noStrike">
                <a:solidFill>
                  <a:srgbClr val="000000"/>
                </a:solidFill>
                <a:latin typeface="Segoe UI"/>
              </a:rPr>
              <a:t>; in practice, many report diameter </a:t>
            </a:r>
            <a:r>
              <a:rPr b="1" lang="en-US" sz="1100" spc="-1" strike="noStrike">
                <a:solidFill>
                  <a:srgbClr val="000000"/>
                </a:solidFill>
                <a:latin typeface="Segoe UI"/>
              </a:rPr>
              <a:t>on the giant component</a:t>
            </a:r>
            <a:r>
              <a:rPr b="0" lang="en-US" sz="1100" spc="-1" strike="noStrike">
                <a:solidFill>
                  <a:srgbClr val="000000"/>
                </a:solidFill>
                <a:latin typeface="Segoe UI"/>
              </a:rPr>
              <a:t> or ignore ∞ pairs.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Directed graphs:</a:t>
            </a:r>
            <a:r>
              <a:rPr b="0" lang="en-US" sz="1100" spc="-1" strike="noStrike">
                <a:solidFill>
                  <a:srgbClr val="000000"/>
                </a:solidFill>
                <a:latin typeface="Segoe UI"/>
              </a:rPr>
              <a:t> use </a:t>
            </a:r>
            <a:r>
              <a:rPr b="1" lang="en-US" sz="1100" spc="-1" strike="noStrike">
                <a:solidFill>
                  <a:srgbClr val="000000"/>
                </a:solidFill>
                <a:latin typeface="Segoe UI"/>
              </a:rPr>
              <a:t>strong diameter</a:t>
            </a:r>
            <a:r>
              <a:rPr b="0" lang="en-US" sz="1100" spc="-1" strike="noStrike">
                <a:solidFill>
                  <a:srgbClr val="000000"/>
                </a:solidFill>
                <a:latin typeface="Segoe UI"/>
              </a:rPr>
              <a:t> (within strongly connected components) or </a:t>
            </a:r>
            <a:r>
              <a:rPr b="1" lang="en-US" sz="1100" spc="-1" strike="noStrike">
                <a:solidFill>
                  <a:srgbClr val="000000"/>
                </a:solidFill>
                <a:latin typeface="Segoe UI"/>
              </a:rPr>
              <a:t>weak/undirected diameter</a:t>
            </a:r>
            <a:r>
              <a:rPr b="0" lang="en-US" sz="1100" spc="-1" strike="noStrike">
                <a:solidFill>
                  <a:srgbClr val="000000"/>
                </a:solidFill>
                <a:latin typeface="Segoe UI"/>
              </a:rPr>
              <a:t> (on the symmetrized graph).</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Weighted graphs:</a:t>
            </a:r>
            <a:r>
              <a:rPr b="0" lang="en-US" sz="1100" spc="-1" strike="noStrike">
                <a:solidFill>
                  <a:srgbClr val="000000"/>
                </a:solidFill>
                <a:latin typeface="Segoe UI"/>
              </a:rPr>
              <a:t> compute using </a:t>
            </a:r>
            <a:r>
              <a:rPr b="1" lang="en-US" sz="1100" spc="-1" strike="noStrike">
                <a:solidFill>
                  <a:srgbClr val="000000"/>
                </a:solidFill>
                <a:latin typeface="Segoe UI"/>
              </a:rPr>
              <a:t>cost/length</a:t>
            </a:r>
            <a:r>
              <a:rPr b="0" lang="en-US" sz="1100" spc="-1" strike="noStrike">
                <a:solidFill>
                  <a:srgbClr val="000000"/>
                </a:solidFill>
                <a:latin typeface="Segoe UI"/>
              </a:rPr>
              <a:t> weights; the “distance” is the minimal total edge weight, not hop count.</a:t>
            </a:r>
            <a:br>
              <a:rPr sz="1100"/>
            </a:br>
            <a:r>
              <a:rPr b="0" lang="en-US" sz="1100" spc="-1" strike="noStrike">
                <a:solidFill>
                  <a:srgbClr val="000000"/>
                </a:solidFill>
                <a:latin typeface="Segoe UI"/>
              </a:rPr>
              <a:t> </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WHY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Diameter provides a </a:t>
            </a:r>
            <a:r>
              <a:rPr b="1" lang="en-US" sz="1100" spc="-1" strike="noStrike">
                <a:solidFill>
                  <a:srgbClr val="000000"/>
                </a:solidFill>
                <a:latin typeface="Segoe UI"/>
              </a:rPr>
              <a:t>hard upper bound</a:t>
            </a:r>
            <a:r>
              <a:rPr b="0" lang="en-US" sz="1100" spc="-1" strike="noStrike">
                <a:solidFill>
                  <a:srgbClr val="000000"/>
                </a:solidFill>
                <a:latin typeface="Segoe UI"/>
              </a:rPr>
              <a:t> on </a:t>
            </a:r>
            <a:r>
              <a:rPr b="1" lang="en-US" sz="1100" spc="-1" strike="noStrike">
                <a:solidFill>
                  <a:srgbClr val="000000"/>
                </a:solidFill>
                <a:latin typeface="Segoe UI"/>
              </a:rPr>
              <a:t>geodesic travel time/steps</a:t>
            </a:r>
            <a:r>
              <a:rPr b="0" lang="en-US" sz="1100" spc="-1" strike="noStrike">
                <a:solidFill>
                  <a:srgbClr val="000000"/>
                </a:solidFill>
                <a:latin typeface="Segoe UI"/>
              </a:rPr>
              <a:t> in the network—if interactions prefer shortest paths, </a:t>
            </a:r>
            <a:r>
              <a:rPr b="1" lang="en-US" sz="1100" spc="-1" strike="noStrike">
                <a:solidFill>
                  <a:srgbClr val="000000"/>
                </a:solidFill>
                <a:latin typeface="Segoe UI"/>
              </a:rPr>
              <a:t>no pair takes longer than the diameter</a:t>
            </a:r>
            <a:r>
              <a:rPr b="0" lang="en-US" sz="1100" spc="-1" strike="noStrike">
                <a:solidFill>
                  <a:srgbClr val="000000"/>
                </a:solidFill>
                <a:latin typeface="Segoe UI"/>
              </a:rPr>
              <a:t> to connect.  This is a measure of </a:t>
            </a:r>
            <a:r>
              <a:rPr b="1" lang="en-US" sz="1100" spc="-1" strike="noStrike">
                <a:solidFill>
                  <a:srgbClr val="000000"/>
                </a:solidFill>
                <a:latin typeface="Segoe UI"/>
              </a:rPr>
              <a:t>extreme structural stretch </a:t>
            </a:r>
            <a:r>
              <a:rPr b="0" lang="en-US" sz="1100" spc="-1" strike="noStrike">
                <a:solidFill>
                  <a:srgbClr val="000000"/>
                </a:solidFill>
                <a:latin typeface="Segoe UI"/>
              </a:rPr>
              <a:t>and is highly senstive to outliers (thin bridges/long chains) and higlights  </a:t>
            </a:r>
            <a:r>
              <a:rPr b="1" lang="en-US" sz="1100" spc="-1" strike="noStrike">
                <a:solidFill>
                  <a:srgbClr val="000000"/>
                </a:solidFill>
                <a:latin typeface="Segoe UI"/>
              </a:rPr>
              <a:t>where adding a single well‑placed shortcut</a:t>
            </a:r>
            <a:r>
              <a:rPr b="0" lang="en-US" sz="1100" spc="-1" strike="noStrike">
                <a:solidFill>
                  <a:srgbClr val="000000"/>
                </a:solidFill>
                <a:latin typeface="Segoe UI"/>
              </a:rPr>
              <a:t> can be helpful.</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WHEN to Use Diameter</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Use diameter when your question is intrinsically </a:t>
            </a:r>
            <a:r>
              <a:rPr b="1" lang="en-US" sz="1100" spc="-1" strike="noStrike">
                <a:solidFill>
                  <a:srgbClr val="000000"/>
                </a:solidFill>
                <a:latin typeface="Segoe UI"/>
              </a:rPr>
              <a:t>worst‑case</a:t>
            </a:r>
            <a:r>
              <a:rPr b="0" lang="en-US" sz="1100" spc="-1" strike="noStrike">
                <a:solidFill>
                  <a:srgbClr val="000000"/>
                </a:solidFill>
                <a:latin typeface="Segoe UI"/>
              </a:rPr>
              <a:t> (service guarantees, SLAs, deadlines, safety margins):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Emergency response / alerting</a:t>
            </a:r>
            <a:r>
              <a:rPr b="0" lang="en-US" sz="1100" spc="-1" strike="noStrike">
                <a:solidFill>
                  <a:srgbClr val="000000"/>
                </a:solidFill>
                <a:latin typeface="Segoe UI"/>
              </a:rPr>
              <a:t>: maximum hops to reach the last recipient.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Supervisory control</a:t>
            </a:r>
            <a:r>
              <a:rPr b="0" lang="en-US" sz="1100" spc="-1" strike="noStrike">
                <a:solidFill>
                  <a:srgbClr val="000000"/>
                </a:solidFill>
                <a:latin typeface="Segoe UI"/>
              </a:rPr>
              <a:t>: bound on approval/authorization chains.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Transport/logistics</a:t>
            </a:r>
            <a:r>
              <a:rPr b="0" lang="en-US" sz="1100" spc="-1" strike="noStrike">
                <a:solidFill>
                  <a:srgbClr val="000000"/>
                </a:solidFill>
                <a:latin typeface="Segoe UI"/>
              </a:rPr>
              <a:t>: upper‑bound transfers when hop count approximates cost.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Testing structural change</a:t>
            </a:r>
            <a:r>
              <a:rPr b="0" lang="en-US" sz="1100" spc="-1" strike="noStrike">
                <a:solidFill>
                  <a:srgbClr val="000000"/>
                </a:solidFill>
                <a:latin typeface="Segoe UI"/>
              </a:rPr>
              <a:t>: does a rewire eliminate long tails?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35"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36" name="PlaceHolder 4"/>
          <p:cNvSpPr>
            <a:spLocks noGrp="1"/>
          </p:cNvSpPr>
          <p:nvPr>
            <p:ph type="sldNum" idx="5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3525646D-C086-4F63-BE52-37C7F6FCFF2A}" type="slidenum">
              <a:rPr b="0" lang="en-US" sz="1200" spc="-1" strike="noStrike">
                <a:solidFill>
                  <a:srgbClr val="787878"/>
                </a:solidFill>
                <a:latin typeface="Aptos"/>
              </a:rPr>
              <a:t>15</a:t>
            </a:fld>
            <a:endParaRPr b="0" lang="en-US" sz="1200" spc="-1" strike="noStrike">
              <a:solidFill>
                <a:srgbClr val="000000"/>
              </a:solidFill>
              <a:latin typeface="Times New Roman"/>
            </a:endParaRPr>
          </a:p>
        </p:txBody>
      </p:sp>
    </p:spTree>
  </p:cSld>
  <p:transition>
    <p:fade/>
  </p:transition>
  <p:timing>
    <p:tnLst>
      <p:par>
        <p:cTn id="87" dur="indefinite" restart="never" nodeType="tmRoot">
          <p:childTnLst>
            <p:seq>
              <p:cTn id="88" dur="indefinite" nodeType="mainSeq">
                <p:childTnLst>
                  <p:par>
                    <p:cTn id="89" fill="hold">
                      <p:stCondLst>
                        <p:cond delay="0"/>
                      </p:stCondLst>
                      <p:childTnLst>
                        <p:par>
                          <p:cTn id="90" fill="hold">
                            <p:stCondLst>
                              <p:cond delay="0"/>
                            </p:stCondLst>
                            <p:childTnLst>
                              <p:par>
                                <p:cTn id="91" nodeType="withEffect" fill="hold" presetClass="entr" presetID="10">
                                  <p:stCondLst>
                                    <p:cond delay="250"/>
                                  </p:stCondLst>
                                  <p:iterate type="el">
                                    <p:tmAbs val="100"/>
                                  </p:iterate>
                                  <p:childTnLst>
                                    <p:set>
                                      <p:cBhvr>
                                        <p:cTn id="92" dur="1" fill="hold">
                                          <p:stCondLst>
                                            <p:cond delay="0"/>
                                          </p:stCondLst>
                                        </p:cTn>
                                        <p:tgtEl>
                                          <p:spTgt spid="534"/>
                                        </p:tgtEl>
                                        <p:attrNameLst>
                                          <p:attrName>style.visibility</p:attrName>
                                        </p:attrNameLst>
                                      </p:cBhvr>
                                      <p:to>
                                        <p:strVal val="visible"/>
                                      </p:to>
                                    </p:set>
                                    <p:animEffect filter="fade" transition="in">
                                      <p:cBhvr additive="repl">
                                        <p:cTn id="93" dur="500"/>
                                        <p:tgtEl>
                                          <p:spTgt spid="5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7"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Diameter</a:t>
            </a:r>
            <a:endParaRPr b="0" lang="en-US" sz="3000" spc="-1" strike="noStrike">
              <a:solidFill>
                <a:srgbClr val="000000"/>
              </a:solidFill>
              <a:latin typeface="Arial"/>
            </a:endParaRPr>
          </a:p>
        </p:txBody>
      </p:sp>
      <p:sp>
        <p:nvSpPr>
          <p:cNvPr id="538" name="PlaceHolder 2"/>
          <p:cNvSpPr>
            <a:spLocks noGrp="1"/>
          </p:cNvSpPr>
          <p:nvPr>
            <p:ph type="ftr" idx="5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39"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100" spc="-1" strike="noStrike">
                <a:solidFill>
                  <a:srgbClr val="000000"/>
                </a:solidFill>
                <a:latin typeface="Segoe UI"/>
              </a:rPr>
              <a:t>Use caution</a:t>
            </a:r>
            <a:r>
              <a:rPr b="0" lang="en-US" sz="1100" spc="-1" strike="noStrike">
                <a:solidFill>
                  <a:srgbClr val="000000"/>
                </a:solidFill>
                <a:latin typeface="Segoe UI"/>
              </a:rPr>
              <a:t> or alternatives when: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 graph is </a:t>
            </a:r>
            <a:r>
              <a:rPr b="1" lang="en-US" sz="1100" spc="-1" strike="noStrike">
                <a:solidFill>
                  <a:srgbClr val="000000"/>
                </a:solidFill>
                <a:latin typeface="Segoe UI"/>
              </a:rPr>
              <a:t>fragmented</a:t>
            </a:r>
            <a:r>
              <a:rPr b="0" lang="en-US" sz="1100" spc="-1" strike="noStrike">
                <a:solidFill>
                  <a:srgbClr val="000000"/>
                </a:solidFill>
                <a:latin typeface="Segoe UI"/>
              </a:rPr>
              <a:t> (diameter = ∞ is uninformative) → report </a:t>
            </a:r>
            <a:r>
              <a:rPr b="1" lang="en-US" sz="1100" spc="-1" strike="noStrike">
                <a:solidFill>
                  <a:srgbClr val="000000"/>
                </a:solidFill>
                <a:latin typeface="Segoe UI"/>
              </a:rPr>
              <a:t>giant‑component diameter</a:t>
            </a:r>
            <a:r>
              <a:rPr b="0" lang="en-US" sz="1100" spc="-1" strike="noStrike">
                <a:solidFill>
                  <a:srgbClr val="000000"/>
                </a:solidFill>
                <a:latin typeface="Segoe UI"/>
              </a:rPr>
              <a:t> and pair with </a:t>
            </a:r>
            <a:r>
              <a:rPr b="1" lang="en-US" sz="1100" spc="-1" strike="noStrike">
                <a:solidFill>
                  <a:srgbClr val="000000"/>
                </a:solidFill>
                <a:latin typeface="Segoe UI"/>
              </a:rPr>
              <a:t>cohesion/efficiency</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Average behavior</a:t>
            </a:r>
            <a:r>
              <a:rPr b="0" lang="en-US" sz="1100" spc="-1" strike="noStrike">
                <a:solidFill>
                  <a:srgbClr val="000000"/>
                </a:solidFill>
                <a:latin typeface="Segoe UI"/>
              </a:rPr>
              <a:t> matters more than extremes → prefer</a:t>
            </a:r>
            <a:r>
              <a:rPr b="1" lang="en-US" sz="1100" spc="-1" strike="noStrike">
                <a:solidFill>
                  <a:srgbClr val="000000"/>
                </a:solidFill>
                <a:latin typeface="Segoe UI"/>
              </a:rPr>
              <a:t> Average Shortest Path Length</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You need a </a:t>
            </a:r>
            <a:r>
              <a:rPr b="1" lang="en-US" sz="1100" spc="-1" strike="noStrike">
                <a:solidFill>
                  <a:srgbClr val="000000"/>
                </a:solidFill>
                <a:latin typeface="Segoe UI"/>
              </a:rPr>
              <a:t>robust “near worst‑case”</a:t>
            </a:r>
            <a:r>
              <a:rPr b="0" lang="en-US" sz="1100" spc="-1" strike="noStrike">
                <a:solidFill>
                  <a:srgbClr val="000000"/>
                </a:solidFill>
                <a:latin typeface="Segoe UI"/>
              </a:rPr>
              <a:t> → consider </a:t>
            </a:r>
            <a:r>
              <a:rPr b="1" lang="en-US" sz="1100" spc="-1" strike="noStrike">
                <a:solidFill>
                  <a:srgbClr val="000000"/>
                </a:solidFill>
                <a:latin typeface="Segoe UI"/>
              </a:rPr>
              <a:t>effective diameter</a:t>
            </a:r>
            <a:r>
              <a:rPr b="0" lang="en-US" sz="1100" spc="-1" strike="noStrike">
                <a:solidFill>
                  <a:srgbClr val="000000"/>
                </a:solidFill>
                <a:latin typeface="Segoe UI"/>
              </a:rPr>
              <a:t> (e.g., 90th‑percentile shortest‑path length) to reduce sensitivity to outliers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Pairing:</a:t>
            </a:r>
            <a:r>
              <a:rPr b="0" lang="en-US" sz="1100" spc="-1" strike="noStrike">
                <a:solidFill>
                  <a:srgbClr val="000000"/>
                </a:solidFill>
                <a:latin typeface="Segoe UI"/>
              </a:rPr>
              <a:t> interpret diameter </a:t>
            </a:r>
            <a:r>
              <a:rPr b="1" lang="en-US" sz="1100" spc="-1" strike="noStrike">
                <a:solidFill>
                  <a:srgbClr val="000000"/>
                </a:solidFill>
                <a:latin typeface="Segoe UI"/>
              </a:rPr>
              <a:t>alongside</a:t>
            </a:r>
            <a:r>
              <a:rPr b="0" lang="en-US" sz="1100" spc="-1" strike="noStrike">
                <a:solidFill>
                  <a:srgbClr val="000000"/>
                </a:solidFill>
                <a:latin typeface="Segoe UI"/>
              </a:rPr>
              <a:t> other measures in order to properly represent  </a:t>
            </a:r>
            <a:r>
              <a:rPr b="1" lang="en-US" sz="1100" spc="-1" strike="noStrike">
                <a:solidFill>
                  <a:srgbClr val="000000"/>
                </a:solidFill>
                <a:latin typeface="Segoe UI"/>
              </a:rPr>
              <a:t>speed</a:t>
            </a:r>
            <a:r>
              <a:rPr b="0" lang="en-US" sz="1100" spc="-1" strike="noStrike">
                <a:solidFill>
                  <a:srgbClr val="000000"/>
                </a:solidFill>
                <a:latin typeface="Segoe UI"/>
              </a:rPr>
              <a:t>, </a:t>
            </a:r>
            <a:r>
              <a:rPr b="1" lang="en-US" sz="1100" spc="-1" strike="noStrike">
                <a:solidFill>
                  <a:srgbClr val="000000"/>
                </a:solidFill>
                <a:latin typeface="Segoe UI"/>
              </a:rPr>
              <a:t>bottlenecks</a:t>
            </a:r>
            <a:r>
              <a:rPr b="0" lang="en-US" sz="1100" spc="-1" strike="noStrike">
                <a:solidFill>
                  <a:srgbClr val="000000"/>
                </a:solidFill>
                <a:latin typeface="Segoe UI"/>
              </a:rPr>
              <a:t>, and </a:t>
            </a:r>
            <a:r>
              <a:rPr b="1" lang="en-US" sz="1100" spc="-1" strike="noStrike">
                <a:solidFill>
                  <a:srgbClr val="000000"/>
                </a:solidFill>
                <a:latin typeface="Segoe UI"/>
              </a:rPr>
              <a:t>resilience</a:t>
            </a:r>
            <a:r>
              <a:rPr b="0" lang="en-US" sz="1100" spc="-1" strike="noStrike">
                <a:solidFill>
                  <a:srgbClr val="000000"/>
                </a:solidFill>
                <a:latin typeface="Segoe UI"/>
              </a:rPr>
              <a:t>.  It's not a very representative or interpretable measure alone.</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100" spc="-1" strike="noStrike">
                <a:solidFill>
                  <a:srgbClr val="000000"/>
                </a:solidFill>
                <a:latin typeface="Segoe UI"/>
              </a:rPr>
              <a:t>Connectivity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In a connected network, diameter separates </a:t>
            </a:r>
            <a:r>
              <a:rPr b="1" lang="en-US" sz="1100" spc="-1" strike="noStrike">
                <a:solidFill>
                  <a:srgbClr val="000000"/>
                </a:solidFill>
                <a:latin typeface="Segoe UI"/>
              </a:rPr>
              <a:t>“connected and tight”</a:t>
            </a:r>
            <a:r>
              <a:rPr b="0" lang="en-US" sz="1100" spc="-1" strike="noStrike">
                <a:solidFill>
                  <a:srgbClr val="000000"/>
                </a:solidFill>
                <a:latin typeface="Segoe UI"/>
              </a:rPr>
              <a:t> from </a:t>
            </a:r>
            <a:r>
              <a:rPr b="1" lang="en-US" sz="1100" spc="-1" strike="noStrike">
                <a:solidFill>
                  <a:srgbClr val="000000"/>
                </a:solidFill>
                <a:latin typeface="Segoe UI"/>
              </a:rPr>
              <a:t>“connected but stretched”</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In a </a:t>
            </a:r>
            <a:r>
              <a:rPr b="1" lang="en-US" sz="1100" spc="-1" strike="noStrike">
                <a:solidFill>
                  <a:srgbClr val="000000"/>
                </a:solidFill>
                <a:latin typeface="Segoe UI"/>
              </a:rPr>
              <a:t>disconnected</a:t>
            </a:r>
            <a:r>
              <a:rPr b="0" lang="en-US" sz="1100" spc="-1" strike="noStrike">
                <a:solidFill>
                  <a:srgbClr val="000000"/>
                </a:solidFill>
                <a:latin typeface="Segoe UI"/>
              </a:rPr>
              <a:t> network, raw diameter is meaningless (∞); report </a:t>
            </a:r>
            <a:r>
              <a:rPr b="1" lang="en-US" sz="1100" spc="-1" strike="noStrike">
                <a:solidFill>
                  <a:srgbClr val="000000"/>
                </a:solidFill>
                <a:latin typeface="Segoe UI"/>
              </a:rPr>
              <a:t>component‑restricted</a:t>
            </a:r>
            <a:r>
              <a:rPr b="0" lang="en-US" sz="1100" spc="-1" strike="noStrike">
                <a:solidFill>
                  <a:srgbClr val="000000"/>
                </a:solidFill>
                <a:latin typeface="Segoe UI"/>
              </a:rPr>
              <a:t> diameter and pair with </a:t>
            </a:r>
            <a:r>
              <a:rPr b="1" lang="en-US" sz="1100" spc="-1" strike="noStrike">
                <a:solidFill>
                  <a:srgbClr val="000000"/>
                </a:solidFill>
                <a:latin typeface="Segoe UI"/>
              </a:rPr>
              <a:t>cohesion</a:t>
            </a:r>
            <a:r>
              <a:rPr b="0" lang="en-US" sz="1100" spc="-1" strike="noStrike">
                <a:solidFill>
                  <a:srgbClr val="000000"/>
                </a:solidFill>
                <a:latin typeface="Segoe UI"/>
              </a:rPr>
              <a:t> to reflect reachability coverage.</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100" spc="-1" strike="noStrike">
                <a:solidFill>
                  <a:srgbClr val="000000"/>
                </a:solidFill>
                <a:latin typeface="Segoe UI"/>
              </a:rPr>
              <a:t>Robustness (resistance to failure)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If small diameter is driven by </a:t>
            </a:r>
            <a:r>
              <a:rPr b="1" lang="en-US" sz="1100" spc="-1" strike="noStrike">
                <a:solidFill>
                  <a:srgbClr val="000000"/>
                </a:solidFill>
                <a:latin typeface="Segoe UI"/>
              </a:rPr>
              <a:t>few critical shortcuts/hubs</a:t>
            </a:r>
            <a:r>
              <a:rPr b="0" lang="en-US" sz="1100" spc="-1" strike="noStrike">
                <a:solidFill>
                  <a:srgbClr val="000000"/>
                </a:solidFill>
                <a:latin typeface="Segoe UI"/>
              </a:rPr>
              <a:t>, </a:t>
            </a:r>
            <a:r>
              <a:rPr b="1" lang="en-US" sz="1100" spc="-1" strike="noStrike">
                <a:solidFill>
                  <a:srgbClr val="000000"/>
                </a:solidFill>
                <a:latin typeface="Segoe UI"/>
              </a:rPr>
              <a:t>targeted removal</a:t>
            </a:r>
            <a:r>
              <a:rPr b="0" lang="en-US" sz="1100" spc="-1" strike="noStrike">
                <a:solidFill>
                  <a:srgbClr val="000000"/>
                </a:solidFill>
                <a:latin typeface="Segoe UI"/>
              </a:rPr>
              <a:t> can inflate diameter sharply or split the network—revealing </a:t>
            </a:r>
            <a:r>
              <a:rPr b="1" lang="en-US" sz="1100" spc="-1" strike="noStrike">
                <a:solidFill>
                  <a:srgbClr val="000000"/>
                </a:solidFill>
                <a:latin typeface="Segoe UI"/>
              </a:rPr>
              <a:t>latent fragility</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If small diameter is produced by </a:t>
            </a:r>
            <a:r>
              <a:rPr b="1" lang="en-US" sz="1100" spc="-1" strike="noStrike">
                <a:solidFill>
                  <a:srgbClr val="000000"/>
                </a:solidFill>
                <a:latin typeface="Segoe UI"/>
              </a:rPr>
              <a:t>multiple distributed shortcuts</a:t>
            </a:r>
            <a:r>
              <a:rPr b="0" lang="en-US" sz="1100" spc="-1" strike="noStrike">
                <a:solidFill>
                  <a:srgbClr val="000000"/>
                </a:solidFill>
                <a:latin typeface="Segoe UI"/>
              </a:rPr>
              <a:t>, targeted failures increase the diameter </a:t>
            </a:r>
            <a:r>
              <a:rPr b="1" lang="en-US" sz="1100" spc="-1" strike="noStrike">
                <a:solidFill>
                  <a:srgbClr val="000000"/>
                </a:solidFill>
                <a:latin typeface="Segoe UI"/>
              </a:rPr>
              <a:t>more gradually</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100" spc="-1" strike="noStrike">
                <a:solidFill>
                  <a:srgbClr val="000000"/>
                </a:solidFill>
                <a:latin typeface="Segoe UI"/>
              </a:rPr>
              <a:t>Resilience (recovery/continuity)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Resilient architectures maintain </a:t>
            </a:r>
            <a:r>
              <a:rPr b="1" lang="en-US" sz="1100" spc="-1" strike="noStrike">
                <a:solidFill>
                  <a:srgbClr val="000000"/>
                </a:solidFill>
                <a:latin typeface="Segoe UI"/>
              </a:rPr>
              <a:t>bounded (or quickly re‑bounded) diameter</a:t>
            </a:r>
            <a:r>
              <a:rPr b="0" lang="en-US" sz="1100" spc="-1" strike="noStrike">
                <a:solidFill>
                  <a:srgbClr val="000000"/>
                </a:solidFill>
                <a:latin typeface="Segoe UI"/>
              </a:rPr>
              <a:t> under perturbation via </a:t>
            </a:r>
            <a:r>
              <a:rPr b="1" lang="en-US" sz="1100" spc="-1" strike="noStrike">
                <a:solidFill>
                  <a:srgbClr val="000000"/>
                </a:solidFill>
                <a:latin typeface="Segoe UI"/>
              </a:rPr>
              <a:t>alternative long‑range paths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Recovery strategies that </a:t>
            </a:r>
            <a:r>
              <a:rPr b="1" lang="en-US" sz="1100" spc="-1" strike="noStrike">
                <a:solidFill>
                  <a:srgbClr val="000000"/>
                </a:solidFill>
                <a:latin typeface="Segoe UI"/>
              </a:rPr>
              <a:t>recreate a few well‑placed cross‑module links</a:t>
            </a:r>
            <a:r>
              <a:rPr b="0" lang="en-US" sz="1100" spc="-1" strike="noStrike">
                <a:solidFill>
                  <a:srgbClr val="000000"/>
                </a:solidFill>
                <a:latin typeface="Segoe UI"/>
              </a:rPr>
              <a:t> can restore diameter efficiently without wholesale rewiring.</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40"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41" name="PlaceHolder 4"/>
          <p:cNvSpPr>
            <a:spLocks noGrp="1"/>
          </p:cNvSpPr>
          <p:nvPr>
            <p:ph type="sldNum" idx="5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BF77F528-1505-46D7-8A3C-F5A8A04FF034}" type="slidenum">
              <a:rPr b="0" lang="en-US" sz="1200" spc="-1" strike="noStrike">
                <a:solidFill>
                  <a:srgbClr val="787878"/>
                </a:solidFill>
                <a:latin typeface="Aptos"/>
              </a:rPr>
              <a:t>16</a:t>
            </a:fld>
            <a:endParaRPr b="0" lang="en-US" sz="1200" spc="-1" strike="noStrike">
              <a:solidFill>
                <a:srgbClr val="000000"/>
              </a:solidFill>
              <a:latin typeface="Times New Roman"/>
            </a:endParaRPr>
          </a:p>
        </p:txBody>
      </p:sp>
    </p:spTree>
  </p:cSld>
  <p:transition>
    <p:fade/>
  </p:transition>
  <p:timing>
    <p:tnLst>
      <p:par>
        <p:cTn id="94" dur="indefinite" restart="never" nodeType="tmRoot">
          <p:childTnLst>
            <p:seq>
              <p:cTn id="95" dur="indefinite" nodeType="mainSeq">
                <p:childTnLst>
                  <p:par>
                    <p:cTn id="96" fill="hold">
                      <p:stCondLst>
                        <p:cond delay="0"/>
                      </p:stCondLst>
                      <p:childTnLst>
                        <p:par>
                          <p:cTn id="97" fill="hold">
                            <p:stCondLst>
                              <p:cond delay="0"/>
                            </p:stCondLst>
                            <p:childTnLst>
                              <p:par>
                                <p:cTn id="98" nodeType="withEffect" fill="hold" presetClass="entr" presetID="10">
                                  <p:stCondLst>
                                    <p:cond delay="250"/>
                                  </p:stCondLst>
                                  <p:iterate type="el">
                                    <p:tmAbs val="100"/>
                                  </p:iterate>
                                  <p:childTnLst>
                                    <p:set>
                                      <p:cBhvr>
                                        <p:cTn id="99" dur="1" fill="hold">
                                          <p:stCondLst>
                                            <p:cond delay="0"/>
                                          </p:stCondLst>
                                        </p:cTn>
                                        <p:tgtEl>
                                          <p:spTgt spid="539"/>
                                        </p:tgtEl>
                                        <p:attrNameLst>
                                          <p:attrName>style.visibility</p:attrName>
                                        </p:attrNameLst>
                                      </p:cBhvr>
                                      <p:to>
                                        <p:strVal val="visible"/>
                                      </p:to>
                                    </p:set>
                                    <p:animEffect filter="fade" transition="in">
                                      <p:cBhvr additive="repl">
                                        <p:cTn id="100" dur="500"/>
                                        <p:tgtEl>
                                          <p:spTgt spid="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2"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Diameter</a:t>
            </a:r>
            <a:endParaRPr b="0" lang="en-US" sz="3000" spc="-1" strike="noStrike">
              <a:solidFill>
                <a:srgbClr val="000000"/>
              </a:solidFill>
              <a:latin typeface="Arial"/>
            </a:endParaRPr>
          </a:p>
        </p:txBody>
      </p:sp>
      <p:sp>
        <p:nvSpPr>
          <p:cNvPr id="543" name="PlaceHolder 2"/>
          <p:cNvSpPr>
            <a:spLocks noGrp="1"/>
          </p:cNvSpPr>
          <p:nvPr>
            <p:ph type="ftr" idx="6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44"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45"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46" name="PlaceHolder 4"/>
          <p:cNvSpPr>
            <a:spLocks noGrp="1"/>
          </p:cNvSpPr>
          <p:nvPr>
            <p:ph type="sldNum" idx="6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29E8CDA9-71AF-4370-B60F-4763A15BB9A0}" type="slidenum">
              <a:rPr b="0" lang="en-US" sz="1200" spc="-1" strike="noStrike">
                <a:solidFill>
                  <a:srgbClr val="787878"/>
                </a:solidFill>
                <a:latin typeface="Aptos"/>
              </a:rPr>
              <a:t>17</a:t>
            </a:fld>
            <a:endParaRPr b="0" lang="en-US" sz="1200" spc="-1" strike="noStrike">
              <a:solidFill>
                <a:srgbClr val="000000"/>
              </a:solidFill>
              <a:latin typeface="Times New Roman"/>
            </a:endParaRPr>
          </a:p>
        </p:txBody>
      </p:sp>
      <p:sp>
        <p:nvSpPr>
          <p:cNvPr id="547" name="TextBox 5"/>
          <p:cNvSpPr/>
          <p:nvPr/>
        </p:nvSpPr>
        <p:spPr>
          <a:xfrm>
            <a:off x="991800" y="1393560"/>
            <a:ext cx="8276760" cy="2009880"/>
          </a:xfrm>
          <a:prstGeom prst="rect">
            <a:avLst/>
          </a:prstGeom>
          <a:noFill/>
          <a:ln w="0">
            <a:noFill/>
          </a:ln>
        </p:spPr>
        <p:style>
          <a:lnRef idx="0"/>
          <a:fillRef idx="0"/>
          <a:effectRef idx="0"/>
          <a:fontRef idx="minor"/>
        </p:style>
        <p:txBody>
          <a:bodyPr numCol="1" spcCol="0" horzOverflow="overflow" vertOverflow="overflow" lIns="90000" rIns="90000" tIns="45000" bIns="45000" anchor="t">
            <a:spAutoFit/>
          </a:bodyPr>
          <a:p>
            <a:pPr>
              <a:lnSpc>
                <a:spcPct val="100000"/>
              </a:lnSpc>
            </a:pPr>
            <a:r>
              <a:rPr b="0" lang="en-US" sz="1800" spc="-1" strike="noStrike">
                <a:solidFill>
                  <a:srgbClr val="000000"/>
                </a:solidFill>
                <a:latin typeface="Aptos"/>
                <a:ea typeface="Aptos"/>
              </a:rPr>
              <a:t>Example Use Cases: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ptos"/>
                <a:ea typeface="Aptos"/>
              </a:rPr>
              <a:t>Leskovec, J., Kleinberg, J., &amp; Faloutsos, C. (2007). Graph Evolution: Densification and Shrinking Diameters. </a:t>
            </a:r>
            <a:r>
              <a:rPr b="0" i="1" lang="en-US" sz="1800" spc="-1" strike="noStrike">
                <a:solidFill>
                  <a:srgbClr val="000000"/>
                </a:solidFill>
                <a:latin typeface="Aptos"/>
                <a:ea typeface="Aptos"/>
              </a:rPr>
              <a:t>arXiv [Physics.Soc-Ph]</a:t>
            </a:r>
            <a:r>
              <a:rPr b="0" lang="en-US" sz="1800" spc="-1" strike="noStrike">
                <a:solidFill>
                  <a:srgbClr val="000000"/>
                </a:solidFill>
                <a:latin typeface="Aptos"/>
                <a:ea typeface="Aptos"/>
              </a:rPr>
              <a:t>. Retrieved from </a:t>
            </a:r>
            <a:r>
              <a:rPr b="0" lang="en-US" sz="1800" spc="-1" strike="noStrike" u="sng">
                <a:solidFill>
                  <a:srgbClr val="467886"/>
                </a:solidFill>
                <a:uFillTx/>
                <a:latin typeface="Aptos"/>
                <a:ea typeface="Aptos"/>
                <a:hlinkClick r:id="rId2"/>
              </a:rPr>
              <a:t>http://arxiv.org/abs/physics/0603229</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p:txBody>
      </p:sp>
    </p:spTree>
  </p:cSld>
  <p:transition>
    <p:fade/>
  </p:transition>
  <p:timing>
    <p:tnLst>
      <p:par>
        <p:cTn id="101" dur="indefinite" restart="never" nodeType="tmRoot">
          <p:childTnLst>
            <p:seq>
              <p:cTn id="102" dur="indefinite" nodeType="mainSeq">
                <p:childTnLst>
                  <p:par>
                    <p:cTn id="103" fill="hold">
                      <p:stCondLst>
                        <p:cond delay="0"/>
                      </p:stCondLst>
                      <p:childTnLst>
                        <p:par>
                          <p:cTn id="104" fill="hold">
                            <p:stCondLst>
                              <p:cond delay="0"/>
                            </p:stCondLst>
                            <p:childTnLst>
                              <p:par>
                                <p:cTn id="105" nodeType="withEffect" fill="hold" presetClass="entr" presetID="10">
                                  <p:stCondLst>
                                    <p:cond delay="250"/>
                                  </p:stCondLst>
                                  <p:endCondLst>
                                    <p:cond delay="0" evt="begin">
                                      <p:tn val="105"/>
                                    </p:cond>
                                  </p:endCondLst>
                                  <p:iterate type="el">
                                    <p:tmAbs val="100"/>
                                  </p:iterate>
                                  <p:childTnLst>
                                    <p:set>
                                      <p:cBhvr>
                                        <p:cTn id="106" dur="1" fill="hold">
                                          <p:stCondLst>
                                            <p:cond delay="0"/>
                                          </p:stCondLst>
                                        </p:cTn>
                                        <p:tgtEl>
                                          <p:spTgt spid="544"/>
                                        </p:tgtEl>
                                        <p:attrNameLst>
                                          <p:attrName>style.visibility</p:attrName>
                                        </p:attrNameLst>
                                      </p:cBhvr>
                                      <p:to>
                                        <p:strVal val="visible"/>
                                      </p:to>
                                    </p:set>
                                    <p:animEffect filter="fade" transition="in">
                                      <p:cBhvr additive="repl">
                                        <p:cTn id="107" dur="500"/>
                                        <p:tgtEl>
                                          <p:spTgt spid="5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8"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Conductance (</a:t>
            </a:r>
            <a:r>
              <a:rPr b="1" lang="en-US" sz="2400" spc="-1" strike="noStrike">
                <a:solidFill>
                  <a:srgbClr val="000000"/>
                </a:solidFill>
                <a:latin typeface="Aptos"/>
              </a:rPr>
              <a:t>Φ</a:t>
            </a:r>
            <a:r>
              <a:rPr b="0" lang="en-US" sz="3000" spc="-1" strike="noStrike">
                <a:solidFill>
                  <a:srgbClr val="000000"/>
                </a:solidFill>
                <a:latin typeface="Aptos Display"/>
              </a:rPr>
              <a:t>) / Expansion</a:t>
            </a:r>
            <a:endParaRPr b="0" lang="en-US" sz="3000" spc="-1" strike="noStrike">
              <a:solidFill>
                <a:srgbClr val="000000"/>
              </a:solidFill>
              <a:latin typeface="Arial"/>
            </a:endParaRPr>
          </a:p>
        </p:txBody>
      </p:sp>
      <p:sp>
        <p:nvSpPr>
          <p:cNvPr id="549" name="PlaceHolder 2"/>
          <p:cNvSpPr>
            <a:spLocks noGrp="1"/>
          </p:cNvSpPr>
          <p:nvPr>
            <p:ph type="ftr" idx="6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50"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WHAT it Measures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Conductance</a:t>
            </a:r>
            <a:r>
              <a:rPr b="0" lang="en-US" sz="1100" spc="-1" strike="noStrike">
                <a:solidFill>
                  <a:srgbClr val="000000"/>
                </a:solidFill>
                <a:latin typeface="Segoe UI"/>
              </a:rPr>
              <a:t> quantifies the </a:t>
            </a:r>
            <a:r>
              <a:rPr b="1" lang="en-US" sz="1100" spc="-1" strike="noStrike">
                <a:solidFill>
                  <a:srgbClr val="000000"/>
                </a:solidFill>
                <a:latin typeface="Segoe UI"/>
              </a:rPr>
              <a:t>strength of the weakest “bottleneck” cut</a:t>
            </a:r>
            <a:r>
              <a:rPr b="0" lang="en-US" sz="1100" spc="-1" strike="noStrike">
                <a:solidFill>
                  <a:srgbClr val="000000"/>
                </a:solidFill>
                <a:latin typeface="Segoe UI"/>
              </a:rPr>
              <a:t> in a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For a subset of nodes S (nonempty, not all of V), conductance compares the </a:t>
            </a:r>
            <a:r>
              <a:rPr b="1" lang="en-US" sz="1100" spc="-1" strike="noStrike">
                <a:solidFill>
                  <a:srgbClr val="000000"/>
                </a:solidFill>
                <a:latin typeface="Segoe UI"/>
              </a:rPr>
              <a:t>size of the edge boundary</a:t>
            </a:r>
            <a:r>
              <a:rPr b="0" lang="en-US" sz="1100" spc="-1" strike="noStrike">
                <a:solidFill>
                  <a:srgbClr val="000000"/>
                </a:solidFill>
                <a:latin typeface="Segoe UI"/>
              </a:rPr>
              <a:t> between S and its complement \bar S to the </a:t>
            </a:r>
            <a:r>
              <a:rPr b="1" lang="en-US" sz="1100" spc="-1" strike="noStrike">
                <a:solidFill>
                  <a:srgbClr val="000000"/>
                </a:solidFill>
                <a:latin typeface="Segoe UI"/>
              </a:rPr>
              <a:t>volume</a:t>
            </a:r>
            <a:r>
              <a:rPr b="0" lang="en-US" sz="1100" spc="-1" strike="noStrike">
                <a:solidFill>
                  <a:srgbClr val="000000"/>
                </a:solidFill>
                <a:latin typeface="Segoe UI"/>
              </a:rPr>
              <a:t> (total incident degree/weight) of the smaller side.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 </a:t>
            </a:r>
            <a:r>
              <a:rPr b="1" lang="en-US" sz="1100" spc="-1" strike="noStrike">
                <a:solidFill>
                  <a:srgbClr val="000000"/>
                </a:solidFill>
                <a:latin typeface="Segoe UI"/>
              </a:rPr>
              <a:t>graph’s conductance</a:t>
            </a:r>
            <a:r>
              <a:rPr b="0" lang="en-US" sz="1100" spc="-1" strike="noStrike">
                <a:solidFill>
                  <a:srgbClr val="000000"/>
                </a:solidFill>
                <a:latin typeface="Segoe UI"/>
              </a:rPr>
              <a:t> Φ(G) (a Cheeger‑type constant) is the </a:t>
            </a:r>
            <a:r>
              <a:rPr b="1" lang="en-US" sz="1100" spc="-1" strike="noStrike">
                <a:solidFill>
                  <a:srgbClr val="000000"/>
                </a:solidFill>
                <a:latin typeface="Segoe UI"/>
              </a:rPr>
              <a:t>minimum</a:t>
            </a:r>
            <a:r>
              <a:rPr b="0" lang="en-US" sz="1100" spc="-1" strike="noStrike">
                <a:solidFill>
                  <a:srgbClr val="000000"/>
                </a:solidFill>
                <a:latin typeface="Segoe UI"/>
              </a:rPr>
              <a:t> conductance over all balanced cuts.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Intuition: a </a:t>
            </a:r>
            <a:r>
              <a:rPr b="1" lang="en-US" sz="1100" spc="-1" strike="noStrike">
                <a:solidFill>
                  <a:srgbClr val="000000"/>
                </a:solidFill>
                <a:latin typeface="Segoe UI"/>
              </a:rPr>
              <a:t>small</a:t>
            </a:r>
            <a:r>
              <a:rPr b="0" lang="en-US" sz="1100" spc="-1" strike="noStrike">
                <a:solidFill>
                  <a:srgbClr val="000000"/>
                </a:solidFill>
                <a:latin typeface="Segoe UI"/>
              </a:rPr>
              <a:t> Φ(G) means there exists a </a:t>
            </a:r>
            <a:r>
              <a:rPr b="1" lang="en-US" sz="1100" spc="-1" strike="noStrike">
                <a:solidFill>
                  <a:srgbClr val="000000"/>
                </a:solidFill>
                <a:latin typeface="Segoe UI"/>
              </a:rPr>
              <a:t>thin “neck(s)”</a:t>
            </a:r>
            <a:r>
              <a:rPr b="0" lang="en-US" sz="1100" spc="-1" strike="noStrike">
                <a:solidFill>
                  <a:srgbClr val="000000"/>
                </a:solidFill>
                <a:latin typeface="Segoe UI"/>
              </a:rPr>
              <a:t>—few inter‑group edges relative to the interior edges—so flow/information mixes </a:t>
            </a:r>
            <a:r>
              <a:rPr b="1" lang="en-US" sz="1100" spc="-1" strike="noStrike">
                <a:solidFill>
                  <a:srgbClr val="000000"/>
                </a:solidFill>
                <a:latin typeface="Segoe UI"/>
              </a:rPr>
              <a:t>poorly</a:t>
            </a:r>
            <a:r>
              <a:rPr b="0" lang="en-US" sz="1100" spc="-1" strike="noStrike">
                <a:solidFill>
                  <a:srgbClr val="000000"/>
                </a:solidFill>
                <a:latin typeface="Segoe UI"/>
              </a:rPr>
              <a:t> across that divide; a </a:t>
            </a:r>
            <a:r>
              <a:rPr b="1" lang="en-US" sz="1100" spc="-1" strike="noStrike">
                <a:solidFill>
                  <a:srgbClr val="000000"/>
                </a:solidFill>
                <a:latin typeface="Segoe UI"/>
              </a:rPr>
              <a:t>large</a:t>
            </a:r>
            <a:r>
              <a:rPr b="0" lang="en-US" sz="1100" spc="-1" strike="noStrike">
                <a:solidFill>
                  <a:srgbClr val="000000"/>
                </a:solidFill>
                <a:latin typeface="Segoe UI"/>
              </a:rPr>
              <a:t> Φ(G) means the network is </a:t>
            </a:r>
            <a:r>
              <a:rPr b="1" lang="en-US" sz="1100" spc="-1" strike="noStrike">
                <a:solidFill>
                  <a:srgbClr val="000000"/>
                </a:solidFill>
                <a:latin typeface="Segoe UI"/>
              </a:rPr>
              <a:t>well‑knit</a:t>
            </a:r>
            <a:r>
              <a:rPr b="0" lang="en-US" sz="1100" spc="-1" strike="noStrike">
                <a:solidFill>
                  <a:srgbClr val="000000"/>
                </a:solidFill>
                <a:latin typeface="Segoe UI"/>
              </a:rPr>
              <a:t> with no easy place to sever it proportionally.</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Notes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Undirected, unweighted</a:t>
            </a:r>
            <a:r>
              <a:rPr b="0" lang="en-US" sz="1100" spc="-1" strike="noStrike">
                <a:solidFill>
                  <a:srgbClr val="000000"/>
                </a:solidFill>
                <a:latin typeface="Segoe UI"/>
              </a:rPr>
              <a:t> graphs: boundary = number of edges crossing the cut; volume = sum of degrees on the side.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Weighted</a:t>
            </a:r>
            <a:r>
              <a:rPr b="0" lang="en-US" sz="1100" spc="-1" strike="noStrike">
                <a:solidFill>
                  <a:srgbClr val="000000"/>
                </a:solidFill>
                <a:latin typeface="Segoe UI"/>
              </a:rPr>
              <a:t> graphs: replace counts with weights (capacities, costs).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Directed / Markov‑chain conductance</a:t>
            </a:r>
            <a:r>
              <a:rPr b="0" lang="en-US" sz="1100" spc="-1" strike="noStrike">
                <a:solidFill>
                  <a:srgbClr val="000000"/>
                </a:solidFill>
                <a:latin typeface="Segoe UI"/>
              </a:rPr>
              <a:t>: defined using the </a:t>
            </a:r>
            <a:r>
              <a:rPr b="1" lang="en-US" sz="1100" spc="-1" strike="noStrike">
                <a:solidFill>
                  <a:srgbClr val="000000"/>
                </a:solidFill>
                <a:latin typeface="Segoe UI"/>
              </a:rPr>
              <a:t>stationary distribution</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Conductance formalizes </a:t>
            </a:r>
            <a:r>
              <a:rPr b="1" lang="en-US" sz="1100" spc="-1" strike="noStrike">
                <a:solidFill>
                  <a:srgbClr val="000000"/>
                </a:solidFill>
                <a:latin typeface="Segoe UI"/>
              </a:rPr>
              <a:t>how easily the network can be “pinched” into two parts</a:t>
            </a:r>
            <a:r>
              <a:rPr b="0" lang="en-US" sz="1100" spc="-1" strike="noStrike">
                <a:solidFill>
                  <a:srgbClr val="000000"/>
                </a:solidFill>
                <a:latin typeface="Segoe UI"/>
              </a:rPr>
              <a:t>. It is a </a:t>
            </a:r>
            <a:r>
              <a:rPr b="1" lang="en-US" sz="1100" spc="-1" strike="noStrike">
                <a:solidFill>
                  <a:srgbClr val="000000"/>
                </a:solidFill>
                <a:latin typeface="Segoe UI"/>
              </a:rPr>
              <a:t>ratio</a:t>
            </a:r>
            <a:r>
              <a:rPr b="0" lang="en-US" sz="1100" spc="-1" strike="noStrike">
                <a:solidFill>
                  <a:srgbClr val="000000"/>
                </a:solidFill>
                <a:latin typeface="Segoe UI"/>
              </a:rPr>
              <a:t> measure: not just “how many cross edges,” but </a:t>
            </a:r>
            <a:r>
              <a:rPr b="1" lang="en-US" sz="1100" spc="-1" strike="noStrike">
                <a:solidFill>
                  <a:srgbClr val="000000"/>
                </a:solidFill>
                <a:latin typeface="Segoe UI"/>
              </a:rPr>
              <a:t>how many cross edges relative to how many edges are inside</a:t>
            </a:r>
            <a:r>
              <a:rPr b="0" lang="en-US" sz="1100" spc="-1" strike="noStrike">
                <a:solidFill>
                  <a:srgbClr val="000000"/>
                </a:solidFill>
                <a:latin typeface="Segoe UI"/>
              </a:rPr>
              <a:t> each side.  </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i="1" lang="en-US" sz="1100" spc="-1" strike="noStrike">
                <a:solidFill>
                  <a:srgbClr val="000000"/>
                </a:solidFill>
                <a:latin typeface="Segoe UI"/>
              </a:rPr>
              <a:t>NOTE:  two parts does NOT mean that each side is connected.  This is a set S and it’s complement S’ not necessarily two connected sets.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It is tightly connected to </a:t>
            </a:r>
            <a:r>
              <a:rPr b="1" lang="en-US" sz="1100" spc="-1" strike="noStrike">
                <a:solidFill>
                  <a:srgbClr val="000000"/>
                </a:solidFill>
                <a:latin typeface="Segoe UI"/>
              </a:rPr>
              <a:t>mixing</a:t>
            </a:r>
            <a:r>
              <a:rPr b="0" lang="en-US" sz="1100" spc="-1" strike="noStrike">
                <a:solidFill>
                  <a:srgbClr val="000000"/>
                </a:solidFill>
                <a:latin typeface="Segoe UI"/>
              </a:rPr>
              <a:t> of random walks and diffusion: </a:t>
            </a:r>
            <a:r>
              <a:rPr b="1" lang="en-US" sz="1100" spc="-1" strike="noStrike">
                <a:solidFill>
                  <a:srgbClr val="000000"/>
                </a:solidFill>
                <a:latin typeface="Segoe UI"/>
              </a:rPr>
              <a:t>higher conductance → faster mixing</a:t>
            </a:r>
            <a:r>
              <a:rPr b="0" lang="en-US" sz="1100" spc="-1" strike="noStrike">
                <a:solidFill>
                  <a:srgbClr val="000000"/>
                </a:solidFill>
                <a:latin typeface="Segoe UI"/>
              </a:rPr>
              <a:t>, </a:t>
            </a:r>
            <a:r>
              <a:rPr b="1" lang="en-US" sz="1100" spc="-1" strike="noStrike">
                <a:solidFill>
                  <a:srgbClr val="000000"/>
                </a:solidFill>
                <a:latin typeface="Segoe UI"/>
              </a:rPr>
              <a:t>lower conductance → slow mixing / poor inter‑module exchange</a:t>
            </a:r>
            <a:r>
              <a:rPr b="0" lang="en-US" sz="1100" spc="-1" strike="noStrike">
                <a:solidFill>
                  <a:srgbClr val="000000"/>
                </a:solidFill>
                <a:latin typeface="Segoe UI"/>
              </a:rPr>
              <a:t>.</a:t>
            </a:r>
            <a:endParaRPr b="0" lang="en-US" sz="1100" spc="-1" strike="noStrike">
              <a:solidFill>
                <a:srgbClr val="000000"/>
              </a:solidFill>
              <a:latin typeface="Arial"/>
            </a:endParaRPr>
          </a:p>
        </p:txBody>
      </p:sp>
      <p:pic>
        <p:nvPicPr>
          <p:cNvPr id="551"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52" name="PlaceHolder 4"/>
          <p:cNvSpPr>
            <a:spLocks noGrp="1"/>
          </p:cNvSpPr>
          <p:nvPr>
            <p:ph type="sldNum" idx="6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C24708F1-7B6D-483F-B4EA-9554F3B82D59}" type="slidenum">
              <a:rPr b="0" lang="en-US" sz="1200" spc="-1" strike="noStrike">
                <a:solidFill>
                  <a:srgbClr val="787878"/>
                </a:solidFill>
                <a:latin typeface="Aptos"/>
              </a:rPr>
              <a:t>18</a:t>
            </a:fld>
            <a:endParaRPr b="0" lang="en-US" sz="1200" spc="-1" strike="noStrike">
              <a:solidFill>
                <a:srgbClr val="000000"/>
              </a:solidFill>
              <a:latin typeface="Times New Roman"/>
            </a:endParaRPr>
          </a:p>
        </p:txBody>
      </p:sp>
    </p:spTree>
  </p:cSld>
  <p:transition>
    <p:fade/>
  </p:transition>
  <p:timing>
    <p:tnLst>
      <p:par>
        <p:cTn id="108" dur="indefinite" restart="never" nodeType="tmRoot">
          <p:childTnLst>
            <p:seq>
              <p:cTn id="109" dur="indefinite" nodeType="mainSeq">
                <p:childTnLst>
                  <p:par>
                    <p:cTn id="110" fill="hold">
                      <p:stCondLst>
                        <p:cond delay="0"/>
                      </p:stCondLst>
                      <p:childTnLst>
                        <p:par>
                          <p:cTn id="111" fill="hold">
                            <p:stCondLst>
                              <p:cond delay="0"/>
                            </p:stCondLst>
                            <p:childTnLst>
                              <p:par>
                                <p:cTn id="112" nodeType="withEffect" fill="hold" presetClass="entr" presetID="10">
                                  <p:stCondLst>
                                    <p:cond delay="250"/>
                                  </p:stCondLst>
                                  <p:iterate type="el">
                                    <p:tmAbs val="100"/>
                                  </p:iterate>
                                  <p:childTnLst>
                                    <p:set>
                                      <p:cBhvr>
                                        <p:cTn id="113" dur="1" fill="hold">
                                          <p:stCondLst>
                                            <p:cond delay="0"/>
                                          </p:stCondLst>
                                        </p:cTn>
                                        <p:tgtEl>
                                          <p:spTgt spid="550"/>
                                        </p:tgtEl>
                                        <p:attrNameLst>
                                          <p:attrName>style.visibility</p:attrName>
                                        </p:attrNameLst>
                                      </p:cBhvr>
                                      <p:to>
                                        <p:strVal val="visible"/>
                                      </p:to>
                                    </p:set>
                                    <p:animEffect filter="fade" transition="in">
                                      <p:cBhvr additive="repl">
                                        <p:cTn id="114" dur="500"/>
                                        <p:tgtEl>
                                          <p:spTgt spid="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3"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Conductance (</a:t>
            </a:r>
            <a:r>
              <a:rPr b="1" lang="en-US" sz="2400" spc="-1" strike="noStrike">
                <a:solidFill>
                  <a:srgbClr val="000000"/>
                </a:solidFill>
                <a:latin typeface="Aptos"/>
              </a:rPr>
              <a:t>Φ</a:t>
            </a:r>
            <a:r>
              <a:rPr b="0" lang="en-US" sz="3000" spc="-1" strike="noStrike">
                <a:solidFill>
                  <a:srgbClr val="000000"/>
                </a:solidFill>
                <a:latin typeface="Aptos Display"/>
              </a:rPr>
              <a:t>) / Expansion</a:t>
            </a:r>
            <a:endParaRPr b="0" lang="en-US" sz="3000" spc="-1" strike="noStrike">
              <a:solidFill>
                <a:srgbClr val="000000"/>
              </a:solidFill>
              <a:latin typeface="Arial"/>
            </a:endParaRPr>
          </a:p>
        </p:txBody>
      </p:sp>
      <p:sp>
        <p:nvSpPr>
          <p:cNvPr id="554" name="PlaceHolder 2"/>
          <p:cNvSpPr>
            <a:spLocks noGrp="1"/>
          </p:cNvSpPr>
          <p:nvPr>
            <p:ph type="ftr" idx="6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55"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1" lang="en-US" sz="1400" spc="-1" strike="noStrike">
                <a:solidFill>
                  <a:srgbClr val="000000"/>
                </a:solidFill>
                <a:latin typeface="Aptos"/>
              </a:rPr>
              <a:t>WHEN to Use Conductance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Use conductance when your questions involve </a:t>
            </a:r>
            <a:r>
              <a:rPr b="1" lang="en-US" sz="1100" spc="-1" strike="noStrike">
                <a:solidFill>
                  <a:srgbClr val="000000"/>
                </a:solidFill>
                <a:latin typeface="Segoe UI"/>
              </a:rPr>
              <a:t>bottlenecks, mixing, or cut strength</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Robustness analysis</a:t>
            </a:r>
            <a:r>
              <a:rPr b="0" lang="en-US" sz="1100" spc="-1" strike="noStrike">
                <a:solidFill>
                  <a:srgbClr val="000000"/>
                </a:solidFill>
                <a:latin typeface="Segoe UI"/>
              </a:rPr>
              <a:t>: Identify whether there exists a </a:t>
            </a:r>
            <a:r>
              <a:rPr b="1" lang="en-US" sz="1100" spc="-1" strike="noStrike">
                <a:solidFill>
                  <a:srgbClr val="000000"/>
                </a:solidFill>
                <a:latin typeface="Segoe UI"/>
              </a:rPr>
              <a:t>vulnerable partition</a:t>
            </a:r>
            <a:r>
              <a:rPr b="0" lang="en-US" sz="1100" spc="-1" strike="noStrike">
                <a:solidFill>
                  <a:srgbClr val="000000"/>
                </a:solidFill>
                <a:latin typeface="Segoe UI"/>
              </a:rPr>
              <a:t> whose boundary is sparse relative to its interior (a likely point of failure or isolation).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Community detection evaluation</a:t>
            </a:r>
            <a:r>
              <a:rPr b="0" lang="en-US" sz="1100" spc="-1" strike="noStrike">
                <a:solidFill>
                  <a:srgbClr val="000000"/>
                </a:solidFill>
                <a:latin typeface="Segoe UI"/>
              </a:rPr>
              <a:t>: Score how “well separated” a proposed community is (low conductance communities are internally tight, externally sparse).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Containment</a:t>
            </a:r>
            <a:r>
              <a:rPr b="0" lang="en-US" sz="1100" spc="-1" strike="noStrike">
                <a:solidFill>
                  <a:srgbClr val="000000"/>
                </a:solidFill>
                <a:latin typeface="Segoe UI"/>
              </a:rPr>
              <a:t>: Understand whether </a:t>
            </a:r>
            <a:r>
              <a:rPr b="1" lang="en-US" sz="1100" spc="-1" strike="noStrike">
                <a:solidFill>
                  <a:srgbClr val="000000"/>
                </a:solidFill>
                <a:latin typeface="Segoe UI"/>
              </a:rPr>
              <a:t>module boundaries</a:t>
            </a:r>
            <a:r>
              <a:rPr b="0" lang="en-US" sz="1100" spc="-1" strike="noStrike">
                <a:solidFill>
                  <a:srgbClr val="000000"/>
                </a:solidFill>
                <a:latin typeface="Segoe UI"/>
              </a:rPr>
              <a:t> naturally slow cross‑module spread.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Performance modeling</a:t>
            </a:r>
            <a:r>
              <a:rPr b="0" lang="en-US" sz="1100" spc="-1" strike="noStrike">
                <a:solidFill>
                  <a:srgbClr val="000000"/>
                </a:solidFill>
                <a:latin typeface="Segoe UI"/>
              </a:rPr>
              <a:t>: Anticipate </a:t>
            </a:r>
            <a:r>
              <a:rPr b="1" lang="en-US" sz="1100" spc="-1" strike="noStrike">
                <a:solidFill>
                  <a:srgbClr val="000000"/>
                </a:solidFill>
                <a:latin typeface="Segoe UI"/>
              </a:rPr>
              <a:t>latency</a:t>
            </a:r>
            <a:r>
              <a:rPr b="0" lang="en-US" sz="1100" spc="-1" strike="noStrike">
                <a:solidFill>
                  <a:srgbClr val="000000"/>
                </a:solidFill>
                <a:latin typeface="Segoe UI"/>
              </a:rPr>
              <a:t> or </a:t>
            </a:r>
            <a:r>
              <a:rPr b="1" lang="en-US" sz="1100" spc="-1" strike="noStrike">
                <a:solidFill>
                  <a:srgbClr val="000000"/>
                </a:solidFill>
                <a:latin typeface="Segoe UI"/>
              </a:rPr>
              <a:t>load concentration</a:t>
            </a:r>
            <a:r>
              <a:rPr b="0" lang="en-US" sz="1100" spc="-1" strike="noStrike">
                <a:solidFill>
                  <a:srgbClr val="000000"/>
                </a:solidFill>
                <a:latin typeface="Segoe UI"/>
              </a:rPr>
              <a:t> where cuts are thin.</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Caveats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Optimization</a:t>
            </a:r>
            <a:r>
              <a:rPr b="0" lang="en-US" sz="1100" spc="-1" strike="noStrike">
                <a:solidFill>
                  <a:srgbClr val="000000"/>
                </a:solidFill>
                <a:latin typeface="Segoe UI"/>
              </a:rPr>
              <a:t>: finding the </a:t>
            </a:r>
            <a:r>
              <a:rPr b="1" lang="en-US" sz="1100" spc="-1" strike="noStrike">
                <a:solidFill>
                  <a:srgbClr val="000000"/>
                </a:solidFill>
                <a:latin typeface="Segoe UI"/>
              </a:rPr>
              <a:t>minimum‑conductance cut</a:t>
            </a:r>
            <a:r>
              <a:rPr b="0" lang="en-US" sz="1100" spc="-1" strike="noStrike">
                <a:solidFill>
                  <a:srgbClr val="000000"/>
                </a:solidFill>
                <a:latin typeface="Segoe UI"/>
              </a:rPr>
              <a:t> exactly is computationally hard; use </a:t>
            </a:r>
            <a:r>
              <a:rPr b="1" lang="en-US" sz="1100" spc="-1" strike="noStrike">
                <a:solidFill>
                  <a:srgbClr val="000000"/>
                </a:solidFill>
                <a:latin typeface="Segoe UI"/>
              </a:rPr>
              <a:t>spectral partitioning</a:t>
            </a:r>
            <a:r>
              <a:rPr b="0" lang="en-US" sz="1100" spc="-1" strike="noStrike">
                <a:solidFill>
                  <a:srgbClr val="000000"/>
                </a:solidFill>
                <a:latin typeface="Segoe UI"/>
              </a:rPr>
              <a:t> or </a:t>
            </a:r>
            <a:r>
              <a:rPr b="1" lang="en-US" sz="1100" spc="-1" strike="noStrike">
                <a:solidFill>
                  <a:srgbClr val="000000"/>
                </a:solidFill>
                <a:latin typeface="Segoe UI"/>
              </a:rPr>
              <a:t>flow‑based approximations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Scale and balance</a:t>
            </a:r>
            <a:r>
              <a:rPr b="0" lang="en-US" sz="1100" spc="-1" strike="noStrike">
                <a:solidFill>
                  <a:srgbClr val="000000"/>
                </a:solidFill>
                <a:latin typeface="Segoe UI"/>
              </a:rPr>
              <a:t>: most definitions restrict to reasonably balanced subsets (e.g., volume constraints).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INTERPRETATION (High vs Low)</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Low Conductance (Φ small)</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There exists a </a:t>
            </a:r>
            <a:r>
              <a:rPr b="1" lang="en-US" sz="1100" spc="-1" strike="noStrike">
                <a:solidFill>
                  <a:srgbClr val="000000"/>
                </a:solidFill>
                <a:latin typeface="Segoe UI"/>
              </a:rPr>
              <a:t>sparse boundary</a:t>
            </a:r>
            <a:r>
              <a:rPr b="0" lang="en-US" sz="1100" spc="-1" strike="noStrike">
                <a:solidFill>
                  <a:srgbClr val="000000"/>
                </a:solidFill>
                <a:latin typeface="Segoe UI"/>
              </a:rPr>
              <a:t> relative to interior volume ⇒ </a:t>
            </a:r>
            <a:r>
              <a:rPr b="1" lang="en-US" sz="1100" spc="-1" strike="noStrike">
                <a:solidFill>
                  <a:srgbClr val="000000"/>
                </a:solidFill>
                <a:latin typeface="Segoe UI"/>
              </a:rPr>
              <a:t>clear bottleneck</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Slow mixing</a:t>
            </a:r>
            <a:r>
              <a:rPr b="0" lang="en-US" sz="1100" spc="-1" strike="noStrike">
                <a:solidFill>
                  <a:srgbClr val="000000"/>
                </a:solidFill>
                <a:latin typeface="Segoe UI"/>
              </a:rPr>
              <a:t> across this boundary (walks and information linger within modules).</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Subtleties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A network can be </a:t>
            </a:r>
            <a:r>
              <a:rPr b="1" lang="en-US" sz="1100" spc="-1" strike="noStrike">
                <a:solidFill>
                  <a:srgbClr val="000000"/>
                </a:solidFill>
                <a:latin typeface="Segoe UI"/>
              </a:rPr>
              <a:t>dense yet have low conductance</a:t>
            </a:r>
            <a:r>
              <a:rPr b="0" lang="en-US" sz="1100" spc="-1" strike="noStrike">
                <a:solidFill>
                  <a:srgbClr val="000000"/>
                </a:solidFill>
                <a:latin typeface="Segoe UI"/>
              </a:rPr>
              <a:t> if most edges are </a:t>
            </a:r>
            <a:r>
              <a:rPr b="1" lang="en-US" sz="1100" spc="-1" strike="noStrike">
                <a:solidFill>
                  <a:srgbClr val="000000"/>
                </a:solidFill>
                <a:latin typeface="Segoe UI"/>
              </a:rPr>
              <a:t>intra‑module</a:t>
            </a:r>
            <a:r>
              <a:rPr b="0" lang="en-US" sz="1100" spc="-1" strike="noStrike">
                <a:solidFill>
                  <a:srgbClr val="000000"/>
                </a:solidFill>
                <a:latin typeface="Segoe UI"/>
              </a:rPr>
              <a:t> and only a few are cross‑module.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Conversely, </a:t>
            </a:r>
            <a:r>
              <a:rPr b="1" lang="en-US" sz="1100" spc="-1" strike="noStrike">
                <a:solidFill>
                  <a:srgbClr val="000000"/>
                </a:solidFill>
                <a:latin typeface="Segoe UI"/>
              </a:rPr>
              <a:t>sparse but well‑spread wiring</a:t>
            </a:r>
            <a:r>
              <a:rPr b="0" lang="en-US" sz="1100" spc="-1" strike="noStrike">
                <a:solidFill>
                  <a:srgbClr val="000000"/>
                </a:solidFill>
                <a:latin typeface="Segoe UI"/>
              </a:rPr>
              <a:t> can produce </a:t>
            </a:r>
            <a:r>
              <a:rPr b="1" lang="en-US" sz="1100" spc="-1" strike="noStrike">
                <a:solidFill>
                  <a:srgbClr val="000000"/>
                </a:solidFill>
                <a:latin typeface="Segoe UI"/>
              </a:rPr>
              <a:t>higher conductance</a:t>
            </a:r>
            <a:r>
              <a:rPr b="0" lang="en-US" sz="1100" spc="-1" strike="noStrike">
                <a:solidFill>
                  <a:srgbClr val="000000"/>
                </a:solidFill>
                <a:latin typeface="Segoe UI"/>
              </a:rPr>
              <a:t> than a dense but highly clustered network.</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56"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57" name="PlaceHolder 4"/>
          <p:cNvSpPr>
            <a:spLocks noGrp="1"/>
          </p:cNvSpPr>
          <p:nvPr>
            <p:ph type="sldNum" idx="6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DE8E74CD-B507-4902-918B-CC4FD1E6AAA4}" type="slidenum">
              <a:rPr b="0" lang="en-US" sz="1200" spc="-1" strike="noStrike">
                <a:solidFill>
                  <a:srgbClr val="787878"/>
                </a:solidFill>
                <a:latin typeface="Aptos"/>
              </a:rPr>
              <a:t>19</a:t>
            </a:fld>
            <a:endParaRPr b="0" lang="en-US" sz="1200" spc="-1" strike="noStrike">
              <a:solidFill>
                <a:srgbClr val="000000"/>
              </a:solidFill>
              <a:latin typeface="Times New Roman"/>
            </a:endParaRPr>
          </a:p>
        </p:txBody>
      </p:sp>
    </p:spTree>
  </p:cSld>
  <p:transition>
    <p:fade/>
  </p:transition>
  <p:timing>
    <p:tnLst>
      <p:par>
        <p:cTn id="115" dur="indefinite" restart="never" nodeType="tmRoot">
          <p:childTnLst>
            <p:seq>
              <p:cTn id="116" dur="indefinite" nodeType="mainSeq">
                <p:childTnLst>
                  <p:par>
                    <p:cTn id="117" fill="hold">
                      <p:stCondLst>
                        <p:cond delay="0"/>
                      </p:stCondLst>
                      <p:childTnLst>
                        <p:par>
                          <p:cTn id="118" fill="hold">
                            <p:stCondLst>
                              <p:cond delay="0"/>
                            </p:stCondLst>
                            <p:childTnLst>
                              <p:par>
                                <p:cTn id="119" nodeType="withEffect" fill="hold" presetClass="entr" presetID="10">
                                  <p:stCondLst>
                                    <p:cond delay="250"/>
                                  </p:stCondLst>
                                  <p:iterate type="el">
                                    <p:tmAbs val="100"/>
                                  </p:iterate>
                                  <p:childTnLst>
                                    <p:set>
                                      <p:cBhvr>
                                        <p:cTn id="120" dur="1" fill="hold">
                                          <p:stCondLst>
                                            <p:cond delay="0"/>
                                          </p:stCondLst>
                                        </p:cTn>
                                        <p:tgtEl>
                                          <p:spTgt spid="555"/>
                                        </p:tgtEl>
                                        <p:attrNameLst>
                                          <p:attrName>style.visibility</p:attrName>
                                        </p:attrNameLst>
                                      </p:cBhvr>
                                      <p:to>
                                        <p:strVal val="visible"/>
                                      </p:to>
                                    </p:set>
                                    <p:animEffect filter="fade" transition="in">
                                      <p:cBhvr additive="repl">
                                        <p:cTn id="121" dur="500"/>
                                        <p:tgtEl>
                                          <p:spTgt spid="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8"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Conductance (</a:t>
            </a:r>
            <a:r>
              <a:rPr b="1" lang="en-US" sz="2400" spc="-1" strike="noStrike">
                <a:solidFill>
                  <a:srgbClr val="000000"/>
                </a:solidFill>
                <a:latin typeface="Aptos"/>
              </a:rPr>
              <a:t>Φ</a:t>
            </a:r>
            <a:r>
              <a:rPr b="0" lang="en-US" sz="3000" spc="-1" strike="noStrike">
                <a:solidFill>
                  <a:srgbClr val="000000"/>
                </a:solidFill>
                <a:latin typeface="Aptos Display"/>
              </a:rPr>
              <a:t>) / Expansion</a:t>
            </a:r>
            <a:endParaRPr b="0" lang="en-US" sz="3000" spc="-1" strike="noStrike">
              <a:solidFill>
                <a:srgbClr val="000000"/>
              </a:solidFill>
              <a:latin typeface="Arial"/>
            </a:endParaRPr>
          </a:p>
        </p:txBody>
      </p:sp>
      <p:sp>
        <p:nvSpPr>
          <p:cNvPr id="559" name="PlaceHolder 2"/>
          <p:cNvSpPr>
            <a:spLocks noGrp="1"/>
          </p:cNvSpPr>
          <p:nvPr>
            <p:ph type="ftr" idx="6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60"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Low conductance identifies </a:t>
            </a:r>
            <a:r>
              <a:rPr b="1" lang="en-US" sz="1100" spc="-1" strike="noStrike">
                <a:solidFill>
                  <a:srgbClr val="000000"/>
                </a:solidFill>
                <a:latin typeface="Segoe UI"/>
              </a:rPr>
              <a:t>structural bottlenecks</a:t>
            </a:r>
            <a:r>
              <a:rPr b="0" lang="en-US" sz="1100" spc="-1" strike="noStrike">
                <a:solidFill>
                  <a:srgbClr val="000000"/>
                </a:solidFill>
                <a:latin typeface="Segoe UI"/>
              </a:rPr>
              <a:t> that </a:t>
            </a:r>
            <a:r>
              <a:rPr b="1" lang="en-US" sz="1100" spc="-1" strike="noStrike">
                <a:solidFill>
                  <a:srgbClr val="000000"/>
                </a:solidFill>
                <a:latin typeface="Segoe UI"/>
              </a:rPr>
              <a:t>still exist even when the graph is connected</a:t>
            </a:r>
            <a:r>
              <a:rPr b="0" lang="en-US" sz="1100" spc="-1" strike="noStrike">
                <a:solidFill>
                  <a:srgbClr val="000000"/>
                </a:solidFill>
                <a:latin typeface="Segoe UI"/>
              </a:rPr>
              <a:t>; it explains </a:t>
            </a:r>
            <a:r>
              <a:rPr b="0" i="1" lang="en-US" sz="1100" spc="-1" strike="noStrike">
                <a:solidFill>
                  <a:srgbClr val="000000"/>
                </a:solidFill>
                <a:latin typeface="Segoe UI"/>
              </a:rPr>
              <a:t>where</a:t>
            </a:r>
            <a:r>
              <a:rPr b="0" lang="en-US" sz="1100" spc="-1" strike="noStrike">
                <a:solidFill>
                  <a:srgbClr val="000000"/>
                </a:solidFill>
                <a:latin typeface="Segoe UI"/>
              </a:rPr>
              <a:t> connectivity is </a:t>
            </a:r>
            <a:r>
              <a:rPr b="1" lang="en-US" sz="1100" spc="-1" strike="noStrike">
                <a:solidFill>
                  <a:srgbClr val="000000"/>
                </a:solidFill>
                <a:latin typeface="Segoe UI"/>
              </a:rPr>
              <a:t>geometrically fragile</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conductance means </a:t>
            </a:r>
            <a:r>
              <a:rPr b="1" lang="en-US" sz="1100" spc="-1" strike="noStrike">
                <a:solidFill>
                  <a:srgbClr val="000000"/>
                </a:solidFill>
                <a:latin typeface="Segoe UI"/>
              </a:rPr>
              <a:t>no cheaply isolatable side</a:t>
            </a:r>
            <a:r>
              <a:rPr b="0" lang="en-US" sz="1100" spc="-1" strike="noStrike">
                <a:solidFill>
                  <a:srgbClr val="000000"/>
                </a:solidFill>
                <a:latin typeface="Segoe UI"/>
              </a:rPr>
              <a:t>—connectivity is </a:t>
            </a:r>
            <a:r>
              <a:rPr b="1" lang="en-US" sz="1100" spc="-1" strike="noStrike">
                <a:solidFill>
                  <a:srgbClr val="000000"/>
                </a:solidFill>
                <a:latin typeface="Segoe UI"/>
              </a:rPr>
              <a:t>uniformly “sticky”</a:t>
            </a:r>
            <a:r>
              <a:rPr b="0" lang="en-US" sz="1100" spc="-1" strike="noStrike">
                <a:solidFill>
                  <a:srgbClr val="000000"/>
                </a:solidFill>
                <a:latin typeface="Segoe UI"/>
              </a:rPr>
              <a:t> across the graph.</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 (Resistance to Failure)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Targeted removal</a:t>
            </a:r>
            <a:r>
              <a:rPr b="0" lang="en-US" sz="1100" spc="-1" strike="noStrike">
                <a:solidFill>
                  <a:srgbClr val="000000"/>
                </a:solidFill>
                <a:latin typeface="Segoe UI"/>
              </a:rPr>
              <a:t> of boundary edges in a </a:t>
            </a:r>
            <a:r>
              <a:rPr b="1" lang="en-US" sz="1100" spc="-1" strike="noStrike">
                <a:solidFill>
                  <a:srgbClr val="000000"/>
                </a:solidFill>
                <a:latin typeface="Segoe UI"/>
              </a:rPr>
              <a:t>low‑conductance cut</a:t>
            </a:r>
            <a:r>
              <a:rPr b="0" lang="en-US" sz="1100" spc="-1" strike="noStrike">
                <a:solidFill>
                  <a:srgbClr val="000000"/>
                </a:solidFill>
                <a:latin typeface="Segoe UI"/>
              </a:rPr>
              <a:t> can </a:t>
            </a:r>
            <a:r>
              <a:rPr b="1" lang="en-US" sz="1100" spc="-1" strike="noStrike">
                <a:solidFill>
                  <a:srgbClr val="000000"/>
                </a:solidFill>
                <a:latin typeface="Segoe UI"/>
              </a:rPr>
              <a:t>separate</a:t>
            </a:r>
            <a:r>
              <a:rPr b="0" lang="en-US" sz="1100" spc="-1" strike="noStrike">
                <a:solidFill>
                  <a:srgbClr val="000000"/>
                </a:solidFill>
                <a:latin typeface="Segoe UI"/>
              </a:rPr>
              <a:t> the network or severely reduce cross‑module reach.</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 </a:t>
            </a:r>
            <a:r>
              <a:rPr b="1" lang="en-US" sz="1100" spc="-1" strike="noStrike">
                <a:solidFill>
                  <a:srgbClr val="000000"/>
                </a:solidFill>
                <a:latin typeface="Segoe UI"/>
              </a:rPr>
              <a:t>high‑conductance</a:t>
            </a:r>
            <a:r>
              <a:rPr b="0" lang="en-US" sz="1100" spc="-1" strike="noStrike">
                <a:solidFill>
                  <a:srgbClr val="000000"/>
                </a:solidFill>
                <a:latin typeface="Segoe UI"/>
              </a:rPr>
              <a:t> graphs, proportionally many edges must be removed to achieve similar damage, implying greater </a:t>
            </a:r>
            <a:r>
              <a:rPr b="1" lang="en-US" sz="1100" spc="-1" strike="noStrike">
                <a:solidFill>
                  <a:srgbClr val="000000"/>
                </a:solidFill>
                <a:latin typeface="Segoe UI"/>
              </a:rPr>
              <a:t>edge‑level robustness</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 (Recovery/Continuity)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Systems with </a:t>
            </a:r>
            <a:r>
              <a:rPr b="1" lang="en-US" sz="1100" spc="-1" strike="noStrike">
                <a:solidFill>
                  <a:srgbClr val="000000"/>
                </a:solidFill>
                <a:latin typeface="Segoe UI"/>
              </a:rPr>
              <a:t>low conductance</a:t>
            </a:r>
            <a:r>
              <a:rPr b="0" lang="en-US" sz="1100" spc="-1" strike="noStrike">
                <a:solidFill>
                  <a:srgbClr val="000000"/>
                </a:solidFill>
                <a:latin typeface="Segoe UI"/>
              </a:rPr>
              <a:t> require </a:t>
            </a:r>
            <a:r>
              <a:rPr b="1" lang="en-US" sz="1100" spc="-1" strike="noStrike">
                <a:solidFill>
                  <a:srgbClr val="000000"/>
                </a:solidFill>
                <a:latin typeface="Segoe UI"/>
              </a:rPr>
              <a:t>adding cross‑module edges</a:t>
            </a:r>
            <a:r>
              <a:rPr b="0" lang="en-US" sz="1100" spc="-1" strike="noStrike">
                <a:solidFill>
                  <a:srgbClr val="000000"/>
                </a:solidFill>
                <a:latin typeface="Segoe UI"/>
              </a:rPr>
              <a:t> (or reweighting) to recover flow; a few well‑placed bridges can </a:t>
            </a:r>
            <a:r>
              <a:rPr b="1" lang="en-US" sz="1100" spc="-1" strike="noStrike">
                <a:solidFill>
                  <a:srgbClr val="000000"/>
                </a:solidFill>
                <a:latin typeface="Segoe UI"/>
              </a:rPr>
              <a:t>dramatically increase</a:t>
            </a:r>
            <a:r>
              <a:rPr b="0" lang="en-US" sz="1100" spc="-1" strike="noStrike">
                <a:solidFill>
                  <a:srgbClr val="000000"/>
                </a:solidFill>
                <a:latin typeface="Segoe UI"/>
              </a:rPr>
              <a:t> Φ.</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High‑conductance</a:t>
            </a:r>
            <a:r>
              <a:rPr b="0" lang="en-US" sz="1100" spc="-1" strike="noStrike">
                <a:solidFill>
                  <a:srgbClr val="000000"/>
                </a:solidFill>
                <a:latin typeface="Segoe UI"/>
              </a:rPr>
              <a:t> structures </a:t>
            </a:r>
            <a:r>
              <a:rPr b="1" lang="en-US" sz="1100" spc="-1" strike="noStrike">
                <a:solidFill>
                  <a:srgbClr val="000000"/>
                </a:solidFill>
                <a:latin typeface="Segoe UI"/>
              </a:rPr>
              <a:t>degrade gracefully</a:t>
            </a:r>
            <a:r>
              <a:rPr b="0" lang="en-US" sz="1100" spc="-1" strike="noStrike">
                <a:solidFill>
                  <a:srgbClr val="000000"/>
                </a:solidFill>
                <a:latin typeface="Segoe UI"/>
              </a:rPr>
              <a:t> and </a:t>
            </a:r>
            <a:r>
              <a:rPr b="1" lang="en-US" sz="1100" spc="-1" strike="noStrike">
                <a:solidFill>
                  <a:srgbClr val="000000"/>
                </a:solidFill>
                <a:latin typeface="Segoe UI"/>
              </a:rPr>
              <a:t>recover quickly</a:t>
            </a:r>
            <a:r>
              <a:rPr b="0" lang="en-US" sz="1100" spc="-1" strike="noStrike">
                <a:solidFill>
                  <a:srgbClr val="000000"/>
                </a:solidFill>
                <a:latin typeface="Segoe UI"/>
              </a:rPr>
              <a:t> since many parallel corridors exist; restoring any subset of them rapidly re‑establishes mixing.</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61"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62" name="PlaceHolder 4"/>
          <p:cNvSpPr>
            <a:spLocks noGrp="1"/>
          </p:cNvSpPr>
          <p:nvPr>
            <p:ph type="sldNum" idx="6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80A4C0B8-27CC-40ED-9684-E82413C04286}" type="slidenum">
              <a:rPr b="0" lang="en-US" sz="1200" spc="-1" strike="noStrike">
                <a:solidFill>
                  <a:srgbClr val="787878"/>
                </a:solidFill>
                <a:latin typeface="Aptos"/>
              </a:rPr>
              <a:t>20</a:t>
            </a:fld>
            <a:endParaRPr b="0" lang="en-US" sz="1200" spc="-1" strike="noStrike">
              <a:solidFill>
                <a:srgbClr val="000000"/>
              </a:solidFill>
              <a:latin typeface="Times New Roman"/>
            </a:endParaRPr>
          </a:p>
        </p:txBody>
      </p:sp>
    </p:spTree>
  </p:cSld>
  <p:transition>
    <p:fade/>
  </p:transition>
  <p:timing>
    <p:tnLst>
      <p:par>
        <p:cTn id="122" dur="indefinite" restart="never" nodeType="tmRoot">
          <p:childTnLst>
            <p:seq>
              <p:cTn id="123" dur="indefinite" nodeType="mainSeq">
                <p:childTnLst>
                  <p:par>
                    <p:cTn id="124" fill="hold">
                      <p:stCondLst>
                        <p:cond delay="0"/>
                      </p:stCondLst>
                      <p:childTnLst>
                        <p:par>
                          <p:cTn id="125" fill="hold">
                            <p:stCondLst>
                              <p:cond delay="0"/>
                            </p:stCondLst>
                            <p:childTnLst>
                              <p:par>
                                <p:cTn id="126" nodeType="withEffect" fill="hold" presetClass="entr" presetID="10">
                                  <p:stCondLst>
                                    <p:cond delay="250"/>
                                  </p:stCondLst>
                                  <p:iterate type="el">
                                    <p:tmAbs val="100"/>
                                  </p:iterate>
                                  <p:childTnLst>
                                    <p:set>
                                      <p:cBhvr>
                                        <p:cTn id="127" dur="1" fill="hold">
                                          <p:stCondLst>
                                            <p:cond delay="0"/>
                                          </p:stCondLst>
                                        </p:cTn>
                                        <p:tgtEl>
                                          <p:spTgt spid="560"/>
                                        </p:tgtEl>
                                        <p:attrNameLst>
                                          <p:attrName>style.visibility</p:attrName>
                                        </p:attrNameLst>
                                      </p:cBhvr>
                                      <p:to>
                                        <p:strVal val="visible"/>
                                      </p:to>
                                    </p:set>
                                    <p:animEffect filter="fade" transition="in">
                                      <p:cBhvr additive="repl">
                                        <p:cTn id="128" dur="500"/>
                                        <p:tgtEl>
                                          <p:spTgt spid="5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3"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Conductance (</a:t>
            </a:r>
            <a:r>
              <a:rPr b="1" lang="en-US" sz="2400" spc="-1" strike="noStrike">
                <a:solidFill>
                  <a:srgbClr val="000000"/>
                </a:solidFill>
                <a:latin typeface="Aptos"/>
              </a:rPr>
              <a:t>Φ</a:t>
            </a:r>
            <a:r>
              <a:rPr b="0" lang="en-US" sz="3000" spc="-1" strike="noStrike">
                <a:solidFill>
                  <a:srgbClr val="000000"/>
                </a:solidFill>
                <a:latin typeface="Aptos Display"/>
              </a:rPr>
              <a:t>) / Expansion</a:t>
            </a:r>
            <a:endParaRPr b="0" lang="en-US" sz="3000" spc="-1" strike="noStrike">
              <a:solidFill>
                <a:srgbClr val="000000"/>
              </a:solidFill>
              <a:latin typeface="Arial"/>
            </a:endParaRPr>
          </a:p>
        </p:txBody>
      </p:sp>
      <p:sp>
        <p:nvSpPr>
          <p:cNvPr id="564" name="PlaceHolder 2"/>
          <p:cNvSpPr>
            <a:spLocks noGrp="1"/>
          </p:cNvSpPr>
          <p:nvPr>
            <p:ph type="ftr" idx="6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65"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400" spc="-1" strike="noStrike">
                <a:solidFill>
                  <a:srgbClr val="000000"/>
                </a:solidFill>
                <a:latin typeface="Aptos"/>
                <a:ea typeface="Aptos"/>
              </a:rPr>
              <a:t>van Laarhoven, T., &amp; Marchiori, E. (2016). Local Network Community Detection with Continuous Optimization of Conductance and Weighted Kernel K-Means. </a:t>
            </a:r>
            <a:r>
              <a:rPr b="0" i="1" lang="en-US" sz="1400" spc="-1" strike="noStrike">
                <a:solidFill>
                  <a:srgbClr val="000000"/>
                </a:solidFill>
                <a:latin typeface="Aptos"/>
                <a:ea typeface="Aptos"/>
              </a:rPr>
              <a:t>arXiv [Cs.SI]</a:t>
            </a:r>
            <a:r>
              <a:rPr b="0" lang="en-US" sz="1400" spc="-1" strike="noStrike">
                <a:solidFill>
                  <a:srgbClr val="000000"/>
                </a:solidFill>
                <a:latin typeface="Aptos"/>
                <a:ea typeface="Aptos"/>
              </a:rPr>
              <a:t>. Retrieved from </a:t>
            </a:r>
            <a:r>
              <a:rPr b="0" lang="en-US" sz="1400" spc="-1" strike="noStrike" u="sng">
                <a:solidFill>
                  <a:srgbClr val="467886"/>
                </a:solidFill>
                <a:uFillTx/>
                <a:latin typeface="Aptos"/>
                <a:ea typeface="Aptos"/>
                <a:hlinkClick r:id="rId1"/>
              </a:rPr>
              <a:t>http://arxiv.org/abs/1601.05775</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400" spc="-1" strike="noStrike">
                <a:solidFill>
                  <a:srgbClr val="000000"/>
                </a:solidFill>
                <a:latin typeface="Aptos"/>
                <a:ea typeface="Aptos"/>
              </a:rPr>
              <a:t>Yang, Y., Wang, M., Bindel, D., &amp; He, K. (2021). Streaming Local Community Detection through Approximate Conductance. </a:t>
            </a:r>
            <a:r>
              <a:rPr b="0" i="1" lang="en-US" sz="1400" spc="-1" strike="noStrike">
                <a:solidFill>
                  <a:srgbClr val="000000"/>
                </a:solidFill>
                <a:latin typeface="Aptos"/>
                <a:ea typeface="Aptos"/>
              </a:rPr>
              <a:t>arXiv [Cs.SI]</a:t>
            </a:r>
            <a:r>
              <a:rPr b="0" lang="en-US" sz="1400" spc="-1" strike="noStrike">
                <a:solidFill>
                  <a:srgbClr val="000000"/>
                </a:solidFill>
                <a:latin typeface="Aptos"/>
                <a:ea typeface="Aptos"/>
              </a:rPr>
              <a:t>. Retrieved from </a:t>
            </a:r>
            <a:r>
              <a:rPr b="0" lang="en-US" sz="1400" spc="-1" strike="noStrike" u="sng">
                <a:solidFill>
                  <a:srgbClr val="467886"/>
                </a:solidFill>
                <a:uFillTx/>
                <a:latin typeface="Aptos"/>
                <a:ea typeface="Aptos"/>
                <a:hlinkClick r:id="rId2"/>
              </a:rPr>
              <a:t>http://arxiv.org/abs/2110.14972</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66" name="Picture Placeholder 4" descr=""/>
          <p:cNvPicPr/>
          <p:nvPr/>
        </p:nvPicPr>
        <p:blipFill>
          <a:blip r:embed="rId3">
            <a:alphaModFix amt="20000"/>
          </a:blip>
          <a:srcRect l="-72971" t="-397496" r="-72971" b="-397496"/>
          <a:stretch/>
        </p:blipFill>
        <p:spPr>
          <a:xfrm>
            <a:off x="9287640" y="393120"/>
            <a:ext cx="2083680" cy="6050160"/>
          </a:xfrm>
          <a:prstGeom prst="rect">
            <a:avLst/>
          </a:prstGeom>
          <a:ln w="0">
            <a:noFill/>
          </a:ln>
        </p:spPr>
      </p:pic>
      <p:sp>
        <p:nvSpPr>
          <p:cNvPr id="567" name="PlaceHolder 4"/>
          <p:cNvSpPr>
            <a:spLocks noGrp="1"/>
          </p:cNvSpPr>
          <p:nvPr>
            <p:ph type="sldNum" idx="6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EDB013BF-22B2-413F-AFD8-23AB1A1E7749}" type="slidenum">
              <a:rPr b="0" lang="en-US" sz="1200" spc="-1" strike="noStrike">
                <a:solidFill>
                  <a:srgbClr val="787878"/>
                </a:solidFill>
                <a:latin typeface="Aptos"/>
              </a:rPr>
              <a:t>21</a:t>
            </a:fld>
            <a:endParaRPr b="0" lang="en-US" sz="1200" spc="-1" strike="noStrike">
              <a:solidFill>
                <a:srgbClr val="000000"/>
              </a:solidFill>
              <a:latin typeface="Times New Roman"/>
            </a:endParaRPr>
          </a:p>
        </p:txBody>
      </p:sp>
    </p:spTree>
  </p:cSld>
  <p:transition>
    <p:fade/>
  </p:transition>
  <p:timing>
    <p:tnLst>
      <p:par>
        <p:cTn id="129" dur="indefinite" restart="never" nodeType="tmRoot">
          <p:childTnLst>
            <p:seq>
              <p:cTn id="130" dur="indefinite" nodeType="mainSeq">
                <p:childTnLst>
                  <p:par>
                    <p:cTn id="131" fill="hold">
                      <p:stCondLst>
                        <p:cond delay="0"/>
                      </p:stCondLst>
                      <p:childTnLst>
                        <p:par>
                          <p:cTn id="132" fill="hold">
                            <p:stCondLst>
                              <p:cond delay="0"/>
                            </p:stCondLst>
                            <p:childTnLst>
                              <p:par>
                                <p:cTn id="133" nodeType="withEffect" fill="hold" presetClass="entr" presetID="10">
                                  <p:stCondLst>
                                    <p:cond delay="250"/>
                                  </p:stCondLst>
                                  <p:iterate type="el">
                                    <p:tmAbs val="100"/>
                                  </p:iterate>
                                  <p:childTnLst>
                                    <p:set>
                                      <p:cBhvr>
                                        <p:cTn id="134" dur="1" fill="hold">
                                          <p:stCondLst>
                                            <p:cond delay="0"/>
                                          </p:stCondLst>
                                        </p:cTn>
                                        <p:tgtEl>
                                          <p:spTgt spid="565"/>
                                        </p:tgtEl>
                                        <p:attrNameLst>
                                          <p:attrName>style.visibility</p:attrName>
                                        </p:attrNameLst>
                                      </p:cBhvr>
                                      <p:to>
                                        <p:strVal val="visible"/>
                                      </p:to>
                                    </p:set>
                                    <p:animEffect filter="fade" transition="in">
                                      <p:cBhvr additive="repl">
                                        <p:cTn id="135" dur="500"/>
                                        <p:tgtEl>
                                          <p:spTgt spid="5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8"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Adhesion  (Edge Connectivity) </a:t>
            </a:r>
            <a:r>
              <a:rPr b="0" lang="en-US" sz="3000" spc="-1" strike="noStrike">
                <a:solidFill>
                  <a:srgbClr val="000000"/>
                </a:solidFill>
                <a:latin typeface="Segoe UI"/>
              </a:rPr>
              <a:t>λ(G)</a:t>
            </a:r>
            <a:endParaRPr b="0" lang="en-US" sz="3000" spc="-1" strike="noStrike">
              <a:solidFill>
                <a:srgbClr val="000000"/>
              </a:solidFill>
              <a:latin typeface="Arial"/>
            </a:endParaRPr>
          </a:p>
        </p:txBody>
      </p:sp>
      <p:sp>
        <p:nvSpPr>
          <p:cNvPr id="569" name="PlaceHolder 2"/>
          <p:cNvSpPr>
            <a:spLocks noGrp="1"/>
          </p:cNvSpPr>
          <p:nvPr>
            <p:ph type="ftr" idx="7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70"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WHAT it Measures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Adhesion (edge‑connectivity), λ(G)</a:t>
            </a:r>
            <a:r>
              <a:rPr b="0" lang="en-US" sz="1100" spc="-1" strike="noStrike">
                <a:solidFill>
                  <a:srgbClr val="000000"/>
                </a:solidFill>
                <a:latin typeface="Segoe UI"/>
              </a:rPr>
              <a:t> is the </a:t>
            </a:r>
            <a:r>
              <a:rPr b="1" lang="en-US" sz="1100" spc="-1" strike="noStrike">
                <a:solidFill>
                  <a:srgbClr val="000000"/>
                </a:solidFill>
                <a:latin typeface="Segoe UI"/>
              </a:rPr>
              <a:t>minimum number of edges whose removal disconnects the graph</a:t>
            </a:r>
            <a:r>
              <a:rPr b="0" lang="en-US" sz="1100" spc="-1" strike="noStrike">
                <a:solidFill>
                  <a:srgbClr val="000000"/>
                </a:solidFill>
                <a:latin typeface="Segoe UI"/>
              </a:rPr>
              <a:t> (i.e., increases the number of connected components). (Min-cut-set is the set of these edges)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Weighted graphs:</a:t>
            </a:r>
            <a:r>
              <a:rPr b="0" lang="en-US" sz="1100" spc="-1" strike="noStrike">
                <a:solidFill>
                  <a:srgbClr val="000000"/>
                </a:solidFill>
                <a:latin typeface="Segoe UI"/>
              </a:rPr>
              <a:t> replace “number of edges” with </a:t>
            </a:r>
            <a:r>
              <a:rPr b="1" lang="en-US" sz="1100" spc="-1" strike="noStrike">
                <a:solidFill>
                  <a:srgbClr val="000000"/>
                </a:solidFill>
                <a:latin typeface="Segoe UI"/>
              </a:rPr>
              <a:t>minimum total capacity</a:t>
            </a:r>
            <a:r>
              <a:rPr b="0" lang="en-US" sz="1100" spc="-1" strike="noStrike">
                <a:solidFill>
                  <a:srgbClr val="000000"/>
                </a:solidFill>
                <a:latin typeface="Segoe UI"/>
              </a:rPr>
              <a:t> of edges whose removal disconnects the graph.</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Directed graphs:</a:t>
            </a:r>
            <a:r>
              <a:rPr b="0" lang="en-US" sz="1100" spc="-1" strike="noStrike">
                <a:solidFill>
                  <a:srgbClr val="000000"/>
                </a:solidFill>
                <a:latin typeface="Segoe UI"/>
              </a:rPr>
              <a:t> analogous notions use </a:t>
            </a:r>
            <a:r>
              <a:rPr b="1" lang="en-US" sz="1100" spc="-1" strike="noStrike">
                <a:solidFill>
                  <a:srgbClr val="000000"/>
                </a:solidFill>
                <a:latin typeface="Segoe UI"/>
              </a:rPr>
              <a:t>arcs</a:t>
            </a:r>
            <a:r>
              <a:rPr b="0" lang="en-US" sz="1100" spc="-1" strike="noStrike">
                <a:solidFill>
                  <a:srgbClr val="000000"/>
                </a:solidFill>
                <a:latin typeface="Segoe UI"/>
              </a:rPr>
              <a:t> and may target </a:t>
            </a:r>
            <a:r>
              <a:rPr b="1" lang="en-US" sz="1100" spc="-1" strike="noStrike">
                <a:solidFill>
                  <a:srgbClr val="000000"/>
                </a:solidFill>
                <a:latin typeface="Segoe UI"/>
              </a:rPr>
              <a:t>strong connectivity</a:t>
            </a:r>
            <a:r>
              <a:rPr b="0" lang="en-US" sz="1100" spc="-1" strike="noStrike">
                <a:solidFill>
                  <a:srgbClr val="000000"/>
                </a:solidFill>
                <a:latin typeface="Segoe UI"/>
              </a:rPr>
              <a:t> (minimum arcs to destroy strong connectivity) or </a:t>
            </a:r>
            <a:r>
              <a:rPr b="1" lang="en-US" sz="1100" spc="-1" strike="noStrike">
                <a:solidFill>
                  <a:srgbClr val="000000"/>
                </a:solidFill>
                <a:latin typeface="Segoe UI"/>
              </a:rPr>
              <a:t>s–t connectivity</a:t>
            </a:r>
            <a:r>
              <a:rPr b="0" lang="en-US" sz="1100" spc="-1" strike="noStrike">
                <a:solidFill>
                  <a:srgbClr val="000000"/>
                </a:solidFill>
                <a:latin typeface="Segoe UI"/>
              </a:rPr>
              <a:t> (minimum arcs to disconnect a specific pair).</a:t>
            </a:r>
            <a:br>
              <a:rPr sz="1400"/>
            </a:br>
            <a:r>
              <a:rPr b="0" lang="en-US" sz="1400" spc="-1" strike="noStrike">
                <a:solidFill>
                  <a:srgbClr val="000000"/>
                </a:solidFill>
                <a:latin typeface="Aptos"/>
              </a:rPr>
              <a:t> </a:t>
            </a:r>
            <a:endParaRPr b="0" lang="en-US" sz="1400" spc="-1" strike="noStrike">
              <a:solidFill>
                <a:srgbClr val="000000"/>
              </a:solidFill>
              <a:latin typeface="Arial"/>
            </a:endParaRPr>
          </a:p>
          <a:p>
            <a:pPr indent="0">
              <a:lnSpc>
                <a:spcPct val="90000"/>
              </a:lnSpc>
              <a:spcBef>
                <a:spcPts val="1001"/>
              </a:spcBef>
              <a:buNone/>
              <a:tabLst>
                <a:tab algn="l" pos="0"/>
              </a:tabLst>
            </a:pPr>
            <a:r>
              <a:rPr b="1" lang="en-US" sz="1600" spc="-1" strike="noStrike">
                <a:solidFill>
                  <a:srgbClr val="000000"/>
                </a:solidFill>
                <a:latin typeface="Segoe UI"/>
              </a:rPr>
              <a:t>WHY it Matters</a:t>
            </a:r>
            <a:endParaRPr b="0" lang="en-US" sz="16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λ(G) is a </a:t>
            </a:r>
            <a:r>
              <a:rPr b="1" lang="en-US" sz="1100" spc="-1" strike="noStrike">
                <a:solidFill>
                  <a:srgbClr val="000000"/>
                </a:solidFill>
                <a:latin typeface="Segoe UI"/>
              </a:rPr>
              <a:t>hard, adversarial threshold</a:t>
            </a:r>
            <a:r>
              <a:rPr b="0" lang="en-US" sz="1100" spc="-1" strike="noStrike">
                <a:solidFill>
                  <a:srgbClr val="000000"/>
                </a:solidFill>
                <a:latin typeface="Segoe UI"/>
              </a:rPr>
              <a:t> for link failures: it tells you the </a:t>
            </a:r>
            <a:r>
              <a:rPr b="1" lang="en-US" sz="1100" spc="-1" strike="noStrike">
                <a:solidFill>
                  <a:srgbClr val="000000"/>
                </a:solidFill>
                <a:latin typeface="Segoe UI"/>
              </a:rPr>
              <a:t>smallest attack budget in edges</a:t>
            </a:r>
            <a:r>
              <a:rPr b="0" lang="en-US" sz="1100" spc="-1" strike="noStrike">
                <a:solidFill>
                  <a:srgbClr val="000000"/>
                </a:solidFill>
                <a:latin typeface="Segoe UI"/>
              </a:rPr>
              <a:t> that can break the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By duality with </a:t>
            </a:r>
            <a:r>
              <a:rPr b="1" lang="en-US" sz="1100" spc="-1" strike="noStrike">
                <a:solidFill>
                  <a:srgbClr val="000000"/>
                </a:solidFill>
                <a:latin typeface="Segoe UI"/>
              </a:rPr>
              <a:t>edge‑disjoint paths</a:t>
            </a:r>
            <a:r>
              <a:rPr b="0" lang="en-US" sz="1100" spc="-1" strike="noStrike">
                <a:solidFill>
                  <a:srgbClr val="000000"/>
                </a:solidFill>
                <a:latin typeface="Segoe UI"/>
              </a:rPr>
              <a:t>, λ(G) measures </a:t>
            </a:r>
            <a:r>
              <a:rPr b="1" lang="en-US" sz="1100" spc="-1" strike="noStrike">
                <a:solidFill>
                  <a:srgbClr val="000000"/>
                </a:solidFill>
                <a:latin typeface="Segoe UI"/>
              </a:rPr>
              <a:t>how many parallel corridors</a:t>
            </a:r>
            <a:r>
              <a:rPr b="0" lang="en-US" sz="1100" spc="-1" strike="noStrike">
                <a:solidFill>
                  <a:srgbClr val="000000"/>
                </a:solidFill>
                <a:latin typeface="Segoe UI"/>
              </a:rPr>
              <a:t> exist in the most vulnerable location; this is the </a:t>
            </a:r>
            <a:r>
              <a:rPr b="1" lang="en-US" sz="1100" spc="-1" strike="noStrike">
                <a:solidFill>
                  <a:srgbClr val="000000"/>
                </a:solidFill>
                <a:latin typeface="Segoe UI"/>
              </a:rPr>
              <a:t>structural backbone of rerouting</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WHEN to Use Adhesion</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Use λ(G) when you need a </a:t>
            </a:r>
            <a:r>
              <a:rPr b="1" lang="en-US" sz="1100" spc="-1" strike="noStrike">
                <a:solidFill>
                  <a:srgbClr val="000000"/>
                </a:solidFill>
                <a:latin typeface="Segoe UI"/>
              </a:rPr>
              <a:t>cut‑set robustness guarantee</a:t>
            </a:r>
            <a:r>
              <a:rPr b="0" lang="en-US" sz="1100" spc="-1" strike="noStrike">
                <a:solidFill>
                  <a:srgbClr val="000000"/>
                </a:solidFill>
                <a:latin typeface="Segoe UI"/>
              </a:rPr>
              <a:t> or to locate </a:t>
            </a:r>
            <a:r>
              <a:rPr b="1" lang="en-US" sz="1100" spc="-1" strike="noStrike">
                <a:solidFill>
                  <a:srgbClr val="000000"/>
                </a:solidFill>
                <a:latin typeface="Segoe UI"/>
              </a:rPr>
              <a:t>true structural weak points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Safety‑critical infrastructures</a:t>
            </a:r>
            <a:r>
              <a:rPr b="0" lang="en-US" sz="1100" spc="-1" strike="noStrike">
                <a:solidFill>
                  <a:srgbClr val="000000"/>
                </a:solidFill>
                <a:latin typeface="Segoe UI"/>
              </a:rPr>
              <a:t> (power, transport, backbone links): minimum edges to isolate a region.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Organizational &amp; process networks</a:t>
            </a:r>
            <a:r>
              <a:rPr b="0" lang="en-US" sz="1100" spc="-1" strike="noStrike">
                <a:solidFill>
                  <a:srgbClr val="000000"/>
                </a:solidFill>
                <a:latin typeface="Segoe UI"/>
              </a:rPr>
              <a:t>: minimum approvals/links whose loss halts inter‑unit coordination.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Security/Red‑team analysis</a:t>
            </a:r>
            <a:r>
              <a:rPr b="0" lang="en-US" sz="1100" spc="-1" strike="noStrike">
                <a:solidFill>
                  <a:srgbClr val="000000"/>
                </a:solidFill>
                <a:latin typeface="Segoe UI"/>
              </a:rPr>
              <a:t>: smallest set of cross‑module links to remove or protect.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Resilience design</a:t>
            </a:r>
            <a:r>
              <a:rPr b="0" lang="en-US" sz="1100" spc="-1" strike="noStrike">
                <a:solidFill>
                  <a:srgbClr val="000000"/>
                </a:solidFill>
                <a:latin typeface="Segoe UI"/>
              </a:rPr>
              <a:t>: set </a:t>
            </a:r>
            <a:r>
              <a:rPr b="1" lang="en-US" sz="1100" spc="-1" strike="noStrike">
                <a:solidFill>
                  <a:srgbClr val="000000"/>
                </a:solidFill>
                <a:latin typeface="Segoe UI"/>
              </a:rPr>
              <a:t>targets</a:t>
            </a:r>
            <a:r>
              <a:rPr b="0" lang="en-US" sz="1100" spc="-1" strike="noStrike">
                <a:solidFill>
                  <a:srgbClr val="000000"/>
                </a:solidFill>
                <a:latin typeface="Segoe UI"/>
              </a:rPr>
              <a:t> (e.g., “ensure λ(G) ≥ k across critical partitions”).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71"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72" name="PlaceHolder 4"/>
          <p:cNvSpPr>
            <a:spLocks noGrp="1"/>
          </p:cNvSpPr>
          <p:nvPr>
            <p:ph type="sldNum" idx="7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B8F0941E-3A7C-4FAD-B0AB-B2547303D240}" type="slidenum">
              <a:rPr b="0" lang="en-US" sz="1200" spc="-1" strike="noStrike">
                <a:solidFill>
                  <a:srgbClr val="787878"/>
                </a:solidFill>
                <a:latin typeface="Aptos"/>
              </a:rPr>
              <a:t>22</a:t>
            </a:fld>
            <a:endParaRPr b="0" lang="en-US" sz="1200" spc="-1" strike="noStrike">
              <a:solidFill>
                <a:srgbClr val="000000"/>
              </a:solidFill>
              <a:latin typeface="Times New Roman"/>
            </a:endParaRPr>
          </a:p>
        </p:txBody>
      </p:sp>
    </p:spTree>
  </p:cSld>
  <p:transition>
    <p:fade/>
  </p:transition>
  <p:timing>
    <p:tnLst>
      <p:par>
        <p:cTn id="136" dur="indefinite" restart="never" nodeType="tmRoot">
          <p:childTnLst>
            <p:seq>
              <p:cTn id="137" dur="indefinite" nodeType="mainSeq">
                <p:childTnLst>
                  <p:par>
                    <p:cTn id="138" fill="hold">
                      <p:stCondLst>
                        <p:cond delay="0"/>
                      </p:stCondLst>
                      <p:childTnLst>
                        <p:par>
                          <p:cTn id="139" fill="hold">
                            <p:stCondLst>
                              <p:cond delay="0"/>
                            </p:stCondLst>
                            <p:childTnLst>
                              <p:par>
                                <p:cTn id="140" nodeType="withEffect" fill="hold" presetClass="entr" presetID="10">
                                  <p:stCondLst>
                                    <p:cond delay="250"/>
                                  </p:stCondLst>
                                  <p:iterate type="el">
                                    <p:tmAbs val="100"/>
                                  </p:iterate>
                                  <p:childTnLst>
                                    <p:set>
                                      <p:cBhvr>
                                        <p:cTn id="141" dur="1" fill="hold">
                                          <p:stCondLst>
                                            <p:cond delay="0"/>
                                          </p:stCondLst>
                                        </p:cTn>
                                        <p:tgtEl>
                                          <p:spTgt spid="570"/>
                                        </p:tgtEl>
                                        <p:attrNameLst>
                                          <p:attrName>style.visibility</p:attrName>
                                        </p:attrNameLst>
                                      </p:cBhvr>
                                      <p:to>
                                        <p:strVal val="visible"/>
                                      </p:to>
                                    </p:set>
                                    <p:animEffect filter="fade" transition="in">
                                      <p:cBhvr additive="repl">
                                        <p:cTn id="142" dur="500"/>
                                        <p:tgtEl>
                                          <p:spTgt spid="5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3"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Adhesion  (Edge Connectivity) </a:t>
            </a:r>
            <a:r>
              <a:rPr b="0" lang="en-US" sz="3000" spc="-1" strike="noStrike">
                <a:solidFill>
                  <a:srgbClr val="000000"/>
                </a:solidFill>
                <a:latin typeface="Segoe UI"/>
              </a:rPr>
              <a:t>λ(G)</a:t>
            </a:r>
            <a:endParaRPr b="0" lang="en-US" sz="3000" spc="-1" strike="noStrike">
              <a:solidFill>
                <a:srgbClr val="000000"/>
              </a:solidFill>
              <a:latin typeface="Arial"/>
            </a:endParaRPr>
          </a:p>
        </p:txBody>
      </p:sp>
      <p:sp>
        <p:nvSpPr>
          <p:cNvPr id="574" name="PlaceHolder 2"/>
          <p:cNvSpPr>
            <a:spLocks noGrp="1"/>
          </p:cNvSpPr>
          <p:nvPr>
            <p:ph type="ftr" idx="7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75"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INTERPRETATION (High vs Low)</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Low λ(G)</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Easy to sever</a:t>
            </a:r>
            <a:r>
              <a:rPr b="0" lang="en-US" sz="1100" spc="-1" strike="noStrike">
                <a:solidFill>
                  <a:srgbClr val="000000"/>
                </a:solidFill>
                <a:latin typeface="Segoe UI"/>
              </a:rPr>
              <a:t>: few edges form a cut whose removal disconnects the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λ(G)=0</a:t>
            </a:r>
            <a:r>
              <a:rPr b="0" lang="en-US" sz="1100" spc="-1" strike="noStrike">
                <a:solidFill>
                  <a:srgbClr val="000000"/>
                </a:solidFill>
                <a:latin typeface="Segoe UI"/>
              </a:rPr>
              <a:t> ⇒ already disconnected.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λ(G)=1</a:t>
            </a:r>
            <a:r>
              <a:rPr b="0" lang="en-US" sz="1100" spc="-1" strike="noStrike">
                <a:solidFill>
                  <a:srgbClr val="000000"/>
                </a:solidFill>
                <a:latin typeface="Segoe UI"/>
              </a:rPr>
              <a:t> ⇒ there exists a </a:t>
            </a:r>
            <a:r>
              <a:rPr b="1" lang="en-US" sz="1100" spc="-1" strike="noStrike">
                <a:solidFill>
                  <a:srgbClr val="000000"/>
                </a:solidFill>
                <a:latin typeface="Segoe UI"/>
              </a:rPr>
              <a:t>bridge</a:t>
            </a:r>
            <a:r>
              <a:rPr b="0" lang="en-US" sz="1100" spc="-1" strike="noStrike">
                <a:solidFill>
                  <a:srgbClr val="000000"/>
                </a:solidFill>
                <a:latin typeface="Segoe UI"/>
              </a:rPr>
              <a:t> (single edge whose removal disconnects the graph).</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Often indicates </a:t>
            </a:r>
            <a:r>
              <a:rPr b="1" lang="en-US" sz="1100" spc="-1" strike="noStrike">
                <a:solidFill>
                  <a:srgbClr val="000000"/>
                </a:solidFill>
                <a:latin typeface="Segoe UI"/>
              </a:rPr>
              <a:t>module interfaces</a:t>
            </a:r>
            <a:r>
              <a:rPr b="0" lang="en-US" sz="1100" spc="-1" strike="noStrike">
                <a:solidFill>
                  <a:srgbClr val="000000"/>
                </a:solidFill>
                <a:latin typeface="Segoe UI"/>
              </a:rPr>
              <a:t> supported by very </a:t>
            </a:r>
            <a:r>
              <a:rPr b="1" lang="en-US" sz="1100" spc="-1" strike="noStrike">
                <a:solidFill>
                  <a:srgbClr val="000000"/>
                </a:solidFill>
                <a:latin typeface="Segoe UI"/>
              </a:rPr>
              <a:t>few boundary edges</a:t>
            </a:r>
            <a:r>
              <a:rPr b="0" lang="en-US" sz="1100" spc="-1" strike="noStrike">
                <a:solidFill>
                  <a:srgbClr val="000000"/>
                </a:solidFill>
                <a:latin typeface="Segoe UI"/>
              </a:rPr>
              <a:t> (even if modules are dense internally).</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Notes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κ(G) ≤ λ(G) ≤ δ(G)</a:t>
            </a:r>
            <a:r>
              <a:rPr b="0" lang="en-US" sz="1100" spc="-1" strike="noStrike">
                <a:solidFill>
                  <a:srgbClr val="000000"/>
                </a:solidFill>
                <a:latin typeface="Segoe UI"/>
              </a:rPr>
              <a:t>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Node‑connectivity ≤ edge‑connectivity ≤ minimum degree.</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Reading: to disconnect, you can’t need </a:t>
            </a:r>
            <a:r>
              <a:rPr b="1" lang="en-US" sz="1100" spc="-1" strike="noStrike">
                <a:solidFill>
                  <a:srgbClr val="000000"/>
                </a:solidFill>
                <a:latin typeface="Segoe UI"/>
              </a:rPr>
              <a:t>fewer nodes</a:t>
            </a:r>
            <a:r>
              <a:rPr b="0" lang="en-US" sz="1100" spc="-1" strike="noStrike">
                <a:solidFill>
                  <a:srgbClr val="000000"/>
                </a:solidFill>
                <a:latin typeface="Segoe UI"/>
              </a:rPr>
              <a:t> than edges, and you can’t require </a:t>
            </a:r>
            <a:r>
              <a:rPr b="1" lang="en-US" sz="1100" spc="-1" strike="noStrike">
                <a:solidFill>
                  <a:srgbClr val="000000"/>
                </a:solidFill>
                <a:latin typeface="Segoe UI"/>
              </a:rPr>
              <a:t>more</a:t>
            </a:r>
            <a:r>
              <a:rPr b="0" lang="en-US" sz="1100" spc="-1" strike="noStrike">
                <a:solidFill>
                  <a:srgbClr val="000000"/>
                </a:solidFill>
                <a:latin typeface="Segoe UI"/>
              </a:rPr>
              <a:t> edges than the </a:t>
            </a:r>
            <a:r>
              <a:rPr b="1" lang="en-US" sz="1100" spc="-1" strike="noStrike">
                <a:solidFill>
                  <a:srgbClr val="000000"/>
                </a:solidFill>
                <a:latin typeface="Segoe UI"/>
              </a:rPr>
              <a:t>least degree</a:t>
            </a:r>
            <a:r>
              <a:rPr b="0" lang="en-US" sz="1100" spc="-1" strike="noStrike">
                <a:solidFill>
                  <a:srgbClr val="000000"/>
                </a:solidFill>
                <a:latin typeface="Segoe UI"/>
              </a:rPr>
              <a:t> available.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Two‑edge‑connected</a:t>
            </a:r>
            <a:r>
              <a:rPr b="0" lang="en-US" sz="1100" spc="-1" strike="noStrike">
                <a:solidFill>
                  <a:srgbClr val="000000"/>
                </a:solidFill>
                <a:latin typeface="Segoe UI"/>
              </a:rPr>
              <a:t> graphs have </a:t>
            </a:r>
            <a:r>
              <a:rPr b="1" lang="en-US" sz="1100" spc="-1" strike="noStrike">
                <a:solidFill>
                  <a:srgbClr val="000000"/>
                </a:solidFill>
                <a:latin typeface="Segoe UI"/>
              </a:rPr>
              <a:t>λ(G) ≥ 2</a:t>
            </a:r>
            <a:r>
              <a:rPr b="0" lang="en-US" sz="1100" spc="-1" strike="noStrike">
                <a:solidFill>
                  <a:srgbClr val="000000"/>
                </a:solidFill>
                <a:latin typeface="Segoe UI"/>
              </a:rPr>
              <a:t> (no single bridge).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Note the distinction from </a:t>
            </a:r>
            <a:r>
              <a:rPr b="1" lang="en-US" sz="1100" spc="-1" strike="noStrike">
                <a:solidFill>
                  <a:srgbClr val="000000"/>
                </a:solidFill>
                <a:latin typeface="Segoe UI"/>
              </a:rPr>
              <a:t>conductance</a:t>
            </a:r>
            <a:r>
              <a:rPr b="0" lang="en-US" sz="1100" spc="-1" strike="noStrike">
                <a:solidFill>
                  <a:srgbClr val="000000"/>
                </a:solidFill>
                <a:latin typeface="Segoe UI"/>
              </a:rPr>
              <a:t>: λ(G) is an </a:t>
            </a:r>
            <a:r>
              <a:rPr b="1" lang="en-US" sz="1100" spc="-1" strike="noStrike">
                <a:solidFill>
                  <a:srgbClr val="000000"/>
                </a:solidFill>
                <a:latin typeface="Segoe UI"/>
              </a:rPr>
              <a:t>absolute cut size</a:t>
            </a:r>
            <a:r>
              <a:rPr b="0" lang="en-US" sz="1100" spc="-1" strike="noStrike">
                <a:solidFill>
                  <a:srgbClr val="000000"/>
                </a:solidFill>
                <a:latin typeface="Segoe UI"/>
              </a:rPr>
              <a:t>, while conductance is a </a:t>
            </a:r>
            <a:r>
              <a:rPr b="1" lang="en-US" sz="1100" spc="-1" strike="noStrike">
                <a:solidFill>
                  <a:srgbClr val="000000"/>
                </a:solidFill>
                <a:latin typeface="Segoe UI"/>
              </a:rPr>
              <a:t>ratio</a:t>
            </a:r>
            <a:r>
              <a:rPr b="0" lang="en-US" sz="1100" spc="-1" strike="noStrike">
                <a:solidFill>
                  <a:srgbClr val="000000"/>
                </a:solidFill>
                <a:latin typeface="Segoe UI"/>
              </a:rPr>
              <a:t> (boundary/volume) tied to </a:t>
            </a:r>
            <a:r>
              <a:rPr b="1" lang="en-US" sz="1100" spc="-1" strike="noStrike">
                <a:solidFill>
                  <a:srgbClr val="000000"/>
                </a:solidFill>
                <a:latin typeface="Segoe UI"/>
              </a:rPr>
              <a:t>mixing</a:t>
            </a:r>
            <a:r>
              <a:rPr b="0" lang="en-US" sz="1100" spc="-1" strike="noStrike">
                <a:solidFill>
                  <a:srgbClr val="000000"/>
                </a:solidFill>
                <a:latin typeface="Segoe UI"/>
              </a:rPr>
              <a:t> and </a:t>
            </a:r>
            <a:r>
              <a:rPr b="1" lang="en-US" sz="1100" spc="-1" strike="noStrike">
                <a:solidFill>
                  <a:srgbClr val="000000"/>
                </a:solidFill>
                <a:latin typeface="Segoe UI"/>
              </a:rPr>
              <a:t>balanced partitions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76"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77" name="PlaceHolder 4"/>
          <p:cNvSpPr>
            <a:spLocks noGrp="1"/>
          </p:cNvSpPr>
          <p:nvPr>
            <p:ph type="sldNum" idx="7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999E7370-FC39-4FFE-98B0-A069EC562144}" type="slidenum">
              <a:rPr b="0" lang="en-US" sz="1200" spc="-1" strike="noStrike">
                <a:solidFill>
                  <a:srgbClr val="787878"/>
                </a:solidFill>
                <a:latin typeface="Aptos"/>
              </a:rPr>
              <a:t>23</a:t>
            </a:fld>
            <a:endParaRPr b="0" lang="en-US" sz="1200" spc="-1" strike="noStrike">
              <a:solidFill>
                <a:srgbClr val="000000"/>
              </a:solidFill>
              <a:latin typeface="Times New Roman"/>
            </a:endParaRPr>
          </a:p>
        </p:txBody>
      </p:sp>
    </p:spTree>
  </p:cSld>
  <p:transition>
    <p:fade/>
  </p:transition>
  <p:timing>
    <p:tnLst>
      <p:par>
        <p:cTn id="143" dur="indefinite" restart="never" nodeType="tmRoot">
          <p:childTnLst>
            <p:seq>
              <p:cTn id="144" dur="indefinite" nodeType="mainSeq">
                <p:childTnLst>
                  <p:par>
                    <p:cTn id="145" fill="hold">
                      <p:stCondLst>
                        <p:cond delay="0"/>
                      </p:stCondLst>
                      <p:childTnLst>
                        <p:par>
                          <p:cTn id="146" fill="hold">
                            <p:stCondLst>
                              <p:cond delay="0"/>
                            </p:stCondLst>
                            <p:childTnLst>
                              <p:par>
                                <p:cTn id="147" nodeType="withEffect" fill="hold" presetClass="entr" presetID="10">
                                  <p:stCondLst>
                                    <p:cond delay="250"/>
                                  </p:stCondLst>
                                  <p:iterate type="el">
                                    <p:tmAbs val="100"/>
                                  </p:iterate>
                                  <p:childTnLst>
                                    <p:set>
                                      <p:cBhvr>
                                        <p:cTn id="148" dur="1" fill="hold">
                                          <p:stCondLst>
                                            <p:cond delay="0"/>
                                          </p:stCondLst>
                                        </p:cTn>
                                        <p:tgtEl>
                                          <p:spTgt spid="575"/>
                                        </p:tgtEl>
                                        <p:attrNameLst>
                                          <p:attrName>style.visibility</p:attrName>
                                        </p:attrNameLst>
                                      </p:cBhvr>
                                      <p:to>
                                        <p:strVal val="visible"/>
                                      </p:to>
                                    </p:set>
                                    <p:animEffect filter="fade" transition="in">
                                      <p:cBhvr additive="repl">
                                        <p:cTn id="149" dur="500"/>
                                        <p:tgtEl>
                                          <p:spTgt spid="5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8"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Adhesion  (Edge Connectivity) </a:t>
            </a:r>
            <a:r>
              <a:rPr b="0" lang="en-US" sz="3000" spc="-1" strike="noStrike">
                <a:solidFill>
                  <a:srgbClr val="000000"/>
                </a:solidFill>
                <a:latin typeface="Segoe UI"/>
              </a:rPr>
              <a:t>λ(G)</a:t>
            </a:r>
            <a:endParaRPr b="0" lang="en-US" sz="3000" spc="-1" strike="noStrike">
              <a:solidFill>
                <a:srgbClr val="000000"/>
              </a:solidFill>
              <a:latin typeface="Arial"/>
            </a:endParaRPr>
          </a:p>
        </p:txBody>
      </p:sp>
      <p:sp>
        <p:nvSpPr>
          <p:cNvPr id="579" name="PlaceHolder 2"/>
          <p:cNvSpPr>
            <a:spLocks noGrp="1"/>
          </p:cNvSpPr>
          <p:nvPr>
            <p:ph type="ftr" idx="7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80"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λ(G) measures </a:t>
            </a:r>
            <a:r>
              <a:rPr b="1" lang="en-US" sz="1100" spc="-1" strike="noStrike">
                <a:solidFill>
                  <a:srgbClr val="000000"/>
                </a:solidFill>
                <a:latin typeface="Segoe UI"/>
              </a:rPr>
              <a:t>distance to disconnection in edge units</a:t>
            </a:r>
            <a:r>
              <a:rPr b="0" lang="en-US" sz="1100" spc="-1" strike="noStrike">
                <a:solidFill>
                  <a:srgbClr val="000000"/>
                </a:solidFill>
                <a:latin typeface="Segoe UI"/>
              </a:rPr>
              <a:t>: how many edges must fail (in the </a:t>
            </a:r>
            <a:r>
              <a:rPr b="0" i="1" lang="en-US" sz="1100" spc="-1" strike="noStrike">
                <a:solidFill>
                  <a:srgbClr val="000000"/>
                </a:solidFill>
                <a:latin typeface="Segoe UI"/>
              </a:rPr>
              <a:t>best‑chosen</a:t>
            </a:r>
            <a:r>
              <a:rPr b="0" lang="en-US" sz="1100" spc="-1" strike="noStrike">
                <a:solidFill>
                  <a:srgbClr val="000000"/>
                </a:solidFill>
                <a:latin typeface="Segoe UI"/>
              </a:rPr>
              <a:t> place) before connectivity breaks.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Complements binary connectivity with a </a:t>
            </a:r>
            <a:r>
              <a:rPr b="1" lang="en-US" sz="1100" spc="-1" strike="noStrike">
                <a:solidFill>
                  <a:srgbClr val="000000"/>
                </a:solidFill>
                <a:latin typeface="Segoe UI"/>
              </a:rPr>
              <a:t>quantitative margin</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 (Resistance to Failure)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Adversarial failures</a:t>
            </a:r>
            <a:r>
              <a:rPr b="0" lang="en-US" sz="1100" spc="-1" strike="noStrike">
                <a:solidFill>
                  <a:srgbClr val="000000"/>
                </a:solidFill>
                <a:latin typeface="Segoe UI"/>
              </a:rPr>
              <a:t>: λ(G) is the </a:t>
            </a:r>
            <a:r>
              <a:rPr b="1" lang="en-US" sz="1100" spc="-1" strike="noStrike">
                <a:solidFill>
                  <a:srgbClr val="000000"/>
                </a:solidFill>
                <a:latin typeface="Segoe UI"/>
              </a:rPr>
              <a:t>guarantee</a:t>
            </a:r>
            <a:r>
              <a:rPr b="0" lang="en-US" sz="1100" spc="-1" strike="noStrike">
                <a:solidFill>
                  <a:srgbClr val="000000"/>
                </a:solidFill>
                <a:latin typeface="Segoe UI"/>
              </a:rPr>
              <a:t>—fewer than λ(G) targeted edge removals cannot disconnect the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Random failures</a:t>
            </a:r>
            <a:r>
              <a:rPr b="0" lang="en-US" sz="1100" spc="-1" strike="noStrike">
                <a:solidFill>
                  <a:srgbClr val="000000"/>
                </a:solidFill>
                <a:latin typeface="Segoe UI"/>
              </a:rPr>
              <a:t>: λ(G) alone does not predict percolation thresholds, but </a:t>
            </a:r>
            <a:r>
              <a:rPr b="1" lang="en-US" sz="1100" spc="-1" strike="noStrike">
                <a:solidFill>
                  <a:srgbClr val="000000"/>
                </a:solidFill>
                <a:latin typeface="Segoe UI"/>
              </a:rPr>
              <a:t>small λ(G)</a:t>
            </a:r>
            <a:r>
              <a:rPr b="0" lang="en-US" sz="1100" spc="-1" strike="noStrike">
                <a:solidFill>
                  <a:srgbClr val="000000"/>
                </a:solidFill>
                <a:latin typeface="Segoe UI"/>
              </a:rPr>
              <a:t> flags likely </a:t>
            </a:r>
            <a:r>
              <a:rPr b="1" lang="en-US" sz="1100" spc="-1" strike="noStrike">
                <a:solidFill>
                  <a:srgbClr val="000000"/>
                </a:solidFill>
                <a:latin typeface="Segoe UI"/>
              </a:rPr>
              <a:t>thin interfaces</a:t>
            </a:r>
            <a:r>
              <a:rPr b="0" lang="en-US" sz="1100" spc="-1" strike="noStrike">
                <a:solidFill>
                  <a:srgbClr val="000000"/>
                </a:solidFill>
                <a:latin typeface="Segoe UI"/>
              </a:rPr>
              <a:t> where random breaks can cause disproportionate damage.</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 (Recovery/Continuity)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λ(G) implies </a:t>
            </a:r>
            <a:r>
              <a:rPr b="1" lang="en-US" sz="1100" spc="-1" strike="noStrike">
                <a:solidFill>
                  <a:srgbClr val="000000"/>
                </a:solidFill>
                <a:latin typeface="Segoe UI"/>
              </a:rPr>
              <a:t>multiple edge‑disjoint fallback routes</a:t>
            </a:r>
            <a:r>
              <a:rPr b="0" lang="en-US" sz="1100" spc="-1" strike="noStrike">
                <a:solidFill>
                  <a:srgbClr val="000000"/>
                </a:solidFill>
                <a:latin typeface="Segoe UI"/>
              </a:rPr>
              <a:t> → </a:t>
            </a:r>
            <a:r>
              <a:rPr b="1" lang="en-US" sz="1100" spc="-1" strike="noStrike">
                <a:solidFill>
                  <a:srgbClr val="000000"/>
                </a:solidFill>
                <a:latin typeface="Segoe UI"/>
              </a:rPr>
              <a:t>fast rerouting</a:t>
            </a:r>
            <a:r>
              <a:rPr b="0" lang="en-US" sz="1100" spc="-1" strike="noStrike">
                <a:solidFill>
                  <a:srgbClr val="000000"/>
                </a:solidFill>
                <a:latin typeface="Segoe UI"/>
              </a:rPr>
              <a:t> and </a:t>
            </a:r>
            <a:r>
              <a:rPr b="1" lang="en-US" sz="1100" spc="-1" strike="noStrike">
                <a:solidFill>
                  <a:srgbClr val="000000"/>
                </a:solidFill>
                <a:latin typeface="Segoe UI"/>
              </a:rPr>
              <a:t>graceful degradation</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Raising λ(G) typically requires </a:t>
            </a:r>
            <a:r>
              <a:rPr b="1" lang="en-US" sz="1100" spc="-1" strike="noStrike">
                <a:solidFill>
                  <a:srgbClr val="000000"/>
                </a:solidFill>
                <a:latin typeface="Segoe UI"/>
              </a:rPr>
              <a:t>creating independent cross‑module links</a:t>
            </a:r>
            <a:r>
              <a:rPr b="0" lang="en-US" sz="1100" spc="-1" strike="noStrike">
                <a:solidFill>
                  <a:srgbClr val="000000"/>
                </a:solidFill>
                <a:latin typeface="Segoe UI"/>
              </a:rPr>
              <a:t> (not just reinforcing a single corridor), which improves </a:t>
            </a:r>
            <a:r>
              <a:rPr b="1" lang="en-US" sz="1100" spc="-1" strike="noStrike">
                <a:solidFill>
                  <a:srgbClr val="000000"/>
                </a:solidFill>
                <a:latin typeface="Segoe UI"/>
              </a:rPr>
              <a:t>post‑failure continuity</a:t>
            </a:r>
            <a:r>
              <a:rPr b="0" lang="en-US" sz="1100" spc="-1" strike="noStrike">
                <a:solidFill>
                  <a:srgbClr val="000000"/>
                </a:solidFill>
                <a:latin typeface="Segoe UI"/>
              </a:rPr>
              <a:t> without centralized bottlenecks.</a:t>
            </a: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81"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82" name="PlaceHolder 4"/>
          <p:cNvSpPr>
            <a:spLocks noGrp="1"/>
          </p:cNvSpPr>
          <p:nvPr>
            <p:ph type="sldNum" idx="7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BF9D492C-2275-4664-8C74-CAE9091E7B67}" type="slidenum">
              <a:rPr b="0" lang="en-US" sz="1200" spc="-1" strike="noStrike">
                <a:solidFill>
                  <a:srgbClr val="787878"/>
                </a:solidFill>
                <a:latin typeface="Aptos"/>
              </a:rPr>
              <a:t>24</a:t>
            </a:fld>
            <a:endParaRPr b="0" lang="en-US" sz="1200" spc="-1" strike="noStrike">
              <a:solidFill>
                <a:srgbClr val="000000"/>
              </a:solidFill>
              <a:latin typeface="Times New Roman"/>
            </a:endParaRPr>
          </a:p>
        </p:txBody>
      </p:sp>
    </p:spTree>
  </p:cSld>
  <p:transition>
    <p:fade/>
  </p:transition>
  <p:timing>
    <p:tnLst>
      <p:par>
        <p:cTn id="150" dur="indefinite" restart="never" nodeType="tmRoot">
          <p:childTnLst>
            <p:seq>
              <p:cTn id="151" dur="indefinite" nodeType="mainSeq">
                <p:childTnLst>
                  <p:par>
                    <p:cTn id="152" fill="hold">
                      <p:stCondLst>
                        <p:cond delay="0"/>
                      </p:stCondLst>
                      <p:childTnLst>
                        <p:par>
                          <p:cTn id="153" fill="hold">
                            <p:stCondLst>
                              <p:cond delay="0"/>
                            </p:stCondLst>
                            <p:childTnLst>
                              <p:par>
                                <p:cTn id="154" nodeType="withEffect" fill="hold" presetClass="entr" presetID="10">
                                  <p:stCondLst>
                                    <p:cond delay="250"/>
                                  </p:stCondLst>
                                  <p:iterate type="el">
                                    <p:tmAbs val="100"/>
                                  </p:iterate>
                                  <p:childTnLst>
                                    <p:set>
                                      <p:cBhvr>
                                        <p:cTn id="155" dur="1" fill="hold">
                                          <p:stCondLst>
                                            <p:cond delay="0"/>
                                          </p:stCondLst>
                                        </p:cTn>
                                        <p:tgtEl>
                                          <p:spTgt spid="580"/>
                                        </p:tgtEl>
                                        <p:attrNameLst>
                                          <p:attrName>style.visibility</p:attrName>
                                        </p:attrNameLst>
                                      </p:cBhvr>
                                      <p:to>
                                        <p:strVal val="visible"/>
                                      </p:to>
                                    </p:set>
                                    <p:animEffect filter="fade" transition="in">
                                      <p:cBhvr additive="repl">
                                        <p:cTn id="156" dur="500"/>
                                        <p:tgtEl>
                                          <p:spTgt spid="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3"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Adhesion  (Edge Connectivity) </a:t>
            </a:r>
            <a:r>
              <a:rPr b="0" lang="en-US" sz="3000" spc="-1" strike="noStrike">
                <a:solidFill>
                  <a:srgbClr val="000000"/>
                </a:solidFill>
                <a:latin typeface="Segoe UI"/>
              </a:rPr>
              <a:t>λ(G)</a:t>
            </a:r>
            <a:endParaRPr b="0" lang="en-US" sz="3000" spc="-1" strike="noStrike">
              <a:solidFill>
                <a:srgbClr val="000000"/>
              </a:solidFill>
              <a:latin typeface="Arial"/>
            </a:endParaRPr>
          </a:p>
        </p:txBody>
      </p:sp>
      <p:sp>
        <p:nvSpPr>
          <p:cNvPr id="584" name="PlaceHolder 2"/>
          <p:cNvSpPr>
            <a:spLocks noGrp="1"/>
          </p:cNvSpPr>
          <p:nvPr>
            <p:ph type="ftr" idx="7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85"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400" spc="-1" strike="noStrike">
                <a:solidFill>
                  <a:srgbClr val="000000"/>
                </a:solidFill>
                <a:latin typeface="Aptos"/>
                <a:ea typeface="Aptos"/>
              </a:rPr>
              <a:t>Biswas, R. S., Pal, A., Werho, T., &amp; Vittal, V. (2021). A Graph Theoretic Approach to Power System Vulnerability Identification. </a:t>
            </a:r>
            <a:r>
              <a:rPr b="0" i="1" lang="en-US" sz="1400" spc="-1" strike="noStrike">
                <a:solidFill>
                  <a:srgbClr val="000000"/>
                </a:solidFill>
                <a:latin typeface="Aptos"/>
                <a:ea typeface="Aptos"/>
              </a:rPr>
              <a:t>IEEE Transactions on Power Systems</a:t>
            </a:r>
            <a:r>
              <a:rPr b="0" lang="en-US" sz="1400" spc="-1" strike="noStrike">
                <a:solidFill>
                  <a:srgbClr val="000000"/>
                </a:solidFill>
                <a:latin typeface="Aptos"/>
                <a:ea typeface="Aptos"/>
              </a:rPr>
              <a:t>, </a:t>
            </a:r>
            <a:r>
              <a:rPr b="0" i="1" lang="en-US" sz="1400" spc="-1" strike="noStrike">
                <a:solidFill>
                  <a:srgbClr val="000000"/>
                </a:solidFill>
                <a:latin typeface="Aptos"/>
                <a:ea typeface="Aptos"/>
              </a:rPr>
              <a:t>36</a:t>
            </a:r>
            <a:r>
              <a:rPr b="0" lang="en-US" sz="1400" spc="-1" strike="noStrike">
                <a:solidFill>
                  <a:srgbClr val="000000"/>
                </a:solidFill>
                <a:latin typeface="Aptos"/>
                <a:ea typeface="Aptos"/>
              </a:rPr>
              <a:t>(2), 923–935. doi:10.1109/tpwrs.2020.3010476    </a:t>
            </a:r>
            <a:r>
              <a:rPr b="0" lang="en-US" sz="1400" spc="-1" strike="noStrike" u="sng">
                <a:solidFill>
                  <a:srgbClr val="467886"/>
                </a:solidFill>
                <a:uFillTx/>
                <a:latin typeface="Aptos"/>
                <a:ea typeface="Aptos"/>
                <a:hlinkClick r:id="rId1"/>
              </a:rPr>
              <a:t>https://arxiv.org/abs/2007.07859</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400" spc="-1" strike="noStrike">
                <a:solidFill>
                  <a:srgbClr val="000000"/>
                </a:solidFill>
                <a:latin typeface="Aptos"/>
                <a:ea typeface="Aptos"/>
              </a:rPr>
              <a:t>Article Source: </a:t>
            </a:r>
            <a:r>
              <a:rPr b="1" lang="en-US" sz="1400" spc="-1" strike="noStrike" u="sng">
                <a:solidFill>
                  <a:srgbClr val="467886"/>
                </a:solidFill>
                <a:uFillTx/>
                <a:latin typeface="Aptos"/>
                <a:ea typeface="Aptos"/>
                <a:hlinkClick r:id="rId2"/>
              </a:rPr>
              <a:t>A deterministic approach for rapid identification of the critical links in networks</a:t>
            </a:r>
            <a:r>
              <a:rPr b="0" lang="en-US" sz="1400" spc="-1" strike="noStrike" u="sng">
                <a:solidFill>
                  <a:srgbClr val="467886"/>
                </a:solidFill>
                <a:uFillTx/>
                <a:latin typeface="Aptos"/>
                <a:ea typeface="Aptos"/>
                <a:hlinkClick r:id="rId3"/>
              </a:rPr>
              <a:t> </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400" spc="-1" strike="noStrike">
                <a:solidFill>
                  <a:srgbClr val="000000"/>
                </a:solidFill>
                <a:latin typeface="Aptos"/>
                <a:ea typeface="Aptos"/>
              </a:rPr>
              <a:t>Vodák R, Bíl M, Svoboda T, Křivánková Z, Kubeček J, et al. (2019) A deterministic approach for rapid identification of the critical links in networks. PLOS ONE 14(7): e0219658. </a:t>
            </a:r>
            <a:r>
              <a:rPr b="0" lang="en-US" sz="1400" spc="-1" strike="noStrike" u="sng">
                <a:solidFill>
                  <a:srgbClr val="467886"/>
                </a:solidFill>
                <a:uFillTx/>
                <a:latin typeface="Aptos"/>
                <a:ea typeface="Aptos"/>
                <a:hlinkClick r:id="rId4"/>
              </a:rPr>
              <a:t>https://doi.org/10.1371/journal.pone.0219658</a:t>
            </a:r>
            <a:r>
              <a:rPr b="0" lang="en-US" sz="1400" spc="-1" strike="noStrike">
                <a:solidFill>
                  <a:srgbClr val="000000"/>
                </a:solidFill>
                <a:latin typeface="Aptos"/>
                <a:ea typeface="Aptos"/>
              </a:rPr>
              <a:t> </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86" name="Picture Placeholder 4" descr=""/>
          <p:cNvPicPr/>
          <p:nvPr/>
        </p:nvPicPr>
        <p:blipFill>
          <a:blip r:embed="rId5">
            <a:alphaModFix amt="20000"/>
          </a:blip>
          <a:srcRect l="-72971" t="-397496" r="-72971" b="-397496"/>
          <a:stretch/>
        </p:blipFill>
        <p:spPr>
          <a:xfrm>
            <a:off x="9287640" y="393120"/>
            <a:ext cx="2083680" cy="6050160"/>
          </a:xfrm>
          <a:prstGeom prst="rect">
            <a:avLst/>
          </a:prstGeom>
          <a:ln w="0">
            <a:noFill/>
          </a:ln>
        </p:spPr>
      </p:pic>
      <p:sp>
        <p:nvSpPr>
          <p:cNvPr id="587" name="PlaceHolder 4"/>
          <p:cNvSpPr>
            <a:spLocks noGrp="1"/>
          </p:cNvSpPr>
          <p:nvPr>
            <p:ph type="sldNum" idx="7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5E7D87DC-6125-43C3-8E73-F749973B8DF3}" type="slidenum">
              <a:rPr b="0" lang="en-US" sz="1200" spc="-1" strike="noStrike">
                <a:solidFill>
                  <a:srgbClr val="787878"/>
                </a:solidFill>
                <a:latin typeface="Aptos"/>
              </a:rPr>
              <a:t>25</a:t>
            </a:fld>
            <a:endParaRPr b="0" lang="en-US" sz="1200" spc="-1" strike="noStrike">
              <a:solidFill>
                <a:srgbClr val="000000"/>
              </a:solidFill>
              <a:latin typeface="Times New Roman"/>
            </a:endParaRPr>
          </a:p>
        </p:txBody>
      </p:sp>
    </p:spTree>
  </p:cSld>
  <p:transition>
    <p:fade/>
  </p:transition>
  <p:timing>
    <p:tnLst>
      <p:par>
        <p:cTn id="157" dur="indefinite" restart="never" nodeType="tmRoot">
          <p:childTnLst>
            <p:seq>
              <p:cTn id="158" dur="indefinite" nodeType="mainSeq">
                <p:childTnLst>
                  <p:par>
                    <p:cTn id="159" fill="hold">
                      <p:stCondLst>
                        <p:cond delay="0"/>
                      </p:stCondLst>
                      <p:childTnLst>
                        <p:par>
                          <p:cTn id="160" fill="hold">
                            <p:stCondLst>
                              <p:cond delay="0"/>
                            </p:stCondLst>
                            <p:childTnLst>
                              <p:par>
                                <p:cTn id="161" nodeType="withEffect" fill="hold" presetClass="entr" presetID="10">
                                  <p:stCondLst>
                                    <p:cond delay="250"/>
                                  </p:stCondLst>
                                  <p:iterate type="el">
                                    <p:tmAbs val="100"/>
                                  </p:iterate>
                                  <p:childTnLst>
                                    <p:set>
                                      <p:cBhvr>
                                        <p:cTn id="162" dur="1" fill="hold">
                                          <p:stCondLst>
                                            <p:cond delay="0"/>
                                          </p:stCondLst>
                                        </p:cTn>
                                        <p:tgtEl>
                                          <p:spTgt spid="585"/>
                                        </p:tgtEl>
                                        <p:attrNameLst>
                                          <p:attrName>style.visibility</p:attrName>
                                        </p:attrNameLst>
                                      </p:cBhvr>
                                      <p:to>
                                        <p:strVal val="visible"/>
                                      </p:to>
                                    </p:set>
                                    <p:animEffect filter="fade" transition="in">
                                      <p:cBhvr additive="repl">
                                        <p:cTn id="163" dur="500"/>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8"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Segoe UI"/>
              </a:rPr>
              <a:t>Node Connectivity (κ(G))</a:t>
            </a:r>
            <a:endParaRPr b="0" lang="en-US" sz="3000" spc="-1" strike="noStrike">
              <a:solidFill>
                <a:srgbClr val="000000"/>
              </a:solidFill>
              <a:latin typeface="Arial"/>
            </a:endParaRPr>
          </a:p>
        </p:txBody>
      </p:sp>
      <p:sp>
        <p:nvSpPr>
          <p:cNvPr id="589" name="PlaceHolder 2"/>
          <p:cNvSpPr>
            <a:spLocks noGrp="1"/>
          </p:cNvSpPr>
          <p:nvPr>
            <p:ph type="ftr" idx="7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90"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WHAT it Measures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Node Connectivity</a:t>
            </a:r>
            <a:r>
              <a:rPr b="0" lang="en-US" sz="1100" spc="-1" strike="noStrike">
                <a:solidFill>
                  <a:srgbClr val="000000"/>
                </a:solidFill>
                <a:latin typeface="Segoe UI"/>
              </a:rPr>
              <a:t>, denoted </a:t>
            </a:r>
            <a:r>
              <a:rPr b="1" lang="en-US" sz="1100" spc="-1" strike="noStrike">
                <a:solidFill>
                  <a:srgbClr val="000000"/>
                </a:solidFill>
                <a:latin typeface="Segoe UI"/>
              </a:rPr>
              <a:t>κ(G)</a:t>
            </a:r>
            <a:r>
              <a:rPr b="0" lang="en-US" sz="1100" spc="-1" strike="noStrike">
                <a:solidFill>
                  <a:srgbClr val="000000"/>
                </a:solidFill>
                <a:latin typeface="Segoe UI"/>
              </a:rPr>
              <a:t>, is the </a:t>
            </a:r>
            <a:r>
              <a:rPr b="1" lang="en-US" sz="1100" spc="-1" strike="noStrike">
                <a:solidFill>
                  <a:srgbClr val="000000"/>
                </a:solidFill>
                <a:latin typeface="Segoe UI"/>
              </a:rPr>
              <a:t>minimum number of vertices whose removal disconnects the network</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This is a strict, graph‑theoretic measure of the </a:t>
            </a:r>
            <a:r>
              <a:rPr b="1" lang="en-US" sz="1100" spc="-1" strike="noStrike">
                <a:solidFill>
                  <a:srgbClr val="000000"/>
                </a:solidFill>
                <a:latin typeface="Segoe UI"/>
              </a:rPr>
              <a:t>vertex‑cut size</a:t>
            </a:r>
            <a:r>
              <a:rPr b="0" lang="en-US" sz="1100" spc="-1" strike="noStrike">
                <a:solidFill>
                  <a:srgbClr val="000000"/>
                </a:solidFill>
                <a:latin typeface="Segoe UI"/>
              </a:rPr>
              <a:t> of the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κ(G) formalizes: </a:t>
            </a:r>
            <a:r>
              <a:rPr b="0" i="1" lang="en-US" sz="1100" spc="-1" strike="noStrike">
                <a:solidFill>
                  <a:srgbClr val="000000"/>
                </a:solidFill>
                <a:latin typeface="Segoe UI"/>
              </a:rPr>
              <a:t>“How many nodes must fail (or be attacked) before the network is guaranteed to break apart?”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Menger’s Theorem (vertex version):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κ(G) equals the </a:t>
            </a:r>
            <a:r>
              <a:rPr b="1" lang="en-US" sz="1100" spc="-1" strike="noStrike">
                <a:solidFill>
                  <a:srgbClr val="000000"/>
                </a:solidFill>
                <a:latin typeface="Segoe UI"/>
              </a:rPr>
              <a:t>maximum number of internally vertex‑disjoint paths</a:t>
            </a:r>
            <a:r>
              <a:rPr b="0" lang="en-US" sz="1100" spc="-1" strike="noStrike">
                <a:solidFill>
                  <a:srgbClr val="000000"/>
                </a:solidFill>
                <a:latin typeface="Segoe UI"/>
              </a:rPr>
              <a:t> between the two “most weakly connected” nodes in the graph.</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Intuition: κ(G) counts how many </a:t>
            </a:r>
            <a:r>
              <a:rPr b="0" i="1" lang="en-US" sz="1100" spc="-1" strike="noStrike">
                <a:solidFill>
                  <a:srgbClr val="000000"/>
                </a:solidFill>
                <a:latin typeface="Segoe UI"/>
              </a:rPr>
              <a:t>redundant node‑independent corridors</a:t>
            </a:r>
            <a:r>
              <a:rPr b="0" lang="en-US" sz="1100" spc="-1" strike="noStrike">
                <a:solidFill>
                  <a:srgbClr val="000000"/>
                </a:solidFill>
                <a:latin typeface="Segoe UI"/>
              </a:rPr>
              <a:t> exist at the most vulnerable location.</a:t>
            </a:r>
            <a:endParaRPr b="0" lang="en-US" sz="1100" spc="-1" strike="noStrike">
              <a:solidFill>
                <a:srgbClr val="000000"/>
              </a:solidFill>
              <a:latin typeface="Arial"/>
            </a:endParaRPr>
          </a:p>
          <a:p>
            <a:pPr marL="514440" indent="0">
              <a:lnSpc>
                <a:spcPct val="90000"/>
              </a:lnSpc>
              <a:spcBef>
                <a:spcPts val="499"/>
              </a:spcBef>
              <a:buNone/>
              <a:tabLst>
                <a:tab algn="l" pos="0"/>
              </a:tabLst>
            </a:pPr>
            <a:r>
              <a:rPr b="1" lang="en-US" sz="1100" spc="-1" strike="noStrike">
                <a:solidFill>
                  <a:srgbClr val="000000"/>
                </a:solidFill>
                <a:latin typeface="Segoe UI"/>
              </a:rPr>
              <a:t>Modeling notes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For directed graphs:</a:t>
            </a:r>
            <a:r>
              <a:rPr b="0" lang="en-US" sz="1100" spc="-1" strike="noStrike">
                <a:solidFill>
                  <a:srgbClr val="000000"/>
                </a:solidFill>
                <a:latin typeface="Segoe UI"/>
              </a:rPr>
              <a:t> vertex connectivity requires choosing a definition of connectivity (weak vs strong).</a:t>
            </a:r>
            <a:endParaRPr b="0" lang="en-US" sz="11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WHY it Matters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κ(G) is the </a:t>
            </a:r>
            <a:r>
              <a:rPr b="1" lang="en-US" sz="1100" spc="-1" strike="noStrike">
                <a:solidFill>
                  <a:srgbClr val="000000"/>
                </a:solidFill>
                <a:latin typeface="Segoe UI"/>
              </a:rPr>
              <a:t>vertex‑level analogue</a:t>
            </a:r>
            <a:r>
              <a:rPr b="0" lang="en-US" sz="1100" spc="-1" strike="noStrike">
                <a:solidFill>
                  <a:srgbClr val="000000"/>
                </a:solidFill>
                <a:latin typeface="Segoe UI"/>
              </a:rPr>
              <a:t> of edge‑connectivity λ(G), capturing </a:t>
            </a:r>
            <a:r>
              <a:rPr b="1" lang="en-US" sz="1100" spc="-1" strike="noStrike">
                <a:solidFill>
                  <a:srgbClr val="000000"/>
                </a:solidFill>
                <a:latin typeface="Segoe UI"/>
              </a:rPr>
              <a:t>failure tolerance of nodes</a:t>
            </a:r>
            <a:r>
              <a:rPr b="0" lang="en-US" sz="1100" spc="-1" strike="noStrike">
                <a:solidFill>
                  <a:srgbClr val="000000"/>
                </a:solidFill>
                <a:latin typeface="Segoe UI"/>
              </a:rPr>
              <a:t>, which is often more realistic in communication, infrastructure, and organizational systems (nodes fail more often than edges).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κ(G) identifies </a:t>
            </a:r>
            <a:r>
              <a:rPr b="1" lang="en-US" sz="1100" spc="-1" strike="noStrike">
                <a:solidFill>
                  <a:srgbClr val="000000"/>
                </a:solidFill>
                <a:latin typeface="Segoe UI"/>
              </a:rPr>
              <a:t>single points of failure</a:t>
            </a:r>
            <a:r>
              <a:rPr b="0" lang="en-US" sz="1100" spc="-1" strike="noStrike">
                <a:solidFill>
                  <a:srgbClr val="000000"/>
                </a:solidFill>
                <a:latin typeface="Segoe UI"/>
              </a:rPr>
              <a:t> (κ(G)=1) and </a:t>
            </a:r>
            <a:r>
              <a:rPr b="1" lang="en-US" sz="1100" spc="-1" strike="noStrike">
                <a:solidFill>
                  <a:srgbClr val="000000"/>
                </a:solidFill>
                <a:latin typeface="Segoe UI"/>
              </a:rPr>
              <a:t>choke‑actor roles</a:t>
            </a:r>
            <a:r>
              <a:rPr b="0" lang="en-US" sz="1100" spc="-1" strike="noStrike">
                <a:solidFill>
                  <a:srgbClr val="000000"/>
                </a:solidFill>
                <a:latin typeface="Segoe UI"/>
              </a:rPr>
              <a:t> whose removal fragments the system.</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The relationship between κ(G) and </a:t>
            </a:r>
            <a:r>
              <a:rPr b="1" lang="en-US" sz="1100" spc="-1" strike="noStrike">
                <a:solidFill>
                  <a:srgbClr val="000000"/>
                </a:solidFill>
                <a:latin typeface="Segoe UI"/>
              </a:rPr>
              <a:t>vertex‑disjoint paths</a:t>
            </a:r>
            <a:r>
              <a:rPr b="0" lang="en-US" sz="1100" spc="-1" strike="noStrike">
                <a:solidFill>
                  <a:srgbClr val="000000"/>
                </a:solidFill>
                <a:latin typeface="Segoe UI"/>
              </a:rPr>
              <a:t> gives it direct relevance for </a:t>
            </a:r>
            <a:r>
              <a:rPr b="1" lang="en-US" sz="1100" spc="-1" strike="noStrike">
                <a:solidFill>
                  <a:srgbClr val="000000"/>
                </a:solidFill>
                <a:latin typeface="Segoe UI"/>
              </a:rPr>
              <a:t>redundant routing</a:t>
            </a:r>
            <a:r>
              <a:rPr b="0" lang="en-US" sz="1100" spc="-1" strike="noStrike">
                <a:solidFill>
                  <a:srgbClr val="000000"/>
                </a:solidFill>
                <a:latin typeface="Segoe UI"/>
              </a:rPr>
              <a:t>, </a:t>
            </a:r>
            <a:r>
              <a:rPr b="1" lang="en-US" sz="1100" spc="-1" strike="noStrike">
                <a:solidFill>
                  <a:srgbClr val="000000"/>
                </a:solidFill>
                <a:latin typeface="Segoe UI"/>
              </a:rPr>
              <a:t>load balancing</a:t>
            </a:r>
            <a:r>
              <a:rPr b="0" lang="en-US" sz="1100" spc="-1" strike="noStrike">
                <a:solidFill>
                  <a:srgbClr val="000000"/>
                </a:solidFill>
                <a:latin typeface="Segoe UI"/>
              </a:rPr>
              <a:t>, and </a:t>
            </a:r>
            <a:r>
              <a:rPr b="1" lang="en-US" sz="1100" spc="-1" strike="noStrike">
                <a:solidFill>
                  <a:srgbClr val="000000"/>
                </a:solidFill>
                <a:latin typeface="Segoe UI"/>
              </a:rPr>
              <a:t>parallelism</a:t>
            </a:r>
            <a:r>
              <a:rPr b="0" lang="en-US" sz="1100" spc="-1" strike="noStrike">
                <a:solidFill>
                  <a:srgbClr val="000000"/>
                </a:solidFill>
                <a:latin typeface="Segoe UI"/>
              </a:rPr>
              <a:t> in the underlying structure.</a:t>
            </a: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91"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92" name="PlaceHolder 4"/>
          <p:cNvSpPr>
            <a:spLocks noGrp="1"/>
          </p:cNvSpPr>
          <p:nvPr>
            <p:ph type="sldNum" idx="7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1B66AFA4-DF8B-4DF5-A109-F79913E05FFB}" type="slidenum">
              <a:rPr b="0" lang="en-US" sz="1200" spc="-1" strike="noStrike">
                <a:solidFill>
                  <a:srgbClr val="787878"/>
                </a:solidFill>
                <a:latin typeface="Aptos"/>
              </a:rPr>
              <a:t>26</a:t>
            </a:fld>
            <a:endParaRPr b="0" lang="en-US" sz="1200" spc="-1" strike="noStrike">
              <a:solidFill>
                <a:srgbClr val="000000"/>
              </a:solidFill>
              <a:latin typeface="Times New Roman"/>
            </a:endParaRPr>
          </a:p>
        </p:txBody>
      </p:sp>
    </p:spTree>
  </p:cSld>
  <p:transition>
    <p:fade/>
  </p:transition>
  <p:timing>
    <p:tnLst>
      <p:par>
        <p:cTn id="164" dur="indefinite" restart="never" nodeType="tmRoot">
          <p:childTnLst>
            <p:seq>
              <p:cTn id="165" dur="indefinite" nodeType="mainSeq">
                <p:childTnLst>
                  <p:par>
                    <p:cTn id="166" fill="hold">
                      <p:stCondLst>
                        <p:cond delay="0"/>
                      </p:stCondLst>
                      <p:childTnLst>
                        <p:par>
                          <p:cTn id="167" fill="hold">
                            <p:stCondLst>
                              <p:cond delay="0"/>
                            </p:stCondLst>
                            <p:childTnLst>
                              <p:par>
                                <p:cTn id="168" nodeType="withEffect" fill="hold" presetClass="entr" presetID="10">
                                  <p:stCondLst>
                                    <p:cond delay="250"/>
                                  </p:stCondLst>
                                  <p:iterate type="el">
                                    <p:tmAbs val="100"/>
                                  </p:iterate>
                                  <p:childTnLst>
                                    <p:set>
                                      <p:cBhvr>
                                        <p:cTn id="169" dur="1" fill="hold">
                                          <p:stCondLst>
                                            <p:cond delay="0"/>
                                          </p:stCondLst>
                                        </p:cTn>
                                        <p:tgtEl>
                                          <p:spTgt spid="590"/>
                                        </p:tgtEl>
                                        <p:attrNameLst>
                                          <p:attrName>style.visibility</p:attrName>
                                        </p:attrNameLst>
                                      </p:cBhvr>
                                      <p:to>
                                        <p:strVal val="visible"/>
                                      </p:to>
                                    </p:set>
                                    <p:animEffect filter="fade" transition="in">
                                      <p:cBhvr additive="repl">
                                        <p:cTn id="170" dur="500"/>
                                        <p:tgtEl>
                                          <p:spTgt spid="5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3"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Segoe UI"/>
              </a:rPr>
              <a:t>Node Connectivity (κ(G))</a:t>
            </a:r>
            <a:endParaRPr b="0" lang="en-US" sz="3000" spc="-1" strike="noStrike">
              <a:solidFill>
                <a:srgbClr val="000000"/>
              </a:solidFill>
              <a:latin typeface="Arial"/>
            </a:endParaRPr>
          </a:p>
        </p:txBody>
      </p:sp>
      <p:sp>
        <p:nvSpPr>
          <p:cNvPr id="594" name="PlaceHolder 2"/>
          <p:cNvSpPr>
            <a:spLocks noGrp="1"/>
          </p:cNvSpPr>
          <p:nvPr>
            <p:ph type="ftr" idx="8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595"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WHEN to Use Node Connectivity</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Node connectivity is essential when your focus is </a:t>
            </a:r>
            <a:r>
              <a:rPr b="1" lang="en-US" sz="1100" spc="-1" strike="noStrike">
                <a:solidFill>
                  <a:srgbClr val="000000"/>
                </a:solidFill>
                <a:latin typeface="Segoe UI"/>
              </a:rPr>
              <a:t>node‑level failures</a:t>
            </a:r>
            <a:r>
              <a:rPr b="0" lang="en-US" sz="1100" spc="-1" strike="noStrike">
                <a:solidFill>
                  <a:srgbClr val="000000"/>
                </a:solidFill>
                <a:latin typeface="Segoe UI"/>
              </a:rPr>
              <a:t> or </a:t>
            </a:r>
            <a:r>
              <a:rPr b="1" lang="en-US" sz="1100" spc="-1" strike="noStrike">
                <a:solidFill>
                  <a:srgbClr val="000000"/>
                </a:solidFill>
                <a:latin typeface="Segoe UI"/>
              </a:rPr>
              <a:t>actor removal</a:t>
            </a:r>
            <a:r>
              <a:rPr b="0" lang="en-US" sz="1100" spc="-1" strike="noStrike">
                <a:solidFill>
                  <a:srgbClr val="000000"/>
                </a:solidFill>
                <a:latin typeface="Segoe UI"/>
              </a:rPr>
              <a:t> scenarios: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Organizational networks:</a:t>
            </a:r>
            <a:r>
              <a:rPr b="0" lang="en-US" sz="1100" spc="-1" strike="noStrike">
                <a:solidFill>
                  <a:srgbClr val="000000"/>
                </a:solidFill>
                <a:latin typeface="Segoe UI"/>
              </a:rPr>
              <a:t> To identify how many key individuals must be lost before communication ruptures between groups.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Infrastructure networks:</a:t>
            </a:r>
            <a:r>
              <a:rPr b="0" lang="en-US" sz="1100" spc="-1" strike="noStrike">
                <a:solidFill>
                  <a:srgbClr val="000000"/>
                </a:solidFill>
                <a:latin typeface="Segoe UI"/>
              </a:rPr>
              <a:t> Power substations, routers, servers—nodes are often failure points.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Security / adversarial analysis:</a:t>
            </a:r>
            <a:r>
              <a:rPr b="0" lang="en-US" sz="1100" spc="-1" strike="noStrike">
                <a:solidFill>
                  <a:srgbClr val="000000"/>
                </a:solidFill>
                <a:latin typeface="Segoe UI"/>
              </a:rPr>
              <a:t> Minimum number of strategically chosen nodes to compromise to partition a system.</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Resilient design:</a:t>
            </a:r>
            <a:r>
              <a:rPr b="0" lang="en-US" sz="1100" spc="-1" strike="noStrike">
                <a:solidFill>
                  <a:srgbClr val="000000"/>
                </a:solidFill>
                <a:latin typeface="Segoe UI"/>
              </a:rPr>
              <a:t> Set structural goals like “ensure κ(G) ≥ 3 for critical modules.”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Fault‑tolerant routing:</a:t>
            </a:r>
            <a:r>
              <a:rPr b="0" lang="en-US" sz="1100" spc="-1" strike="noStrike">
                <a:solidFill>
                  <a:srgbClr val="000000"/>
                </a:solidFill>
                <a:latin typeface="Segoe UI"/>
              </a:rPr>
              <a:t> Systems requiring multiple independent routing paths through distinct nodes.</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Modeling cautions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κ(G) is expensive to compute exactly for large graphs (requires repeated min‑cut computations with node splitting), but practical algorithms and heuristics exist.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Key inequality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κ(G) ≤ λ(G) ≤ δ(G)</a:t>
            </a:r>
            <a:r>
              <a:rPr b="0" lang="en-US" sz="1100" spc="-1" strike="noStrike">
                <a:solidFill>
                  <a:srgbClr val="000000"/>
                </a:solidFill>
                <a:latin typeface="Segoe UI"/>
              </a:rPr>
              <a:t>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0" lang="en-US" sz="1100" spc="-1" strike="noStrike">
                <a:solidFill>
                  <a:srgbClr val="000000"/>
                </a:solidFill>
                <a:latin typeface="Segoe UI"/>
              </a:rPr>
              <a:t>Node connectivity ≤ edge connectivity ≤ minimum degree.</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0" lang="en-US" sz="1100" spc="-1" strike="noStrike">
                <a:solidFill>
                  <a:srgbClr val="000000"/>
                </a:solidFill>
                <a:latin typeface="Segoe UI"/>
              </a:rPr>
              <a:t>Provides </a:t>
            </a:r>
            <a:r>
              <a:rPr b="1" lang="en-US" sz="1100" spc="-1" strike="noStrike">
                <a:solidFill>
                  <a:srgbClr val="000000"/>
                </a:solidFill>
                <a:latin typeface="Segoe UI"/>
              </a:rPr>
              <a:t>upper bounds</a:t>
            </a:r>
            <a:r>
              <a:rPr b="0" lang="en-US" sz="1100" spc="-1" strike="noStrike">
                <a:solidFill>
                  <a:srgbClr val="000000"/>
                </a:solidFill>
                <a:latin typeface="Segoe UI"/>
              </a:rPr>
              <a:t> and allows consistency checks for student solutions.</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Subtleties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High κ(G) does </a:t>
            </a:r>
            <a:r>
              <a:rPr b="1" lang="en-US" sz="1100" spc="-1" strike="noStrike">
                <a:solidFill>
                  <a:srgbClr val="000000"/>
                </a:solidFill>
                <a:latin typeface="Segoe UI"/>
              </a:rPr>
              <a:t>not</a:t>
            </a:r>
            <a:r>
              <a:rPr b="0" lang="en-US" sz="1100" spc="-1" strike="noStrike">
                <a:solidFill>
                  <a:srgbClr val="000000"/>
                </a:solidFill>
                <a:latin typeface="Segoe UI"/>
              </a:rPr>
              <a:t> guarantee short paths or high efficiency—it only guarantees </a:t>
            </a:r>
            <a:r>
              <a:rPr b="1" lang="en-US" sz="1100" spc="-1" strike="noStrike">
                <a:solidFill>
                  <a:srgbClr val="000000"/>
                </a:solidFill>
                <a:latin typeface="Segoe UI"/>
              </a:rPr>
              <a:t>multiple internally disjoint alternatives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High λ(G) (edge‑connectivity) does </a:t>
            </a:r>
            <a:r>
              <a:rPr b="1" lang="en-US" sz="1100" spc="-1" strike="noStrike">
                <a:solidFill>
                  <a:srgbClr val="000000"/>
                </a:solidFill>
                <a:latin typeface="Segoe UI"/>
              </a:rPr>
              <a:t>not</a:t>
            </a:r>
            <a:r>
              <a:rPr b="0" lang="en-US" sz="1100" spc="-1" strike="noStrike">
                <a:solidFill>
                  <a:srgbClr val="000000"/>
                </a:solidFill>
                <a:latin typeface="Segoe UI"/>
              </a:rPr>
              <a:t> guarantee high κ(G); adding many edges incident to the same node increases λ(G) but </a:t>
            </a:r>
            <a:r>
              <a:rPr b="1" lang="en-US" sz="1100" spc="-1" strike="noStrike">
                <a:solidFill>
                  <a:srgbClr val="000000"/>
                </a:solidFill>
                <a:latin typeface="Segoe UI"/>
              </a:rPr>
              <a:t>not</a:t>
            </a:r>
            <a:r>
              <a:rPr b="0" lang="en-US" sz="1100" spc="-1" strike="noStrike">
                <a:solidFill>
                  <a:srgbClr val="000000"/>
                </a:solidFill>
                <a:latin typeface="Segoe UI"/>
              </a:rPr>
              <a:t> κ(G).</a:t>
            </a: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596"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597" name="PlaceHolder 4"/>
          <p:cNvSpPr>
            <a:spLocks noGrp="1"/>
          </p:cNvSpPr>
          <p:nvPr>
            <p:ph type="sldNum" idx="8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5A4028E6-8921-46E6-8DED-737DECCD86FF}" type="slidenum">
              <a:rPr b="0" lang="en-US" sz="1200" spc="-1" strike="noStrike">
                <a:solidFill>
                  <a:srgbClr val="787878"/>
                </a:solidFill>
                <a:latin typeface="Aptos"/>
              </a:rPr>
              <a:t>27</a:t>
            </a:fld>
            <a:endParaRPr b="0" lang="en-US" sz="1200" spc="-1" strike="noStrike">
              <a:solidFill>
                <a:srgbClr val="000000"/>
              </a:solidFill>
              <a:latin typeface="Times New Roman"/>
            </a:endParaRPr>
          </a:p>
        </p:txBody>
      </p:sp>
    </p:spTree>
  </p:cSld>
  <p:transition>
    <p:fade/>
  </p:transition>
  <p:timing>
    <p:tnLst>
      <p:par>
        <p:cTn id="171" dur="indefinite" restart="never" nodeType="tmRoot">
          <p:childTnLst>
            <p:seq>
              <p:cTn id="172" dur="indefinite" nodeType="mainSeq">
                <p:childTnLst>
                  <p:par>
                    <p:cTn id="173" fill="hold">
                      <p:stCondLst>
                        <p:cond delay="0"/>
                      </p:stCondLst>
                      <p:childTnLst>
                        <p:par>
                          <p:cTn id="174" fill="hold">
                            <p:stCondLst>
                              <p:cond delay="0"/>
                            </p:stCondLst>
                            <p:childTnLst>
                              <p:par>
                                <p:cTn id="175" nodeType="withEffect" fill="hold" presetClass="entr" presetID="10">
                                  <p:stCondLst>
                                    <p:cond delay="250"/>
                                  </p:stCondLst>
                                  <p:iterate type="el">
                                    <p:tmAbs val="100"/>
                                  </p:iterate>
                                  <p:childTnLst>
                                    <p:set>
                                      <p:cBhvr>
                                        <p:cTn id="176" dur="1" fill="hold">
                                          <p:stCondLst>
                                            <p:cond delay="0"/>
                                          </p:stCondLst>
                                        </p:cTn>
                                        <p:tgtEl>
                                          <p:spTgt spid="595"/>
                                        </p:tgtEl>
                                        <p:attrNameLst>
                                          <p:attrName>style.visibility</p:attrName>
                                        </p:attrNameLst>
                                      </p:cBhvr>
                                      <p:to>
                                        <p:strVal val="visible"/>
                                      </p:to>
                                    </p:set>
                                    <p:animEffect filter="fade" transition="in">
                                      <p:cBhvr additive="repl">
                                        <p:cTn id="177" dur="500"/>
                                        <p:tgtEl>
                                          <p:spTgt spid="5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8"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Segoe UI"/>
              </a:rPr>
              <a:t>Node Connectivity (κ(G))</a:t>
            </a:r>
            <a:endParaRPr b="0" lang="en-US" sz="3000" spc="-1" strike="noStrike">
              <a:solidFill>
                <a:srgbClr val="000000"/>
              </a:solidFill>
              <a:latin typeface="Arial"/>
            </a:endParaRPr>
          </a:p>
        </p:txBody>
      </p:sp>
      <p:sp>
        <p:nvSpPr>
          <p:cNvPr id="599" name="PlaceHolder 2"/>
          <p:cNvSpPr>
            <a:spLocks noGrp="1"/>
          </p:cNvSpPr>
          <p:nvPr>
            <p:ph type="ftr" idx="8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00"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κ(G) gives a </a:t>
            </a:r>
            <a:r>
              <a:rPr b="1" lang="en-US" sz="1100" spc="-1" strike="noStrike">
                <a:solidFill>
                  <a:srgbClr val="000000"/>
                </a:solidFill>
                <a:latin typeface="Segoe UI"/>
              </a:rPr>
              <a:t>quantitative buffer</a:t>
            </a:r>
            <a:r>
              <a:rPr b="0" lang="en-US" sz="1100" spc="-1" strike="noStrike">
                <a:solidFill>
                  <a:srgbClr val="000000"/>
                </a:solidFill>
                <a:latin typeface="Segoe UI"/>
              </a:rPr>
              <a:t> against node failures beyond binary connected/disconnected status.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is a </a:t>
            </a:r>
            <a:r>
              <a:rPr b="1" lang="en-US" sz="1100" spc="-1" strike="noStrike">
                <a:solidFill>
                  <a:srgbClr val="000000"/>
                </a:solidFill>
                <a:latin typeface="Segoe UI"/>
              </a:rPr>
              <a:t>hard guarantee</a:t>
            </a:r>
            <a:r>
              <a:rPr b="0" lang="en-US" sz="1100" spc="-1" strike="noStrike">
                <a:solidFill>
                  <a:srgbClr val="000000"/>
                </a:solidFill>
                <a:latin typeface="Segoe UI"/>
              </a:rPr>
              <a:t>: fewer than κ(G) node removals cannot disconnect the network </a:t>
            </a:r>
            <a:r>
              <a:rPr b="0" i="1" lang="en-US" sz="1100" spc="-1" strike="noStrike">
                <a:solidFill>
                  <a:srgbClr val="000000"/>
                </a:solidFill>
                <a:latin typeface="Segoe UI"/>
              </a:rPr>
              <a:t>no matter where they occur</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 (Resistance to Failure)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κ(G) directly measures </a:t>
            </a:r>
            <a:r>
              <a:rPr b="1" lang="en-US" sz="1100" spc="-1" strike="noStrike">
                <a:solidFill>
                  <a:srgbClr val="000000"/>
                </a:solidFill>
                <a:latin typeface="Segoe UI"/>
              </a:rPr>
              <a:t>node‑robustness</a:t>
            </a:r>
            <a:r>
              <a:rPr b="0" lang="en-US" sz="1100" spc="-1" strike="noStrike">
                <a:solidFill>
                  <a:srgbClr val="000000"/>
                </a:solidFill>
                <a:latin typeface="Segoe UI"/>
              </a:rPr>
              <a:t>: the minimum number of nodes whose failure leads to fragmentation.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If failures are </a:t>
            </a:r>
            <a:r>
              <a:rPr b="1" lang="en-US" sz="1100" spc="-1" strike="noStrike">
                <a:solidFill>
                  <a:srgbClr val="000000"/>
                </a:solidFill>
                <a:latin typeface="Segoe UI"/>
              </a:rPr>
              <a:t>random</a:t>
            </a:r>
            <a:r>
              <a:rPr b="0" lang="en-US" sz="1100" spc="-1" strike="noStrike">
                <a:solidFill>
                  <a:srgbClr val="000000"/>
                </a:solidFill>
                <a:latin typeface="Segoe UI"/>
              </a:rPr>
              <a:t>, κ(G) alone is insufficient; you pair it with </a:t>
            </a:r>
            <a:r>
              <a:rPr b="1" lang="en-US" sz="1100" spc="-1" strike="noStrike">
                <a:solidFill>
                  <a:srgbClr val="000000"/>
                </a:solidFill>
                <a:latin typeface="Segoe UI"/>
              </a:rPr>
              <a:t>degree distribution</a:t>
            </a:r>
            <a:r>
              <a:rPr b="0" lang="en-US" sz="1100" spc="-1" strike="noStrike">
                <a:solidFill>
                  <a:srgbClr val="000000"/>
                </a:solidFill>
                <a:latin typeface="Segoe UI"/>
              </a:rPr>
              <a:t>, </a:t>
            </a:r>
            <a:r>
              <a:rPr b="1" lang="en-US" sz="1100" spc="-1" strike="noStrike">
                <a:solidFill>
                  <a:srgbClr val="000000"/>
                </a:solidFill>
                <a:latin typeface="Segoe UI"/>
              </a:rPr>
              <a:t>assortativity</a:t>
            </a:r>
            <a:r>
              <a:rPr b="0" lang="en-US" sz="1100" spc="-1" strike="noStrike">
                <a:solidFill>
                  <a:srgbClr val="000000"/>
                </a:solidFill>
                <a:latin typeface="Segoe UI"/>
              </a:rPr>
              <a:t>, and </a:t>
            </a:r>
            <a:r>
              <a:rPr b="1" lang="en-US" sz="1100" spc="-1" strike="noStrike">
                <a:solidFill>
                  <a:srgbClr val="000000"/>
                </a:solidFill>
                <a:latin typeface="Segoe UI"/>
              </a:rPr>
              <a:t>local efficiency</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If failures are </a:t>
            </a:r>
            <a:r>
              <a:rPr b="1" lang="en-US" sz="1100" spc="-1" strike="noStrike">
                <a:solidFill>
                  <a:srgbClr val="000000"/>
                </a:solidFill>
                <a:latin typeface="Segoe UI"/>
              </a:rPr>
              <a:t>targeted</a:t>
            </a:r>
            <a:r>
              <a:rPr b="0" lang="en-US" sz="1100" spc="-1" strike="noStrike">
                <a:solidFill>
                  <a:srgbClr val="000000"/>
                </a:solidFill>
                <a:latin typeface="Segoe UI"/>
              </a:rPr>
              <a:t>, κ(G) is extremely informative—systems with κ(G)=1 or 2 are trivially compromised by targeted removal of central actors.</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 (Recovery / Continuity)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κ(G) supports </a:t>
            </a:r>
            <a:r>
              <a:rPr b="1" lang="en-US" sz="1100" spc="-1" strike="noStrike">
                <a:solidFill>
                  <a:srgbClr val="000000"/>
                </a:solidFill>
                <a:latin typeface="Segoe UI"/>
              </a:rPr>
              <a:t>graceful degradation</a:t>
            </a:r>
            <a:r>
              <a:rPr b="0" lang="en-US" sz="1100" spc="-1" strike="noStrike">
                <a:solidFill>
                  <a:srgbClr val="000000"/>
                </a:solidFill>
                <a:latin typeface="Segoe UI"/>
              </a:rPr>
              <a:t>: losing one or several nodes does not impede communication between major regions.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Recovery from node failures is faster because alternative </a:t>
            </a:r>
            <a:r>
              <a:rPr b="1" lang="en-US" sz="1100" spc="-1" strike="noStrike">
                <a:solidFill>
                  <a:srgbClr val="000000"/>
                </a:solidFill>
                <a:latin typeface="Segoe UI"/>
              </a:rPr>
              <a:t>node‑independent corridors</a:t>
            </a:r>
            <a:r>
              <a:rPr b="0" lang="en-US" sz="1100" spc="-1" strike="noStrike">
                <a:solidFill>
                  <a:srgbClr val="000000"/>
                </a:solidFill>
                <a:latin typeface="Segoe UI"/>
              </a:rPr>
              <a:t> exist to reroute information.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 low‑κ(G) networks, recovery often requires </a:t>
            </a:r>
            <a:r>
              <a:rPr b="1" lang="en-US" sz="1100" spc="-1" strike="noStrike">
                <a:solidFill>
                  <a:srgbClr val="000000"/>
                </a:solidFill>
                <a:latin typeface="Segoe UI"/>
              </a:rPr>
              <a:t>adding new nodes or adding ties between neighbors of cut‑vertices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601"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02" name="PlaceHolder 4"/>
          <p:cNvSpPr>
            <a:spLocks noGrp="1"/>
          </p:cNvSpPr>
          <p:nvPr>
            <p:ph type="sldNum" idx="8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FAAC7BC2-0B6C-4E49-A3CA-C904FA187A24}" type="slidenum">
              <a:rPr b="0" lang="en-US" sz="1200" spc="-1" strike="noStrike">
                <a:solidFill>
                  <a:srgbClr val="787878"/>
                </a:solidFill>
                <a:latin typeface="Aptos"/>
              </a:rPr>
              <a:t>28</a:t>
            </a:fld>
            <a:endParaRPr b="0" lang="en-US" sz="1200" spc="-1" strike="noStrike">
              <a:solidFill>
                <a:srgbClr val="000000"/>
              </a:solidFill>
              <a:latin typeface="Times New Roman"/>
            </a:endParaRPr>
          </a:p>
        </p:txBody>
      </p:sp>
    </p:spTree>
  </p:cSld>
  <p:transition>
    <p:fade/>
  </p:transition>
  <p:timing>
    <p:tnLst>
      <p:par>
        <p:cTn id="178" dur="indefinite" restart="never" nodeType="tmRoot">
          <p:childTnLst>
            <p:seq>
              <p:cTn id="179" dur="indefinite" nodeType="mainSeq">
                <p:childTnLst>
                  <p:par>
                    <p:cTn id="180" fill="hold">
                      <p:stCondLst>
                        <p:cond delay="0"/>
                      </p:stCondLst>
                      <p:childTnLst>
                        <p:par>
                          <p:cTn id="181" fill="hold">
                            <p:stCondLst>
                              <p:cond delay="0"/>
                            </p:stCondLst>
                            <p:childTnLst>
                              <p:par>
                                <p:cTn id="182" nodeType="withEffect" fill="hold" presetClass="entr" presetID="10">
                                  <p:stCondLst>
                                    <p:cond delay="250"/>
                                  </p:stCondLst>
                                  <p:iterate type="el">
                                    <p:tmAbs val="100"/>
                                  </p:iterate>
                                  <p:childTnLst>
                                    <p:set>
                                      <p:cBhvr>
                                        <p:cTn id="183" dur="1" fill="hold">
                                          <p:stCondLst>
                                            <p:cond delay="0"/>
                                          </p:stCondLst>
                                        </p:cTn>
                                        <p:tgtEl>
                                          <p:spTgt spid="600"/>
                                        </p:tgtEl>
                                        <p:attrNameLst>
                                          <p:attrName>style.visibility</p:attrName>
                                        </p:attrNameLst>
                                      </p:cBhvr>
                                      <p:to>
                                        <p:strVal val="visible"/>
                                      </p:to>
                                    </p:set>
                                    <p:animEffect filter="fade" transition="in">
                                      <p:cBhvr additive="repl">
                                        <p:cTn id="184" dur="500"/>
                                        <p:tgtEl>
                                          <p:spTgt spid="6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3"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Segoe UI"/>
              </a:rPr>
              <a:t>Node Connectivity (κ(G))</a:t>
            </a:r>
            <a:endParaRPr b="0" lang="en-US" sz="3000" spc="-1" strike="noStrike">
              <a:solidFill>
                <a:srgbClr val="000000"/>
              </a:solidFill>
              <a:latin typeface="Arial"/>
            </a:endParaRPr>
          </a:p>
        </p:txBody>
      </p:sp>
      <p:sp>
        <p:nvSpPr>
          <p:cNvPr id="604" name="PlaceHolder 2"/>
          <p:cNvSpPr>
            <a:spLocks noGrp="1"/>
          </p:cNvSpPr>
          <p:nvPr>
            <p:ph type="ftr" idx="8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05"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606"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07" name="PlaceHolder 4"/>
          <p:cNvSpPr>
            <a:spLocks noGrp="1"/>
          </p:cNvSpPr>
          <p:nvPr>
            <p:ph type="sldNum" idx="8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748791BA-83D1-4ADF-8F19-A302181C2AD7}" type="slidenum">
              <a:rPr b="0" lang="en-US" sz="1200" spc="-1" strike="noStrike">
                <a:solidFill>
                  <a:srgbClr val="787878"/>
                </a:solidFill>
                <a:latin typeface="Aptos"/>
              </a:rPr>
              <a:t>29</a:t>
            </a:fld>
            <a:endParaRPr b="0" lang="en-US" sz="1200" spc="-1" strike="noStrike">
              <a:solidFill>
                <a:srgbClr val="000000"/>
              </a:solidFill>
              <a:latin typeface="Times New Roman"/>
            </a:endParaRPr>
          </a:p>
        </p:txBody>
      </p:sp>
    </p:spTree>
  </p:cSld>
  <p:transition>
    <p:fade/>
  </p:transition>
  <p:timing>
    <p:tnLst>
      <p:par>
        <p:cTn id="185" dur="indefinite" restart="never" nodeType="tmRoot">
          <p:childTnLst>
            <p:seq>
              <p:cTn id="186" dur="indefinite" nodeType="mainSeq">
                <p:childTnLst>
                  <p:par>
                    <p:cTn id="187" fill="hold">
                      <p:stCondLst>
                        <p:cond delay="0"/>
                      </p:stCondLst>
                      <p:childTnLst>
                        <p:par>
                          <p:cTn id="188" fill="hold">
                            <p:stCondLst>
                              <p:cond delay="0"/>
                            </p:stCondLst>
                            <p:childTnLst>
                              <p:par>
                                <p:cTn id="189" nodeType="withEffect" fill="hold" presetClass="entr" presetID="10">
                                  <p:stCondLst>
                                    <p:cond delay="250"/>
                                  </p:stCondLst>
                                  <p:iterate type="el">
                                    <p:tmAbs val="100"/>
                                  </p:iterate>
                                  <p:childTnLst>
                                    <p:set>
                                      <p:cBhvr>
                                        <p:cTn id="190" dur="1" fill="hold">
                                          <p:stCondLst>
                                            <p:cond delay="0"/>
                                          </p:stCondLst>
                                        </p:cTn>
                                        <p:tgtEl>
                                          <p:spTgt spid="605"/>
                                        </p:tgtEl>
                                        <p:attrNameLst>
                                          <p:attrName>style.visibility</p:attrName>
                                        </p:attrNameLst>
                                      </p:cBhvr>
                                      <p:to>
                                        <p:strVal val="visible"/>
                                      </p:to>
                                    </p:set>
                                    <p:animEffect filter="fade" transition="in">
                                      <p:cBhvr additive="repl">
                                        <p:cTn id="191" dur="500"/>
                                        <p:tgtEl>
                                          <p:spTgt spid="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8"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Algebraic Connectivity </a:t>
            </a:r>
            <a:r>
              <a:rPr b="0" lang="en-US" sz="3000" spc="-1" strike="noStrike">
                <a:solidFill>
                  <a:srgbClr val="000000"/>
                </a:solidFill>
                <a:latin typeface="Segoe UI"/>
              </a:rPr>
              <a:t>(Fiedler Value λ₂)</a:t>
            </a:r>
            <a:endParaRPr b="0" lang="en-US" sz="3000" spc="-1" strike="noStrike">
              <a:solidFill>
                <a:srgbClr val="000000"/>
              </a:solidFill>
              <a:latin typeface="Arial"/>
            </a:endParaRPr>
          </a:p>
        </p:txBody>
      </p:sp>
      <p:sp>
        <p:nvSpPr>
          <p:cNvPr id="609" name="PlaceHolder 2"/>
          <p:cNvSpPr>
            <a:spLocks noGrp="1"/>
          </p:cNvSpPr>
          <p:nvPr>
            <p:ph type="ftr" idx="8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10"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WHAT it Measures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Algebraic connectivity</a:t>
            </a:r>
            <a:r>
              <a:rPr b="0" lang="en-US" sz="1100" spc="-1" strike="noStrike">
                <a:solidFill>
                  <a:srgbClr val="000000"/>
                </a:solidFill>
                <a:latin typeface="Segoe UI"/>
              </a:rPr>
              <a:t> is the </a:t>
            </a:r>
            <a:r>
              <a:rPr b="1" lang="en-US" sz="1100" spc="-1" strike="noStrike">
                <a:solidFill>
                  <a:srgbClr val="000000"/>
                </a:solidFill>
                <a:latin typeface="Segoe UI"/>
              </a:rPr>
              <a:t>second-smallest eigenvalue</a:t>
            </a:r>
            <a:r>
              <a:rPr b="0" lang="en-US" sz="1100" spc="-1" strike="noStrike">
                <a:solidFill>
                  <a:srgbClr val="000000"/>
                </a:solidFill>
                <a:latin typeface="Segoe UI"/>
              </a:rPr>
              <a:t> of the (combinatorial) Laplacian L=D−A of an undirected graph. It is often denoted </a:t>
            </a:r>
            <a:r>
              <a:rPr b="1" lang="en-US" sz="1100" spc="-1" strike="noStrike">
                <a:solidFill>
                  <a:srgbClr val="000000"/>
                </a:solidFill>
                <a:latin typeface="Segoe UI"/>
              </a:rPr>
              <a:t>λ2 </a:t>
            </a:r>
            <a:r>
              <a:rPr b="0" lang="en-US" sz="1100" spc="-1" strike="noStrike">
                <a:solidFill>
                  <a:srgbClr val="000000"/>
                </a:solidFill>
                <a:latin typeface="Segoe UI"/>
              </a:rPr>
              <a:t> and called the </a:t>
            </a:r>
            <a:r>
              <a:rPr b="1" lang="en-US" sz="1100" spc="-1" strike="noStrike">
                <a:solidFill>
                  <a:srgbClr val="000000"/>
                </a:solidFill>
                <a:latin typeface="Segoe UI"/>
              </a:rPr>
              <a:t>Fiedler value</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Connectivity criterion:</a:t>
            </a:r>
            <a:r>
              <a:rPr b="0" lang="en-US" sz="1100" spc="-1" strike="noStrike">
                <a:solidFill>
                  <a:srgbClr val="000000"/>
                </a:solidFill>
                <a:latin typeface="Segoe UI"/>
              </a:rPr>
              <a:t> λ2&gt;0 </a:t>
            </a:r>
            <a:r>
              <a:rPr b="1" lang="en-US" sz="1100" spc="-1" strike="noStrike">
                <a:solidFill>
                  <a:srgbClr val="000000"/>
                </a:solidFill>
                <a:latin typeface="Segoe UI"/>
              </a:rPr>
              <a:t>iff</a:t>
            </a:r>
            <a:r>
              <a:rPr b="0" lang="en-US" sz="1100" spc="-1" strike="noStrike">
                <a:solidFill>
                  <a:srgbClr val="000000"/>
                </a:solidFill>
                <a:latin typeface="Segoe UI"/>
              </a:rPr>
              <a:t> the graph is </a:t>
            </a:r>
            <a:r>
              <a:rPr b="1" lang="en-US" sz="1100" spc="-1" strike="noStrike">
                <a:solidFill>
                  <a:srgbClr val="000000"/>
                </a:solidFill>
                <a:latin typeface="Segoe UI"/>
              </a:rPr>
              <a:t>connected</a:t>
            </a:r>
            <a:r>
              <a:rPr b="0" lang="en-US" sz="1100" spc="-1" strike="noStrike">
                <a:solidFill>
                  <a:srgbClr val="000000"/>
                </a:solidFill>
                <a:latin typeface="Segoe UI"/>
              </a:rPr>
              <a:t>; λ2 =0 with multiplicity equal to the number of connected components.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Normalized variant:</a:t>
            </a:r>
            <a:r>
              <a:rPr b="0" lang="en-US" sz="1100" spc="-1" strike="noStrike">
                <a:solidFill>
                  <a:srgbClr val="000000"/>
                </a:solidFill>
                <a:latin typeface="Segoe UI"/>
              </a:rPr>
              <a:t> For the </a:t>
            </a:r>
            <a:r>
              <a:rPr b="1" lang="en-US" sz="1100" spc="-1" strike="noStrike">
                <a:solidFill>
                  <a:srgbClr val="000000"/>
                </a:solidFill>
                <a:latin typeface="Segoe UI"/>
              </a:rPr>
              <a:t>normalized Laplacian</a:t>
            </a:r>
            <a:r>
              <a:rPr b="0" lang="en-US" sz="1100" spc="-1" strike="noStrike">
                <a:solidFill>
                  <a:srgbClr val="000000"/>
                </a:solidFill>
                <a:latin typeface="Segoe UI"/>
              </a:rPr>
              <a:t> \mathcal{L} = I - D^{-1/2} A D^{-1/2}, the analogous quantity is the </a:t>
            </a:r>
            <a:r>
              <a:rPr b="1" lang="en-US" sz="1100" spc="-1" strike="noStrike">
                <a:solidFill>
                  <a:srgbClr val="000000"/>
                </a:solidFill>
                <a:latin typeface="Segoe UI"/>
              </a:rPr>
              <a:t>second-smallest eigenvalue</a:t>
            </a:r>
            <a:r>
              <a:rPr b="0" lang="en-US" sz="1100" spc="-1" strike="noStrike">
                <a:solidFill>
                  <a:srgbClr val="000000"/>
                </a:solidFill>
                <a:latin typeface="Segoe UI"/>
              </a:rPr>
              <a:t> \lambda_2(\mathcal{L})\in[0,2] (sometimes called the </a:t>
            </a:r>
            <a:r>
              <a:rPr b="1" lang="en-US" sz="1100" spc="-1" strike="noStrike">
                <a:solidFill>
                  <a:srgbClr val="000000"/>
                </a:solidFill>
                <a:latin typeface="Segoe UI"/>
              </a:rPr>
              <a:t>spectral gap</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it Matters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λ2  is a </a:t>
            </a:r>
            <a:r>
              <a:rPr b="1" lang="en-US" sz="1100" spc="-1" strike="noStrike">
                <a:solidFill>
                  <a:srgbClr val="000000"/>
                </a:solidFill>
                <a:latin typeface="Segoe UI"/>
              </a:rPr>
              <a:t>global cohesion knob</a:t>
            </a:r>
            <a:r>
              <a:rPr b="0" lang="en-US" sz="1100" spc="-1" strike="noStrike">
                <a:solidFill>
                  <a:srgbClr val="000000"/>
                </a:solidFill>
                <a:latin typeface="Segoe UI"/>
              </a:rPr>
              <a:t>: it increases when the graph becomes </a:t>
            </a:r>
            <a:r>
              <a:rPr b="1" lang="en-US" sz="1100" spc="-1" strike="noStrike">
                <a:solidFill>
                  <a:srgbClr val="000000"/>
                </a:solidFill>
                <a:latin typeface="Segoe UI"/>
              </a:rPr>
              <a:t>harder to separate</a:t>
            </a:r>
            <a:r>
              <a:rPr b="0" lang="en-US" sz="1100" spc="-1" strike="noStrike">
                <a:solidFill>
                  <a:srgbClr val="000000"/>
                </a:solidFill>
                <a:latin typeface="Segoe UI"/>
              </a:rPr>
              <a:t> and decreases when a </a:t>
            </a:r>
            <a:r>
              <a:rPr b="1" lang="en-US" sz="1100" spc="-1" strike="noStrike">
                <a:solidFill>
                  <a:srgbClr val="000000"/>
                </a:solidFill>
                <a:latin typeface="Segoe UI"/>
              </a:rPr>
              <a:t>bottleneck</a:t>
            </a:r>
            <a:r>
              <a:rPr b="0" lang="en-US" sz="1100" spc="-1" strike="noStrike">
                <a:solidFill>
                  <a:srgbClr val="000000"/>
                </a:solidFill>
                <a:latin typeface="Segoe UI"/>
              </a:rPr>
              <a:t> or </a:t>
            </a:r>
            <a:r>
              <a:rPr b="1" lang="en-US" sz="1100" spc="-1" strike="noStrike">
                <a:solidFill>
                  <a:srgbClr val="000000"/>
                </a:solidFill>
                <a:latin typeface="Segoe UI"/>
              </a:rPr>
              <a:t>thin bridge</a:t>
            </a:r>
            <a:r>
              <a:rPr b="0" lang="en-US" sz="1100" spc="-1" strike="noStrike">
                <a:solidFill>
                  <a:srgbClr val="000000"/>
                </a:solidFill>
                <a:latin typeface="Segoe UI"/>
              </a:rPr>
              <a:t> emerges.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governs </a:t>
            </a:r>
            <a:r>
              <a:rPr b="1" lang="en-US" sz="1100" spc="-1" strike="noStrike">
                <a:solidFill>
                  <a:srgbClr val="000000"/>
                </a:solidFill>
                <a:latin typeface="Segoe UI"/>
              </a:rPr>
              <a:t>dynamic performance</a:t>
            </a:r>
            <a:r>
              <a:rPr b="0" lang="en-US" sz="1100" spc="-1" strike="noStrike">
                <a:solidFill>
                  <a:srgbClr val="000000"/>
                </a:solidFill>
                <a:latin typeface="Segoe UI"/>
              </a:rPr>
              <a:t> on networks: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Synchronization/consensus speeds</a:t>
            </a:r>
            <a:r>
              <a:rPr b="0" lang="en-US" sz="1100" spc="-1" strike="noStrike">
                <a:solidFill>
                  <a:srgbClr val="000000"/>
                </a:solidFill>
                <a:latin typeface="Segoe UI"/>
              </a:rPr>
              <a:t> (e.g., linear consensus, Laplacian dynamics) are faster for larger λ2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Random‑walk mixing</a:t>
            </a:r>
            <a:r>
              <a:rPr b="0" lang="en-US" sz="1100" spc="-1" strike="noStrike">
                <a:solidFill>
                  <a:srgbClr val="000000"/>
                </a:solidFill>
                <a:latin typeface="Segoe UI"/>
              </a:rPr>
              <a:t> and </a:t>
            </a:r>
            <a:r>
              <a:rPr b="1" lang="en-US" sz="1100" spc="-1" strike="noStrike">
                <a:solidFill>
                  <a:srgbClr val="000000"/>
                </a:solidFill>
                <a:latin typeface="Segoe UI"/>
              </a:rPr>
              <a:t>diffusion</a:t>
            </a:r>
            <a:r>
              <a:rPr b="0" lang="en-US" sz="1100" spc="-1" strike="noStrike">
                <a:solidFill>
                  <a:srgbClr val="000000"/>
                </a:solidFill>
                <a:latin typeface="Segoe UI"/>
              </a:rPr>
              <a:t> relate to the spectral gap (for \mathcal{L} or the random‑walk matrix).</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Unlike purely combinatorial counts (e.g., density), λ2  captures </a:t>
            </a:r>
            <a:r>
              <a:rPr b="1" lang="en-US" sz="1100" spc="-1" strike="noStrike">
                <a:solidFill>
                  <a:srgbClr val="000000"/>
                </a:solidFill>
                <a:latin typeface="Segoe UI"/>
              </a:rPr>
              <a:t>how edges are placed</a:t>
            </a:r>
            <a:r>
              <a:rPr b="0" lang="en-US" sz="1100" spc="-1" strike="noStrike">
                <a:solidFill>
                  <a:srgbClr val="000000"/>
                </a:solidFill>
                <a:latin typeface="Segoe UI"/>
              </a:rPr>
              <a:t> with respect to global cohesion and not just how many there are.</a:t>
            </a:r>
            <a:br>
              <a:rPr sz="1100"/>
            </a:br>
            <a:r>
              <a:rPr b="0" lang="en-US" sz="1100" spc="-1" strike="noStrike">
                <a:solidFill>
                  <a:srgbClr val="000000"/>
                </a:solidFill>
                <a:latin typeface="Segoe UI"/>
              </a:rPr>
              <a:t> </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WHEN to Use Algebraic 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Robustness design &amp; auditing:</a:t>
            </a:r>
            <a:r>
              <a:rPr b="0" lang="en-US" sz="1100" spc="-1" strike="noStrike">
                <a:solidFill>
                  <a:srgbClr val="000000"/>
                </a:solidFill>
                <a:latin typeface="Segoe UI"/>
              </a:rPr>
              <a:t> ensure the network maintains a </a:t>
            </a:r>
            <a:r>
              <a:rPr b="1" lang="en-US" sz="1100" spc="-1" strike="noStrike">
                <a:solidFill>
                  <a:srgbClr val="000000"/>
                </a:solidFill>
                <a:latin typeface="Segoe UI"/>
              </a:rPr>
              <a:t>minimum spectral cohesion</a:t>
            </a:r>
            <a:r>
              <a:rPr b="0" lang="en-US" sz="1100" spc="-1" strike="noStrike">
                <a:solidFill>
                  <a:srgbClr val="000000"/>
                </a:solidFill>
                <a:latin typeface="Segoe UI"/>
              </a:rPr>
              <a:t> threshold; diagnose where small cuts would </a:t>
            </a:r>
            <a:r>
              <a:rPr b="1" lang="en-US" sz="1100" spc="-1" strike="noStrike">
                <a:solidFill>
                  <a:srgbClr val="000000"/>
                </a:solidFill>
                <a:latin typeface="Segoe UI"/>
              </a:rPr>
              <a:t>substantially reduce</a:t>
            </a:r>
            <a:r>
              <a:rPr b="0" lang="en-US" sz="1100" spc="-1" strike="noStrike">
                <a:solidFill>
                  <a:srgbClr val="000000"/>
                </a:solidFill>
                <a:latin typeface="Segoe UI"/>
              </a:rPr>
              <a:t> λ2 .</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Large‑scale summarization:</a:t>
            </a:r>
            <a:r>
              <a:rPr b="0" lang="en-US" sz="1100" spc="-1" strike="noStrike">
                <a:solidFill>
                  <a:srgbClr val="000000"/>
                </a:solidFill>
                <a:latin typeface="Segoe UI"/>
              </a:rPr>
              <a:t> when you need a </a:t>
            </a:r>
            <a:r>
              <a:rPr b="1" lang="en-US" sz="1100" spc="-1" strike="noStrike">
                <a:solidFill>
                  <a:srgbClr val="000000"/>
                </a:solidFill>
                <a:latin typeface="Segoe UI"/>
              </a:rPr>
              <a:t>single scalar</a:t>
            </a:r>
            <a:r>
              <a:rPr b="0" lang="en-US" sz="1100" spc="-1" strike="noStrike">
                <a:solidFill>
                  <a:srgbClr val="000000"/>
                </a:solidFill>
                <a:latin typeface="Segoe UI"/>
              </a:rPr>
              <a:t> that reflects “how well‑glued” the network is, integrating both density and placement of cross‑links.</a:t>
            </a: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611"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12" name="PlaceHolder 4"/>
          <p:cNvSpPr>
            <a:spLocks noGrp="1"/>
          </p:cNvSpPr>
          <p:nvPr>
            <p:ph type="sldNum" idx="8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D57D0C27-F534-4364-9647-7FB359D1CDC6}" type="slidenum">
              <a:rPr b="0" lang="en-US" sz="1200" spc="-1" strike="noStrike">
                <a:solidFill>
                  <a:srgbClr val="787878"/>
                </a:solidFill>
                <a:latin typeface="Aptos"/>
              </a:rPr>
              <a:t>30</a:t>
            </a:fld>
            <a:endParaRPr b="0" lang="en-US" sz="1200" spc="-1" strike="noStrike">
              <a:solidFill>
                <a:srgbClr val="000000"/>
              </a:solidFill>
              <a:latin typeface="Times New Roman"/>
            </a:endParaRPr>
          </a:p>
        </p:txBody>
      </p:sp>
    </p:spTree>
  </p:cSld>
  <p:transition>
    <p:fade/>
  </p:transition>
  <p:timing>
    <p:tnLst>
      <p:par>
        <p:cTn id="192" dur="indefinite" restart="never" nodeType="tmRoot">
          <p:childTnLst>
            <p:seq>
              <p:cTn id="193" dur="indefinite" nodeType="mainSeq">
                <p:childTnLst>
                  <p:par>
                    <p:cTn id="194" fill="hold">
                      <p:stCondLst>
                        <p:cond delay="0"/>
                      </p:stCondLst>
                      <p:childTnLst>
                        <p:par>
                          <p:cTn id="195" fill="hold">
                            <p:stCondLst>
                              <p:cond delay="0"/>
                            </p:stCondLst>
                            <p:childTnLst>
                              <p:par>
                                <p:cTn id="196" nodeType="withEffect" fill="hold" presetClass="entr" presetID="10">
                                  <p:stCondLst>
                                    <p:cond delay="250"/>
                                  </p:stCondLst>
                                  <p:iterate type="el">
                                    <p:tmAbs val="100"/>
                                  </p:iterate>
                                  <p:childTnLst>
                                    <p:set>
                                      <p:cBhvr>
                                        <p:cTn id="197" dur="1" fill="hold">
                                          <p:stCondLst>
                                            <p:cond delay="0"/>
                                          </p:stCondLst>
                                        </p:cTn>
                                        <p:tgtEl>
                                          <p:spTgt spid="610"/>
                                        </p:tgtEl>
                                        <p:attrNameLst>
                                          <p:attrName>style.visibility</p:attrName>
                                        </p:attrNameLst>
                                      </p:cBhvr>
                                      <p:to>
                                        <p:strVal val="visible"/>
                                      </p:to>
                                    </p:set>
                                    <p:animEffect filter="fade" transition="in">
                                      <p:cBhvr additive="repl">
                                        <p:cTn id="198" dur="5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3"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Algebraic Connectivity </a:t>
            </a:r>
            <a:r>
              <a:rPr b="0" lang="en-US" sz="3000" spc="-1" strike="noStrike">
                <a:solidFill>
                  <a:srgbClr val="000000"/>
                </a:solidFill>
                <a:latin typeface="Segoe UI"/>
              </a:rPr>
              <a:t>(Fiedler Value λ₂)</a:t>
            </a:r>
            <a:endParaRPr b="0" lang="en-US" sz="3000" spc="-1" strike="noStrike">
              <a:solidFill>
                <a:srgbClr val="000000"/>
              </a:solidFill>
              <a:latin typeface="Arial"/>
            </a:endParaRPr>
          </a:p>
        </p:txBody>
      </p:sp>
      <p:sp>
        <p:nvSpPr>
          <p:cNvPr id="614" name="PlaceHolder 2"/>
          <p:cNvSpPr>
            <a:spLocks noGrp="1"/>
          </p:cNvSpPr>
          <p:nvPr>
            <p:ph type="ftr" idx="8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15"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1" lang="en-US" sz="1100" spc="-1" strike="noStrike">
                <a:solidFill>
                  <a:srgbClr val="000000"/>
                </a:solidFill>
                <a:latin typeface="Segoe UI"/>
              </a:rPr>
              <a:t>Caveats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Value depends on </a:t>
            </a:r>
            <a:r>
              <a:rPr b="1" lang="en-US" sz="1100" spc="-1" strike="noStrike">
                <a:solidFill>
                  <a:srgbClr val="000000"/>
                </a:solidFill>
                <a:latin typeface="Segoe UI"/>
              </a:rPr>
              <a:t>edge weights</a:t>
            </a:r>
            <a:r>
              <a:rPr b="0" lang="en-US" sz="1100" spc="-1" strike="noStrike">
                <a:solidFill>
                  <a:srgbClr val="000000"/>
                </a:solidFill>
                <a:latin typeface="Segoe UI"/>
              </a:rPr>
              <a:t> and </a:t>
            </a:r>
            <a:r>
              <a:rPr b="1" lang="en-US" sz="1100" spc="-1" strike="noStrike">
                <a:solidFill>
                  <a:srgbClr val="000000"/>
                </a:solidFill>
                <a:latin typeface="Segoe UI"/>
              </a:rPr>
              <a:t>degree heterogeneity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For </a:t>
            </a:r>
            <a:r>
              <a:rPr b="1" lang="en-US" sz="1100" spc="-1" strike="noStrike">
                <a:solidFill>
                  <a:srgbClr val="000000"/>
                </a:solidFill>
                <a:latin typeface="Segoe UI"/>
              </a:rPr>
              <a:t>directed graphs</a:t>
            </a:r>
            <a:r>
              <a:rPr b="0" lang="en-US" sz="1100" spc="-1" strike="noStrike">
                <a:solidFill>
                  <a:srgbClr val="000000"/>
                </a:solidFill>
                <a:latin typeface="Segoe UI"/>
              </a:rPr>
              <a:t>, Laplacian spectra are more delicate; use symmetrized or directed Laplacians with care when interpreting “algebraic connectivity.”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λ2  does </a:t>
            </a:r>
            <a:r>
              <a:rPr b="1" lang="en-US" sz="1100" spc="-1" strike="noStrike">
                <a:solidFill>
                  <a:srgbClr val="000000"/>
                </a:solidFill>
                <a:latin typeface="Segoe UI"/>
              </a:rPr>
              <a:t>not</a:t>
            </a:r>
            <a:r>
              <a:rPr b="0" lang="en-US" sz="1100" spc="-1" strike="noStrike">
                <a:solidFill>
                  <a:srgbClr val="000000"/>
                </a:solidFill>
                <a:latin typeface="Segoe UI"/>
              </a:rPr>
              <a:t> imply short average distance; it implies </a:t>
            </a:r>
            <a:r>
              <a:rPr b="1" lang="en-US" sz="1100" spc="-1" strike="noStrike">
                <a:solidFill>
                  <a:srgbClr val="000000"/>
                </a:solidFill>
                <a:latin typeface="Segoe UI"/>
              </a:rPr>
              <a:t>cohesive connectivity</a:t>
            </a:r>
            <a:r>
              <a:rPr b="0" lang="en-US" sz="1100" spc="-1" strike="noStrike">
                <a:solidFill>
                  <a:srgbClr val="000000"/>
                </a:solidFill>
                <a:latin typeface="Segoe UI"/>
              </a:rPr>
              <a:t>, which is different from geodesic speed.</a:t>
            </a:r>
            <a:endParaRPr b="0" lang="en-US" sz="11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INTERPRETATION (High vs Low)</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High λ2</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The graph is </a:t>
            </a:r>
            <a:r>
              <a:rPr b="1" lang="en-US" sz="1100" spc="-1" strike="noStrike">
                <a:solidFill>
                  <a:srgbClr val="000000"/>
                </a:solidFill>
                <a:latin typeface="Segoe UI"/>
              </a:rPr>
              <a:t>spectrally well‑knit</a:t>
            </a:r>
            <a:r>
              <a:rPr b="0" lang="en-US" sz="1100" spc="-1" strike="noStrike">
                <a:solidFill>
                  <a:srgbClr val="000000"/>
                </a:solidFill>
                <a:latin typeface="Segoe UI"/>
              </a:rPr>
              <a:t>: no balanced cut has a very thin boundary; </a:t>
            </a:r>
            <a:r>
              <a:rPr b="1" lang="en-US" sz="1100" spc="-1" strike="noStrike">
                <a:solidFill>
                  <a:srgbClr val="000000"/>
                </a:solidFill>
                <a:latin typeface="Segoe UI"/>
              </a:rPr>
              <a:t>mixing and consensus</a:t>
            </a:r>
            <a:r>
              <a:rPr b="0" lang="en-US" sz="1100" spc="-1" strike="noStrike">
                <a:solidFill>
                  <a:srgbClr val="000000"/>
                </a:solidFill>
                <a:latin typeface="Segoe UI"/>
              </a:rPr>
              <a:t> are fast; </a:t>
            </a:r>
            <a:r>
              <a:rPr b="1" lang="en-US" sz="1100" spc="-1" strike="noStrike">
                <a:solidFill>
                  <a:srgbClr val="000000"/>
                </a:solidFill>
                <a:latin typeface="Segoe UI"/>
              </a:rPr>
              <a:t>synchronization</a:t>
            </a:r>
            <a:r>
              <a:rPr b="0" lang="en-US" sz="1100" spc="-1" strike="noStrike">
                <a:solidFill>
                  <a:srgbClr val="000000"/>
                </a:solidFill>
                <a:latin typeface="Segoe UI"/>
              </a:rPr>
              <a:t> is easier.</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Multiple, well‑distributed cross‑links</a:t>
            </a:r>
            <a:r>
              <a:rPr b="0" lang="en-US" sz="1100" spc="-1" strike="noStrike">
                <a:solidFill>
                  <a:srgbClr val="000000"/>
                </a:solidFill>
                <a:latin typeface="Segoe UI"/>
              </a:rPr>
              <a:t> exist between regions; removing a few edges rarely isolates a large part of the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The </a:t>
            </a:r>
            <a:r>
              <a:rPr b="1" lang="en-US" sz="1100" spc="-1" strike="noStrike">
                <a:solidFill>
                  <a:srgbClr val="000000"/>
                </a:solidFill>
                <a:latin typeface="Segoe UI"/>
              </a:rPr>
              <a:t>Fiedler vector</a:t>
            </a:r>
            <a:r>
              <a:rPr b="0" lang="en-US" sz="1100" spc="-1" strike="noStrike">
                <a:solidFill>
                  <a:srgbClr val="000000"/>
                </a:solidFill>
                <a:latin typeface="Segoe UI"/>
              </a:rPr>
              <a:t> varies smoothly—no sharp sign split—signaling the absence of a dominant bottleneck.</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Low λ2  (but &gt; 0)</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The graph is connected but </a:t>
            </a:r>
            <a:r>
              <a:rPr b="1" lang="en-US" sz="1100" spc="-1" strike="noStrike">
                <a:solidFill>
                  <a:srgbClr val="000000"/>
                </a:solidFill>
                <a:latin typeface="Segoe UI"/>
              </a:rPr>
              <a:t>nearly decomposable</a:t>
            </a:r>
            <a:r>
              <a:rPr b="0" lang="en-US" sz="1100" spc="-1" strike="noStrike">
                <a:solidFill>
                  <a:srgbClr val="000000"/>
                </a:solidFill>
                <a:latin typeface="Segoe UI"/>
              </a:rPr>
              <a:t>: a </a:t>
            </a:r>
            <a:r>
              <a:rPr b="1" lang="en-US" sz="1100" spc="-1" strike="noStrike">
                <a:solidFill>
                  <a:srgbClr val="000000"/>
                </a:solidFill>
                <a:latin typeface="Segoe UI"/>
              </a:rPr>
              <a:t>sparse inter‑module interface</a:t>
            </a:r>
            <a:r>
              <a:rPr b="0" lang="en-US" sz="1100" spc="-1" strike="noStrike">
                <a:solidFill>
                  <a:srgbClr val="000000"/>
                </a:solidFill>
                <a:latin typeface="Segoe UI"/>
              </a:rPr>
              <a:t> or </a:t>
            </a:r>
            <a:r>
              <a:rPr b="1" lang="en-US" sz="1100" spc="-1" strike="noStrike">
                <a:solidFill>
                  <a:srgbClr val="000000"/>
                </a:solidFill>
                <a:latin typeface="Segoe UI"/>
              </a:rPr>
              <a:t>long thin corridor</a:t>
            </a:r>
            <a:r>
              <a:rPr b="0" lang="en-US" sz="1100" spc="-1" strike="noStrike">
                <a:solidFill>
                  <a:srgbClr val="000000"/>
                </a:solidFill>
                <a:latin typeface="Segoe UI"/>
              </a:rPr>
              <a:t> slows mixing and consensus.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The </a:t>
            </a:r>
            <a:r>
              <a:rPr b="1" lang="en-US" sz="1100" spc="-1" strike="noStrike">
                <a:solidFill>
                  <a:srgbClr val="000000"/>
                </a:solidFill>
                <a:latin typeface="Segoe UI"/>
              </a:rPr>
              <a:t>Fiedler vector</a:t>
            </a:r>
            <a:r>
              <a:rPr b="0" lang="en-US" sz="1100" spc="-1" strike="noStrike">
                <a:solidFill>
                  <a:srgbClr val="000000"/>
                </a:solidFill>
                <a:latin typeface="Segoe UI"/>
              </a:rPr>
              <a:t> typically exhibits a </a:t>
            </a:r>
            <a:r>
              <a:rPr b="1" lang="en-US" sz="1100" spc="-1" strike="noStrike">
                <a:solidFill>
                  <a:srgbClr val="000000"/>
                </a:solidFill>
                <a:latin typeface="Segoe UI"/>
              </a:rPr>
              <a:t>sign (or magnitude) split</a:t>
            </a:r>
            <a:r>
              <a:rPr b="0" lang="en-US" sz="1100" spc="-1" strike="noStrike">
                <a:solidFill>
                  <a:srgbClr val="000000"/>
                </a:solidFill>
                <a:latin typeface="Segoe UI"/>
              </a:rPr>
              <a:t> that pinpoints the weak interface; small changes there produce large spectral effects.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A few additional </a:t>
            </a:r>
            <a:r>
              <a:rPr b="1" lang="en-US" sz="1100" spc="-1" strike="noStrike">
                <a:solidFill>
                  <a:srgbClr val="000000"/>
                </a:solidFill>
                <a:latin typeface="Segoe UI"/>
              </a:rPr>
              <a:t>bridging edges</a:t>
            </a:r>
            <a:r>
              <a:rPr b="0" lang="en-US" sz="1100" spc="-1" strike="noStrike">
                <a:solidFill>
                  <a:srgbClr val="000000"/>
                </a:solidFill>
                <a:latin typeface="Segoe UI"/>
              </a:rPr>
              <a:t> across that interface can </a:t>
            </a:r>
            <a:r>
              <a:rPr b="1" lang="en-US" sz="1100" spc="-1" strike="noStrike">
                <a:solidFill>
                  <a:srgbClr val="000000"/>
                </a:solidFill>
                <a:latin typeface="Segoe UI"/>
              </a:rPr>
              <a:t>substantially increase</a:t>
            </a:r>
            <a:r>
              <a:rPr b="0" lang="en-US" sz="1100" spc="-1" strike="noStrike">
                <a:solidFill>
                  <a:srgbClr val="000000"/>
                </a:solidFill>
                <a:latin typeface="Segoe UI"/>
              </a:rPr>
              <a:t> λ2 .</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616"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17" name="PlaceHolder 4"/>
          <p:cNvSpPr>
            <a:spLocks noGrp="1"/>
          </p:cNvSpPr>
          <p:nvPr>
            <p:ph type="sldNum" idx="8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5AFF2B6C-165D-45DB-A9F1-4BE85DB998FF}" type="slidenum">
              <a:rPr b="0" lang="en-US" sz="1200" spc="-1" strike="noStrike">
                <a:solidFill>
                  <a:srgbClr val="787878"/>
                </a:solidFill>
                <a:latin typeface="Aptos"/>
              </a:rPr>
              <a:t>31</a:t>
            </a:fld>
            <a:endParaRPr b="0" lang="en-US" sz="1200" spc="-1" strike="noStrike">
              <a:solidFill>
                <a:srgbClr val="000000"/>
              </a:solidFill>
              <a:latin typeface="Times New Roman"/>
            </a:endParaRPr>
          </a:p>
        </p:txBody>
      </p:sp>
    </p:spTree>
  </p:cSld>
  <p:transition>
    <p:fade/>
  </p:transition>
  <p:timing>
    <p:tnLst>
      <p:par>
        <p:cTn id="199" dur="indefinite" restart="never" nodeType="tmRoot">
          <p:childTnLst>
            <p:seq>
              <p:cTn id="200" dur="indefinite" nodeType="mainSeq">
                <p:childTnLst>
                  <p:par>
                    <p:cTn id="201" fill="hold">
                      <p:stCondLst>
                        <p:cond delay="0"/>
                      </p:stCondLst>
                      <p:childTnLst>
                        <p:par>
                          <p:cTn id="202" fill="hold">
                            <p:stCondLst>
                              <p:cond delay="0"/>
                            </p:stCondLst>
                            <p:childTnLst>
                              <p:par>
                                <p:cTn id="203" nodeType="withEffect" fill="hold" presetClass="entr" presetID="10">
                                  <p:stCondLst>
                                    <p:cond delay="250"/>
                                  </p:stCondLst>
                                  <p:iterate type="el">
                                    <p:tmAbs val="100"/>
                                  </p:iterate>
                                  <p:childTnLst>
                                    <p:set>
                                      <p:cBhvr>
                                        <p:cTn id="204" dur="1" fill="hold">
                                          <p:stCondLst>
                                            <p:cond delay="0"/>
                                          </p:stCondLst>
                                        </p:cTn>
                                        <p:tgtEl>
                                          <p:spTgt spid="615"/>
                                        </p:tgtEl>
                                        <p:attrNameLst>
                                          <p:attrName>style.visibility</p:attrName>
                                        </p:attrNameLst>
                                      </p:cBhvr>
                                      <p:to>
                                        <p:strVal val="visible"/>
                                      </p:to>
                                    </p:set>
                                    <p:animEffect filter="fade" transition="in">
                                      <p:cBhvr additive="repl">
                                        <p:cTn id="205" dur="500"/>
                                        <p:tgtEl>
                                          <p:spTgt spid="6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8"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Algebraic Connectivity </a:t>
            </a:r>
            <a:r>
              <a:rPr b="0" lang="en-US" sz="3000" spc="-1" strike="noStrike">
                <a:solidFill>
                  <a:srgbClr val="000000"/>
                </a:solidFill>
                <a:latin typeface="Segoe UI"/>
              </a:rPr>
              <a:t>(Fiedler Value λ₂)</a:t>
            </a:r>
            <a:endParaRPr b="0" lang="en-US" sz="3000" spc="-1" strike="noStrike">
              <a:solidFill>
                <a:srgbClr val="000000"/>
              </a:solidFill>
              <a:latin typeface="Arial"/>
            </a:endParaRPr>
          </a:p>
        </p:txBody>
      </p:sp>
      <p:sp>
        <p:nvSpPr>
          <p:cNvPr id="619" name="PlaceHolder 2"/>
          <p:cNvSpPr>
            <a:spLocks noGrp="1"/>
          </p:cNvSpPr>
          <p:nvPr>
            <p:ph type="ftr" idx="9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20"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Threshold property: λ2 &gt;0 ⇔ connected.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Magnitude property: larger λ2  ⇒ </a:t>
            </a:r>
            <a:r>
              <a:rPr b="1" lang="en-US" sz="1100" spc="-1" strike="noStrike">
                <a:solidFill>
                  <a:srgbClr val="000000"/>
                </a:solidFill>
                <a:latin typeface="Segoe UI"/>
              </a:rPr>
              <a:t>stronger global connectivity</a:t>
            </a:r>
            <a:r>
              <a:rPr b="0" lang="en-US" sz="1100" spc="-1" strike="noStrike">
                <a:solidFill>
                  <a:srgbClr val="000000"/>
                </a:solidFill>
                <a:latin typeface="Segoe UI"/>
              </a:rPr>
              <a:t> in an isoperimetric sense (fewer, thicker cuts).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 (Resistance to Failure)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λ2  </a:t>
            </a:r>
            <a:r>
              <a:rPr b="1" lang="en-US" sz="1100" spc="-1" strike="noStrike">
                <a:solidFill>
                  <a:srgbClr val="000000"/>
                </a:solidFill>
                <a:latin typeface="Segoe UI"/>
              </a:rPr>
              <a:t>upper‑ and lower‑bounds</a:t>
            </a:r>
            <a:r>
              <a:rPr b="0" lang="en-US" sz="1100" spc="-1" strike="noStrike">
                <a:solidFill>
                  <a:srgbClr val="000000"/>
                </a:solidFill>
                <a:latin typeface="Segoe UI"/>
              </a:rPr>
              <a:t> relate to </a:t>
            </a:r>
            <a:r>
              <a:rPr b="1" lang="en-US" sz="1100" spc="-1" strike="noStrike">
                <a:solidFill>
                  <a:srgbClr val="000000"/>
                </a:solidFill>
                <a:latin typeface="Segoe UI"/>
              </a:rPr>
              <a:t>conductance Φ</a:t>
            </a:r>
            <a:r>
              <a:rPr b="0" lang="en-US" sz="1100" spc="-1" strike="noStrike">
                <a:solidFill>
                  <a:srgbClr val="000000"/>
                </a:solidFill>
                <a:latin typeface="Segoe UI"/>
              </a:rPr>
              <a:t>; low λ2  flags </a:t>
            </a:r>
            <a:r>
              <a:rPr b="1" lang="en-US" sz="1100" spc="-1" strike="noStrike">
                <a:solidFill>
                  <a:srgbClr val="000000"/>
                </a:solidFill>
                <a:latin typeface="Segoe UI"/>
              </a:rPr>
              <a:t>easily isolatable</a:t>
            </a:r>
            <a:r>
              <a:rPr b="0" lang="en-US" sz="1100" spc="-1" strike="noStrike">
                <a:solidFill>
                  <a:srgbClr val="000000"/>
                </a:solidFill>
                <a:latin typeface="Segoe UI"/>
              </a:rPr>
              <a:t> balanced regions.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Targeted removal</a:t>
            </a:r>
            <a:r>
              <a:rPr b="0" lang="en-US" sz="1100" spc="-1" strike="noStrike">
                <a:solidFill>
                  <a:srgbClr val="000000"/>
                </a:solidFill>
                <a:latin typeface="Segoe UI"/>
              </a:rPr>
              <a:t> of edges/nodes along the Fiedler cut </a:t>
            </a:r>
            <a:r>
              <a:rPr b="1" lang="en-US" sz="1100" spc="-1" strike="noStrike">
                <a:solidFill>
                  <a:srgbClr val="000000"/>
                </a:solidFill>
                <a:latin typeface="Segoe UI"/>
              </a:rPr>
              <a:t>rapidly decreases</a:t>
            </a:r>
            <a:r>
              <a:rPr b="0" lang="en-US" sz="1100" spc="-1" strike="noStrike">
                <a:solidFill>
                  <a:srgbClr val="000000"/>
                </a:solidFill>
                <a:latin typeface="Segoe UI"/>
              </a:rPr>
              <a:t> λ2 , revealing </a:t>
            </a:r>
            <a:r>
              <a:rPr b="1" lang="en-US" sz="1100" spc="-1" strike="noStrike">
                <a:solidFill>
                  <a:srgbClr val="000000"/>
                </a:solidFill>
                <a:latin typeface="Segoe UI"/>
              </a:rPr>
              <a:t>spectral weak spots</a:t>
            </a:r>
            <a:r>
              <a:rPr b="0" lang="en-US" sz="1100" spc="-1" strike="noStrike">
                <a:solidFill>
                  <a:srgbClr val="000000"/>
                </a:solidFill>
                <a:latin typeface="Segoe UI"/>
              </a:rPr>
              <a:t> even in dense graphs.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Compared to λ(G) (edge‑connectivity) or κ(G) (node‑connectivity), λ2  is a </a:t>
            </a:r>
            <a:r>
              <a:rPr b="1" lang="en-US" sz="1100" spc="-1" strike="noStrike">
                <a:solidFill>
                  <a:srgbClr val="000000"/>
                </a:solidFill>
                <a:latin typeface="Segoe UI"/>
              </a:rPr>
              <a:t>soft, global surrogate</a:t>
            </a:r>
            <a:r>
              <a:rPr b="0" lang="en-US" sz="1100" spc="-1" strike="noStrike">
                <a:solidFill>
                  <a:srgbClr val="000000"/>
                </a:solidFill>
                <a:latin typeface="Segoe UI"/>
              </a:rPr>
              <a:t>: it does not count minimal cut sizes, but it captures </a:t>
            </a:r>
            <a:r>
              <a:rPr b="1" lang="en-US" sz="1100" spc="-1" strike="noStrike">
                <a:solidFill>
                  <a:srgbClr val="000000"/>
                </a:solidFill>
                <a:latin typeface="Segoe UI"/>
              </a:rPr>
              <a:t>how broadly</a:t>
            </a:r>
            <a:r>
              <a:rPr b="0" lang="en-US" sz="1100" spc="-1" strike="noStrike">
                <a:solidFill>
                  <a:srgbClr val="000000"/>
                </a:solidFill>
                <a:latin typeface="Segoe UI"/>
              </a:rPr>
              <a:t> the graph resists separation.</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 (Recovery/Continuity)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Recovery strategies that </a:t>
            </a:r>
            <a:r>
              <a:rPr b="1" lang="en-US" sz="1100" spc="-1" strike="noStrike">
                <a:solidFill>
                  <a:srgbClr val="000000"/>
                </a:solidFill>
                <a:latin typeface="Segoe UI"/>
              </a:rPr>
              <a:t>add a few cross‑module edges</a:t>
            </a:r>
            <a:r>
              <a:rPr b="0" lang="en-US" sz="1100" spc="-1" strike="noStrike">
                <a:solidFill>
                  <a:srgbClr val="000000"/>
                </a:solidFill>
                <a:latin typeface="Segoe UI"/>
              </a:rPr>
              <a:t> across the Fiedler cut </a:t>
            </a:r>
            <a:r>
              <a:rPr b="1" lang="en-US" sz="1100" spc="-1" strike="noStrike">
                <a:solidFill>
                  <a:srgbClr val="000000"/>
                </a:solidFill>
                <a:latin typeface="Segoe UI"/>
              </a:rPr>
              <a:t>disproportionately increase</a:t>
            </a:r>
            <a:r>
              <a:rPr b="0" lang="en-US" sz="1100" spc="-1" strike="noStrike">
                <a:solidFill>
                  <a:srgbClr val="000000"/>
                </a:solidFill>
                <a:latin typeface="Segoe UI"/>
              </a:rPr>
              <a:t> λ2  and restore </a:t>
            </a:r>
            <a:r>
              <a:rPr b="1" lang="en-US" sz="1100" spc="-1" strike="noStrike">
                <a:solidFill>
                  <a:srgbClr val="000000"/>
                </a:solidFill>
                <a:latin typeface="Segoe UI"/>
              </a:rPr>
              <a:t>mixing/consensus performance</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Networks with larger λ2  exhibit </a:t>
            </a:r>
            <a:r>
              <a:rPr b="1" lang="en-US" sz="1100" spc="-1" strike="noStrike">
                <a:solidFill>
                  <a:srgbClr val="000000"/>
                </a:solidFill>
                <a:latin typeface="Segoe UI"/>
              </a:rPr>
              <a:t>graceful degradation</a:t>
            </a:r>
            <a:r>
              <a:rPr b="0" lang="en-US" sz="1100" spc="-1" strike="noStrike">
                <a:solidFill>
                  <a:srgbClr val="000000"/>
                </a:solidFill>
                <a:latin typeface="Segoe UI"/>
              </a:rPr>
              <a:t> under distributed failures: many alternative “energy‑spreading” routes exist.</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621"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22" name="PlaceHolder 4"/>
          <p:cNvSpPr>
            <a:spLocks noGrp="1"/>
          </p:cNvSpPr>
          <p:nvPr>
            <p:ph type="sldNum" idx="9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38E5E72A-323E-4F4E-807E-1E20F9E4CD59}" type="slidenum">
              <a:rPr b="0" lang="en-US" sz="1200" spc="-1" strike="noStrike">
                <a:solidFill>
                  <a:srgbClr val="787878"/>
                </a:solidFill>
                <a:latin typeface="Aptos"/>
              </a:rPr>
              <a:t>32</a:t>
            </a:fld>
            <a:endParaRPr b="0" lang="en-US" sz="1200" spc="-1" strike="noStrike">
              <a:solidFill>
                <a:srgbClr val="000000"/>
              </a:solidFill>
              <a:latin typeface="Times New Roman"/>
            </a:endParaRPr>
          </a:p>
        </p:txBody>
      </p:sp>
    </p:spTree>
  </p:cSld>
  <p:transition>
    <p:fade/>
  </p:transition>
  <p:timing>
    <p:tnLst>
      <p:par>
        <p:cTn id="206" dur="indefinite" restart="never" nodeType="tmRoot">
          <p:childTnLst>
            <p:seq>
              <p:cTn id="207" dur="indefinite" nodeType="mainSeq">
                <p:childTnLst>
                  <p:par>
                    <p:cTn id="208" fill="hold">
                      <p:stCondLst>
                        <p:cond delay="0"/>
                      </p:stCondLst>
                      <p:childTnLst>
                        <p:par>
                          <p:cTn id="209" fill="hold">
                            <p:stCondLst>
                              <p:cond delay="0"/>
                            </p:stCondLst>
                            <p:childTnLst>
                              <p:par>
                                <p:cTn id="210" nodeType="withEffect" fill="hold" presetClass="entr" presetID="10">
                                  <p:stCondLst>
                                    <p:cond delay="250"/>
                                  </p:stCondLst>
                                  <p:iterate type="el">
                                    <p:tmAbs val="100"/>
                                  </p:iterate>
                                  <p:childTnLst>
                                    <p:set>
                                      <p:cBhvr>
                                        <p:cTn id="211" dur="1" fill="hold">
                                          <p:stCondLst>
                                            <p:cond delay="0"/>
                                          </p:stCondLst>
                                        </p:cTn>
                                        <p:tgtEl>
                                          <p:spTgt spid="620"/>
                                        </p:tgtEl>
                                        <p:attrNameLst>
                                          <p:attrName>style.visibility</p:attrName>
                                        </p:attrNameLst>
                                      </p:cBhvr>
                                      <p:to>
                                        <p:strVal val="visible"/>
                                      </p:to>
                                    </p:set>
                                    <p:animEffect filter="fade" transition="in">
                                      <p:cBhvr additive="repl">
                                        <p:cTn id="212" dur="500"/>
                                        <p:tgtEl>
                                          <p:spTgt spid="6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3"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Algebraic Connectivity </a:t>
            </a:r>
            <a:r>
              <a:rPr b="0" lang="en-US" sz="3000" spc="-1" strike="noStrike">
                <a:solidFill>
                  <a:srgbClr val="000000"/>
                </a:solidFill>
                <a:latin typeface="Segoe UI"/>
              </a:rPr>
              <a:t>(Fiedler Value λ₂)</a:t>
            </a:r>
            <a:endParaRPr b="0" lang="en-US" sz="3000" spc="-1" strike="noStrike">
              <a:solidFill>
                <a:srgbClr val="000000"/>
              </a:solidFill>
              <a:latin typeface="Arial"/>
            </a:endParaRPr>
          </a:p>
        </p:txBody>
      </p:sp>
      <p:sp>
        <p:nvSpPr>
          <p:cNvPr id="624" name="PlaceHolder 2"/>
          <p:cNvSpPr>
            <a:spLocks noGrp="1"/>
          </p:cNvSpPr>
          <p:nvPr>
            <p:ph type="ftr" idx="9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25"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26"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27" name="PlaceHolder 4"/>
          <p:cNvSpPr>
            <a:spLocks noGrp="1"/>
          </p:cNvSpPr>
          <p:nvPr>
            <p:ph type="sldNum" idx="9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90FCCBEA-D36C-4768-8B04-495A0FEA908C}" type="slidenum">
              <a:rPr b="0" lang="en-US" sz="1200" spc="-1" strike="noStrike">
                <a:solidFill>
                  <a:srgbClr val="787878"/>
                </a:solidFill>
                <a:latin typeface="Aptos"/>
              </a:rPr>
              <a:t>33</a:t>
            </a:fld>
            <a:endParaRPr b="0" lang="en-US" sz="1200" spc="-1" strike="noStrike">
              <a:solidFill>
                <a:srgbClr val="000000"/>
              </a:solidFill>
              <a:latin typeface="Times New Roman"/>
            </a:endParaRPr>
          </a:p>
        </p:txBody>
      </p:sp>
    </p:spTree>
  </p:cSld>
  <p:transition>
    <p:fade/>
  </p:transition>
  <p:timing>
    <p:tnLst>
      <p:par>
        <p:cTn id="213" dur="indefinite" restart="never" nodeType="tmRoot">
          <p:childTnLst>
            <p:seq>
              <p:cTn id="214" dur="indefinite" nodeType="mainSeq">
                <p:childTnLst>
                  <p:par>
                    <p:cTn id="215" fill="hold">
                      <p:stCondLst>
                        <p:cond delay="0"/>
                      </p:stCondLst>
                      <p:childTnLst>
                        <p:par>
                          <p:cTn id="216" fill="hold">
                            <p:stCondLst>
                              <p:cond delay="0"/>
                            </p:stCondLst>
                            <p:childTnLst>
                              <p:par>
                                <p:cTn id="217" nodeType="withEffect" fill="hold" presetClass="entr" presetID="10">
                                  <p:stCondLst>
                                    <p:cond delay="250"/>
                                  </p:stCondLst>
                                  <p:iterate type="el">
                                    <p:tmAbs val="100"/>
                                  </p:iterate>
                                  <p:childTnLst>
                                    <p:set>
                                      <p:cBhvr>
                                        <p:cTn id="218" dur="1" fill="hold">
                                          <p:stCondLst>
                                            <p:cond delay="0"/>
                                          </p:stCondLst>
                                        </p:cTn>
                                        <p:tgtEl>
                                          <p:spTgt spid="625"/>
                                        </p:tgtEl>
                                        <p:attrNameLst>
                                          <p:attrName>style.visibility</p:attrName>
                                        </p:attrNameLst>
                                      </p:cBhvr>
                                      <p:to>
                                        <p:strVal val="visible"/>
                                      </p:to>
                                    </p:set>
                                    <p:animEffect filter="fade" transition="in">
                                      <p:cBhvr additive="repl">
                                        <p:cTn id="219" dur="500"/>
                                        <p:tgtEl>
                                          <p:spTgt spid="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title"/>
          </p:nvPr>
        </p:nvSpPr>
        <p:spPr>
          <a:xfrm>
            <a:off x="4129920" y="1645920"/>
            <a:ext cx="3931200" cy="3565440"/>
          </a:xfrm>
          <a:prstGeom prst="rect">
            <a:avLst/>
          </a:prstGeom>
          <a:noFill/>
          <a:ln w="0">
            <a:noFill/>
          </a:ln>
        </p:spPr>
        <p:txBody>
          <a:bodyPr lIns="90000" rIns="90000" tIns="45000" bIns="45000" anchor="ctr">
            <a:normAutofit/>
          </a:bodyPr>
          <a:p>
            <a:pPr indent="0" algn="ctr">
              <a:lnSpc>
                <a:spcPct val="90000"/>
              </a:lnSpc>
              <a:buNone/>
              <a:tabLst>
                <a:tab algn="l" pos="0"/>
              </a:tabLst>
            </a:pPr>
            <a:r>
              <a:rPr b="0" lang="en-US" sz="2400" spc="-1" strike="noStrike">
                <a:solidFill>
                  <a:srgbClr val="000000"/>
                </a:solidFill>
                <a:latin typeface="Aptos Display"/>
              </a:rPr>
              <a:t>Interconnectedness Measures</a:t>
            </a:r>
            <a:endParaRPr b="0" lang="en-US" sz="2400" spc="-1" strike="noStrike">
              <a:solidFill>
                <a:srgbClr val="000000"/>
              </a:solidFill>
              <a:latin typeface="Arial"/>
            </a:endParaRPr>
          </a:p>
        </p:txBody>
      </p:sp>
      <p:sp>
        <p:nvSpPr>
          <p:cNvPr id="629" name="PlaceHolder 2"/>
          <p:cNvSpPr>
            <a:spLocks noGrp="1"/>
          </p:cNvSpPr>
          <p:nvPr>
            <p:ph type="ftr" idx="9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30" name="PlaceHolder 3"/>
          <p:cNvSpPr>
            <a:spLocks noGrp="1"/>
          </p:cNvSpPr>
          <p:nvPr>
            <p:ph type="sldNum" idx="9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D16727F6-21D5-47B0-A276-DD79FFE7A690}" type="slidenum">
              <a:rPr b="0" lang="en-US" sz="1200" spc="-1" strike="noStrike">
                <a:solidFill>
                  <a:srgbClr val="787878"/>
                </a:solidFill>
                <a:latin typeface="Aptos"/>
              </a:rPr>
              <a:t>34</a:t>
            </a:fld>
            <a:endParaRPr b="0" lang="en-US" sz="1200" spc="-1" strike="noStrike">
              <a:solidFill>
                <a:srgbClr val="000000"/>
              </a:solidFill>
              <a:latin typeface="Times New Roman"/>
            </a:endParaRPr>
          </a:p>
        </p:txBody>
      </p:sp>
    </p:spTree>
  </p:cSld>
  <p:transition>
    <p:fade/>
  </p:transition>
  <p:timing>
    <p:tnLst>
      <p:par>
        <p:cTn id="220" dur="indefinite" restart="never" nodeType="tmRoot">
          <p:childTnLst>
            <p:seq>
              <p:cTn id="221" dur="indefinite" nodeType="mainSeq">
                <p:childTnLst>
                  <p:par>
                    <p:cTn id="222" fill="hold">
                      <p:stCondLst>
                        <p:cond delay="0"/>
                      </p:stCondLst>
                      <p:childTnLst>
                        <p:par>
                          <p:cTn id="223" fill="hold">
                            <p:stCondLst>
                              <p:cond delay="0"/>
                            </p:stCondLst>
                            <p:childTnLst>
                              <p:par>
                                <p:cTn id="224" nodeType="withEffect" fill="hold" presetClass="entr" presetID="10">
                                  <p:stCondLst>
                                    <p:cond delay="500"/>
                                  </p:stCondLst>
                                  <p:iterate type="wd">
                                    <p:tmAbs val="150"/>
                                  </p:iterate>
                                  <p:childTnLst>
                                    <p:set>
                                      <p:cBhvr>
                                        <p:cTn id="225" dur="1" fill="hold">
                                          <p:stCondLst>
                                            <p:cond delay="0"/>
                                          </p:stCondLst>
                                        </p:cTn>
                                        <p:tgtEl>
                                          <p:spTgt spid="628"/>
                                        </p:tgtEl>
                                        <p:attrNameLst>
                                          <p:attrName>style.visibility</p:attrName>
                                        </p:attrNameLst>
                                      </p:cBhvr>
                                      <p:to>
                                        <p:strVal val="visible"/>
                                      </p:to>
                                    </p:set>
                                    <p:animEffect filter="fade" transition="in">
                                      <p:cBhvr additive="repl">
                                        <p:cTn id="226" dur="1000"/>
                                        <p:tgtEl>
                                          <p:spTgt spid="6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1" name="PlaceHolder 1"/>
          <p:cNvSpPr>
            <a:spLocks noGrp="1"/>
          </p:cNvSpPr>
          <p:nvPr>
            <p:ph type="title"/>
          </p:nvPr>
        </p:nvSpPr>
        <p:spPr>
          <a:xfrm>
            <a:off x="1245240" y="786240"/>
            <a:ext cx="4022640" cy="1279440"/>
          </a:xfrm>
          <a:prstGeom prst="rect">
            <a:avLst/>
          </a:prstGeom>
          <a:noFill/>
          <a:ln w="0">
            <a:noFill/>
          </a:ln>
        </p:spPr>
        <p:txBody>
          <a:bodyPr lIns="90000" rIns="90000" tIns="45000" bIns="45000" anchor="b">
            <a:normAutofit fontScale="92000"/>
          </a:bodyPr>
          <a:p>
            <a:pPr indent="0">
              <a:lnSpc>
                <a:spcPct val="90000"/>
              </a:lnSpc>
              <a:buNone/>
              <a:tabLst>
                <a:tab algn="l" pos="0"/>
              </a:tabLst>
            </a:pPr>
            <a:r>
              <a:rPr b="0" lang="en-US" sz="3200" spc="-1" strike="noStrike">
                <a:solidFill>
                  <a:srgbClr val="000000"/>
                </a:solidFill>
                <a:latin typeface="Aptos Display"/>
              </a:rPr>
              <a:t>Density, Cohesion, Clustering, and Assortativity</a:t>
            </a:r>
            <a:endParaRPr b="0" lang="en-US" sz="3200" spc="-1" strike="noStrike">
              <a:solidFill>
                <a:srgbClr val="000000"/>
              </a:solidFill>
              <a:latin typeface="Arial"/>
            </a:endParaRPr>
          </a:p>
        </p:txBody>
      </p:sp>
      <p:sp>
        <p:nvSpPr>
          <p:cNvPr id="632" name="PlaceHolder 2"/>
          <p:cNvSpPr>
            <a:spLocks noGrp="1"/>
          </p:cNvSpPr>
          <p:nvPr>
            <p:ph type="ftr" idx="9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pic>
        <p:nvPicPr>
          <p:cNvPr id="633" name="Content Placeholder 6" descr=""/>
          <p:cNvPicPr/>
          <p:nvPr/>
        </p:nvPicPr>
        <p:blipFill>
          <a:blip r:embed="rId1">
            <a:alphaModFix amt="20000"/>
          </a:blip>
          <a:srcRect l="0" t="0" r="0" b="-925"/>
          <a:stretch/>
        </p:blipFill>
        <p:spPr>
          <a:xfrm>
            <a:off x="1220400" y="2396160"/>
            <a:ext cx="4070160" cy="3637080"/>
          </a:xfrm>
          <a:prstGeom prst="rect">
            <a:avLst/>
          </a:prstGeom>
          <a:ln w="6350">
            <a:solidFill>
              <a:srgbClr val="000000"/>
            </a:solidFill>
            <a:round/>
          </a:ln>
        </p:spPr>
      </p:pic>
      <p:sp>
        <p:nvSpPr>
          <p:cNvPr id="634" name="PlaceHolder 3"/>
          <p:cNvSpPr>
            <a:spLocks noGrp="1"/>
          </p:cNvSpPr>
          <p:nvPr>
            <p:ph/>
          </p:nvPr>
        </p:nvSpPr>
        <p:spPr>
          <a:xfrm>
            <a:off x="5669280" y="786240"/>
            <a:ext cx="5302800" cy="530280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r>
              <a:rPr b="1" lang="en-US" sz="1300" spc="-1" strike="noStrike">
                <a:solidFill>
                  <a:srgbClr val="000000"/>
                </a:solidFill>
                <a:latin typeface="Aptos"/>
              </a:rPr>
              <a:t>Density of Network</a:t>
            </a:r>
            <a:endParaRPr b="0" lang="en-US" sz="1300" spc="-1" strike="noStrike">
              <a:solidFill>
                <a:srgbClr val="000000"/>
              </a:solidFill>
              <a:latin typeface="Arial"/>
            </a:endParaRPr>
          </a:p>
          <a:p>
            <a:pPr indent="0">
              <a:lnSpc>
                <a:spcPct val="90000"/>
              </a:lnSpc>
              <a:spcBef>
                <a:spcPts val="499"/>
              </a:spcBef>
              <a:buNone/>
              <a:tabLst>
                <a:tab algn="l" pos="0"/>
              </a:tabLst>
            </a:pPr>
            <a:r>
              <a:rPr b="0" lang="en-US" sz="1300" spc="-1" strike="noStrike">
                <a:solidFill>
                  <a:srgbClr val="000000"/>
                </a:solidFill>
                <a:latin typeface="Aptos"/>
              </a:rPr>
              <a:t>Density represents the fraction of existing ties out of all possible connections, measuring network interconnectedness.</a:t>
            </a:r>
            <a:endParaRPr b="0" lang="en-US" sz="1300" spc="-1" strike="noStrike">
              <a:solidFill>
                <a:srgbClr val="000000"/>
              </a:solidFill>
              <a:latin typeface="Arial"/>
            </a:endParaRPr>
          </a:p>
          <a:p>
            <a:pPr indent="0">
              <a:lnSpc>
                <a:spcPct val="90000"/>
              </a:lnSpc>
              <a:spcBef>
                <a:spcPts val="2500"/>
              </a:spcBef>
              <a:buNone/>
              <a:tabLst>
                <a:tab algn="l" pos="0"/>
              </a:tabLst>
            </a:pPr>
            <a:r>
              <a:rPr b="1" lang="en-US" sz="1300" spc="-1" strike="noStrike">
                <a:solidFill>
                  <a:srgbClr val="000000"/>
                </a:solidFill>
                <a:latin typeface="Aptos"/>
              </a:rPr>
              <a:t>Network Cohesion</a:t>
            </a:r>
            <a:endParaRPr b="0" lang="en-US" sz="1300" spc="-1" strike="noStrike">
              <a:solidFill>
                <a:srgbClr val="000000"/>
              </a:solidFill>
              <a:latin typeface="Arial"/>
            </a:endParaRPr>
          </a:p>
          <a:p>
            <a:pPr indent="0">
              <a:lnSpc>
                <a:spcPct val="90000"/>
              </a:lnSpc>
              <a:spcBef>
                <a:spcPts val="499"/>
              </a:spcBef>
              <a:buNone/>
              <a:tabLst>
                <a:tab algn="l" pos="0"/>
              </a:tabLst>
            </a:pPr>
            <a:r>
              <a:rPr b="0" lang="en-US" sz="1300" spc="-1" strike="noStrike">
                <a:solidFill>
                  <a:srgbClr val="000000"/>
                </a:solidFill>
                <a:latin typeface="Aptos"/>
              </a:rPr>
              <a:t>Cohesion indicates the proportion of reachable node pairs, reflecting how integrated the network is overall.</a:t>
            </a:r>
            <a:endParaRPr b="0" lang="en-US" sz="1300" spc="-1" strike="noStrike">
              <a:solidFill>
                <a:srgbClr val="000000"/>
              </a:solidFill>
              <a:latin typeface="Arial"/>
            </a:endParaRPr>
          </a:p>
          <a:p>
            <a:pPr indent="0">
              <a:lnSpc>
                <a:spcPct val="90000"/>
              </a:lnSpc>
              <a:spcBef>
                <a:spcPts val="2500"/>
              </a:spcBef>
              <a:buNone/>
              <a:tabLst>
                <a:tab algn="l" pos="0"/>
              </a:tabLst>
            </a:pPr>
            <a:r>
              <a:rPr b="1" lang="en-US" sz="1300" spc="-1" strike="noStrike">
                <a:solidFill>
                  <a:srgbClr val="000000"/>
                </a:solidFill>
                <a:latin typeface="Aptos"/>
              </a:rPr>
              <a:t>Global Clustering Coefficient (Transitivity)</a:t>
            </a:r>
            <a:endParaRPr b="0" lang="en-US" sz="1300" spc="-1" strike="noStrike">
              <a:solidFill>
                <a:srgbClr val="000000"/>
              </a:solidFill>
              <a:latin typeface="Arial"/>
            </a:endParaRPr>
          </a:p>
          <a:p>
            <a:pPr indent="0">
              <a:lnSpc>
                <a:spcPct val="90000"/>
              </a:lnSpc>
              <a:spcBef>
                <a:spcPts val="499"/>
              </a:spcBef>
              <a:buNone/>
              <a:tabLst>
                <a:tab algn="l" pos="0"/>
              </a:tabLst>
            </a:pPr>
            <a:r>
              <a:rPr b="0" lang="en-US" sz="1300" spc="-1" strike="noStrike">
                <a:solidFill>
                  <a:srgbClr val="000000"/>
                </a:solidFill>
                <a:latin typeface="Aptos"/>
              </a:rPr>
              <a:t>Triangle prevalence.  Local redundancy/closure;  strongly influences local robustness and diffusion micro-dynamics.</a:t>
            </a:r>
            <a:endParaRPr b="0" lang="en-US" sz="1300" spc="-1" strike="noStrike">
              <a:solidFill>
                <a:srgbClr val="000000"/>
              </a:solidFill>
              <a:latin typeface="Arial"/>
            </a:endParaRPr>
          </a:p>
          <a:p>
            <a:pPr indent="0">
              <a:lnSpc>
                <a:spcPct val="90000"/>
              </a:lnSpc>
              <a:spcBef>
                <a:spcPts val="499"/>
              </a:spcBef>
              <a:buNone/>
              <a:tabLst>
                <a:tab algn="l" pos="0"/>
              </a:tabLst>
            </a:pPr>
            <a:endParaRPr b="0" lang="en-US" sz="1300" spc="-1" strike="noStrike">
              <a:solidFill>
                <a:srgbClr val="000000"/>
              </a:solidFill>
              <a:latin typeface="Arial"/>
            </a:endParaRPr>
          </a:p>
          <a:p>
            <a:pPr indent="0">
              <a:lnSpc>
                <a:spcPct val="90000"/>
              </a:lnSpc>
              <a:spcBef>
                <a:spcPts val="499"/>
              </a:spcBef>
              <a:buNone/>
              <a:tabLst>
                <a:tab algn="l" pos="0"/>
              </a:tabLst>
            </a:pPr>
            <a:r>
              <a:rPr b="1" lang="en-US" sz="1300" spc="-1" strike="noStrike">
                <a:solidFill>
                  <a:srgbClr val="000000"/>
                </a:solidFill>
                <a:latin typeface="Aptos"/>
              </a:rPr>
              <a:t>Assortativity</a:t>
            </a:r>
            <a:endParaRPr b="0" lang="en-US" sz="1300" spc="-1" strike="noStrike">
              <a:solidFill>
                <a:srgbClr val="000000"/>
              </a:solidFill>
              <a:latin typeface="Arial"/>
            </a:endParaRPr>
          </a:p>
          <a:p>
            <a:pPr indent="0">
              <a:lnSpc>
                <a:spcPct val="90000"/>
              </a:lnSpc>
              <a:spcBef>
                <a:spcPts val="499"/>
              </a:spcBef>
              <a:buNone/>
              <a:tabLst>
                <a:tab algn="l" pos="0"/>
              </a:tabLst>
            </a:pPr>
            <a:r>
              <a:rPr b="0" lang="en-US" sz="1300" spc="-1" strike="noStrike">
                <a:solidFill>
                  <a:srgbClr val="000000"/>
                </a:solidFill>
                <a:latin typeface="Aptos"/>
              </a:rPr>
              <a:t>Wo connects to whom by degre.  Assortative (hub-hub) versus disassortative (hub-leaf) structures with implications for epidemic thresholds and targeted attack robustness.</a:t>
            </a:r>
            <a:endParaRPr b="0" lang="en-US" sz="1300" spc="-1" strike="noStrike">
              <a:solidFill>
                <a:srgbClr val="000000"/>
              </a:solidFill>
              <a:latin typeface="Arial"/>
            </a:endParaRPr>
          </a:p>
        </p:txBody>
      </p:sp>
      <p:sp>
        <p:nvSpPr>
          <p:cNvPr id="635" name="PlaceHolder 4"/>
          <p:cNvSpPr>
            <a:spLocks noGrp="1"/>
          </p:cNvSpPr>
          <p:nvPr>
            <p:ph type="sldNum" idx="9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890945F7-CD30-4735-86CB-D1EA9EF2097D}" type="slidenum">
              <a:rPr b="0" lang="en-US" sz="1200" spc="-1" strike="noStrike">
                <a:solidFill>
                  <a:srgbClr val="787878"/>
                </a:solidFill>
                <a:latin typeface="Aptos"/>
              </a:rPr>
              <a:t>35</a:t>
            </a:fld>
            <a:endParaRPr b="0" lang="en-US" sz="1200" spc="-1" strike="noStrike">
              <a:solidFill>
                <a:srgbClr val="000000"/>
              </a:solidFill>
              <a:latin typeface="Times New Roman"/>
            </a:endParaRPr>
          </a:p>
        </p:txBody>
      </p:sp>
    </p:spTree>
  </p:cSld>
  <p:transition>
    <p:fade/>
  </p:transition>
  <p:timing>
    <p:tnLst>
      <p:par>
        <p:cTn id="227" dur="indefinite" restart="never" nodeType="tmRoot">
          <p:childTnLst>
            <p:seq>
              <p:cTn id="228" dur="indefinite" nodeType="mainSeq">
                <p:childTnLst>
                  <p:par>
                    <p:cTn id="229" fill="hold">
                      <p:stCondLst>
                        <p:cond delay="0"/>
                      </p:stCondLst>
                      <p:childTnLst>
                        <p:par>
                          <p:cTn id="230" fill="hold">
                            <p:stCondLst>
                              <p:cond delay="0"/>
                            </p:stCondLst>
                            <p:childTnLst>
                              <p:par>
                                <p:cTn id="231" nodeType="withEffect" fill="hold" presetClass="entr" presetID="10">
                                  <p:stCondLst>
                                    <p:cond delay="250"/>
                                  </p:stCondLst>
                                  <p:iterate type="el">
                                    <p:tmAbs val="100"/>
                                  </p:iterate>
                                  <p:childTnLst>
                                    <p:set>
                                      <p:cBhvr>
                                        <p:cTn id="232" dur="1" fill="hold">
                                          <p:stCondLst>
                                            <p:cond delay="0"/>
                                          </p:stCondLst>
                                        </p:cTn>
                                        <p:tgtEl>
                                          <p:spTgt spid="634"/>
                                        </p:tgtEl>
                                        <p:attrNameLst>
                                          <p:attrName>style.visibility</p:attrName>
                                        </p:attrNameLst>
                                      </p:cBhvr>
                                      <p:to>
                                        <p:strVal val="visible"/>
                                      </p:to>
                                    </p:set>
                                    <p:animEffect filter="fade" transition="in">
                                      <p:cBhvr additive="repl">
                                        <p:cTn id="233" dur="500"/>
                                        <p:tgtEl>
                                          <p:spTgt spid="6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6"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Edge Density</a:t>
            </a:r>
            <a:endParaRPr b="0" lang="en-US" sz="3000" spc="-1" strike="noStrike">
              <a:solidFill>
                <a:srgbClr val="000000"/>
              </a:solidFill>
              <a:latin typeface="Arial"/>
            </a:endParaRPr>
          </a:p>
        </p:txBody>
      </p:sp>
      <p:sp>
        <p:nvSpPr>
          <p:cNvPr id="637" name="PlaceHolder 2"/>
          <p:cNvSpPr>
            <a:spLocks noGrp="1"/>
          </p:cNvSpPr>
          <p:nvPr>
            <p:ph type="ftr" idx="9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38"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WHAT it Measures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Edge density</a:t>
            </a:r>
            <a:r>
              <a:rPr b="0" lang="en-US" sz="1100" spc="-1" strike="noStrike">
                <a:solidFill>
                  <a:srgbClr val="000000"/>
                </a:solidFill>
                <a:latin typeface="Segoe UI"/>
              </a:rPr>
              <a:t> quantifies </a:t>
            </a:r>
            <a:r>
              <a:rPr b="1" lang="en-US" sz="1100" spc="-1" strike="noStrike">
                <a:solidFill>
                  <a:srgbClr val="000000"/>
                </a:solidFill>
                <a:latin typeface="Segoe UI"/>
              </a:rPr>
              <a:t>how many edges exist relative to how many could exist</a:t>
            </a:r>
            <a:r>
              <a:rPr b="0" lang="en-US" sz="1100" spc="-1" strike="noStrike">
                <a:solidFill>
                  <a:srgbClr val="000000"/>
                </a:solidFill>
                <a:latin typeface="Segoe UI"/>
              </a:rPr>
              <a:t> in a simple, undirected graph.</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For directed graphs, the equation changes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Is not defined for Multigraphs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It Matters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Density establishes a </a:t>
            </a:r>
            <a:r>
              <a:rPr b="1" lang="en-US" sz="1100" spc="-1" strike="noStrike">
                <a:solidFill>
                  <a:srgbClr val="000000"/>
                </a:solidFill>
                <a:latin typeface="Segoe UI"/>
              </a:rPr>
              <a:t>baseline constraint</a:t>
            </a:r>
            <a:r>
              <a:rPr b="0" lang="en-US" sz="1100" spc="-1" strike="noStrike">
                <a:solidFill>
                  <a:srgbClr val="000000"/>
                </a:solidFill>
                <a:latin typeface="Segoe UI"/>
              </a:rPr>
              <a:t> on what the network can do — processes operating on a richly wired network have more adjacency options, while sparse networks are structurally limited.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Higher density</a:t>
            </a:r>
            <a:r>
              <a:rPr b="0" lang="en-US" sz="1100" spc="-1" strike="noStrike">
                <a:solidFill>
                  <a:srgbClr val="000000"/>
                </a:solidFill>
                <a:latin typeface="Segoe UI"/>
              </a:rPr>
              <a:t> increases the number of potential alternate paths, raising the </a:t>
            </a:r>
            <a:r>
              <a:rPr b="0" i="1" lang="en-US" sz="1100" spc="-1" strike="noStrike">
                <a:solidFill>
                  <a:srgbClr val="000000"/>
                </a:solidFill>
                <a:latin typeface="Segoe UI"/>
              </a:rPr>
              <a:t>opportunity</a:t>
            </a:r>
            <a:r>
              <a:rPr b="0" lang="en-US" sz="1100" spc="-1" strike="noStrike">
                <a:solidFill>
                  <a:srgbClr val="000000"/>
                </a:solidFill>
                <a:latin typeface="Segoe UI"/>
              </a:rPr>
              <a:t> for redundancy, cohesion, faster diffusion, and resilience — but only if edges are well‑distributed.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Lower density</a:t>
            </a:r>
            <a:r>
              <a:rPr b="0" lang="en-US" sz="1100" spc="-1" strike="noStrike">
                <a:solidFill>
                  <a:srgbClr val="000000"/>
                </a:solidFill>
                <a:latin typeface="Segoe UI"/>
              </a:rPr>
              <a:t> pushes the network toward </a:t>
            </a:r>
            <a:r>
              <a:rPr b="1" lang="en-US" sz="1100" spc="-1" strike="noStrike">
                <a:solidFill>
                  <a:srgbClr val="000000"/>
                </a:solidFill>
                <a:latin typeface="Segoe UI"/>
              </a:rPr>
              <a:t>tree‑like</a:t>
            </a:r>
            <a:r>
              <a:rPr b="0" lang="en-US" sz="1100" spc="-1" strike="noStrike">
                <a:solidFill>
                  <a:srgbClr val="000000"/>
                </a:solidFill>
                <a:latin typeface="Segoe UI"/>
              </a:rPr>
              <a:t> or </a:t>
            </a:r>
            <a:r>
              <a:rPr b="1" lang="en-US" sz="1100" spc="-1" strike="noStrike">
                <a:solidFill>
                  <a:srgbClr val="000000"/>
                </a:solidFill>
                <a:latin typeface="Segoe UI"/>
              </a:rPr>
              <a:t>chain‑like</a:t>
            </a:r>
            <a:r>
              <a:rPr b="0" lang="en-US" sz="1100" spc="-1" strike="noStrike">
                <a:solidFill>
                  <a:srgbClr val="000000"/>
                </a:solidFill>
                <a:latin typeface="Segoe UI"/>
              </a:rPr>
              <a:t> structures, which tend to have high distances, bottlenecks, and fewer fault‑tolerant pathways.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Density is not a performance metric but a </a:t>
            </a:r>
            <a:r>
              <a:rPr b="1" lang="en-US" sz="1100" spc="-1" strike="noStrike">
                <a:solidFill>
                  <a:srgbClr val="000000"/>
                </a:solidFill>
                <a:latin typeface="Segoe UI"/>
              </a:rPr>
              <a:t>structural substrate measure</a:t>
            </a:r>
            <a:r>
              <a:rPr b="0" lang="en-US" sz="1100" spc="-1" strike="noStrike">
                <a:solidFill>
                  <a:srgbClr val="000000"/>
                </a:solidFill>
                <a:latin typeface="Segoe UI"/>
              </a:rPr>
              <a:t> that constrains (but does not fully determine) metrics like compactness, clustering, and connectivity.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Low density graph have less entanglement for dependencies in hierarchical structures.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0" lang="en-US" sz="1100" spc="-1" strike="noStrike">
                <a:solidFill>
                  <a:srgbClr val="000000"/>
                </a:solidFill>
                <a:latin typeface="Segoe UI"/>
              </a:rPr>
              <a:t>Use density when you need a </a:t>
            </a:r>
            <a:r>
              <a:rPr b="1" lang="en-US" sz="1100" spc="-1" strike="noStrike">
                <a:solidFill>
                  <a:srgbClr val="000000"/>
                </a:solidFill>
                <a:latin typeface="Segoe UI"/>
              </a:rPr>
              <a:t>quick, global descriptor</a:t>
            </a:r>
            <a:r>
              <a:rPr b="0" lang="en-US" sz="1100" spc="-1" strike="noStrike">
                <a:solidFill>
                  <a:srgbClr val="000000"/>
                </a:solidFill>
                <a:latin typeface="Segoe UI"/>
              </a:rPr>
              <a:t> of structural sparseness or richness: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Comparing networks of </a:t>
            </a:r>
            <a:r>
              <a:rPr b="1" lang="en-US" sz="1100" spc="-1" strike="noStrike">
                <a:solidFill>
                  <a:srgbClr val="000000"/>
                </a:solidFill>
                <a:latin typeface="Segoe UI"/>
              </a:rPr>
              <a:t>similar size</a:t>
            </a:r>
            <a:r>
              <a:rPr b="0" lang="en-US" sz="1100" spc="-1" strike="noStrike">
                <a:solidFill>
                  <a:srgbClr val="000000"/>
                </a:solidFill>
                <a:latin typeface="Segoe UI"/>
              </a:rPr>
              <a:t> or studying </a:t>
            </a:r>
            <a:r>
              <a:rPr b="1" lang="en-US" sz="1100" spc="-1" strike="noStrike">
                <a:solidFill>
                  <a:srgbClr val="000000"/>
                </a:solidFill>
                <a:latin typeface="Segoe UI"/>
              </a:rPr>
              <a:t>scaling effects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Evaluating </a:t>
            </a:r>
            <a:r>
              <a:rPr b="1" lang="en-US" sz="1100" spc="-1" strike="noStrike">
                <a:solidFill>
                  <a:srgbClr val="000000"/>
                </a:solidFill>
                <a:latin typeface="Segoe UI"/>
              </a:rPr>
              <a:t>wiring cost</a:t>
            </a:r>
            <a:r>
              <a:rPr b="0" lang="en-US" sz="1100" spc="-1" strike="noStrike">
                <a:solidFill>
                  <a:srgbClr val="000000"/>
                </a:solidFill>
                <a:latin typeface="Segoe UI"/>
              </a:rPr>
              <a:t> or </a:t>
            </a:r>
            <a:r>
              <a:rPr b="1" lang="en-US" sz="1100" spc="-1" strike="noStrike">
                <a:solidFill>
                  <a:srgbClr val="000000"/>
                </a:solidFill>
                <a:latin typeface="Segoe UI"/>
              </a:rPr>
              <a:t>resource intensity</a:t>
            </a:r>
            <a:r>
              <a:rPr b="0" lang="en-US" sz="1100" spc="-1" strike="noStrike">
                <a:solidFill>
                  <a:srgbClr val="000000"/>
                </a:solidFill>
                <a:latin typeface="Segoe UI"/>
              </a:rPr>
              <a:t> (e.g., social/organizational effort, infrastructure investment).</a:t>
            </a:r>
            <a:endParaRPr b="0" lang="en-US" sz="1100" spc="-1" strike="noStrike">
              <a:solidFill>
                <a:srgbClr val="000000"/>
              </a:solidFill>
              <a:latin typeface="Arial"/>
            </a:endParaRPr>
          </a:p>
        </p:txBody>
      </p:sp>
      <p:pic>
        <p:nvPicPr>
          <p:cNvPr id="639"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40" name="PlaceHolder 4"/>
          <p:cNvSpPr>
            <a:spLocks noGrp="1"/>
          </p:cNvSpPr>
          <p:nvPr>
            <p:ph type="sldNum" idx="9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1C939F3C-66EC-4B0A-8FDA-A0CB45020F90}" type="slidenum">
              <a:rPr b="0" lang="en-US" sz="1200" spc="-1" strike="noStrike">
                <a:solidFill>
                  <a:srgbClr val="787878"/>
                </a:solidFill>
                <a:latin typeface="Aptos"/>
              </a:rPr>
              <a:t>36</a:t>
            </a:fld>
            <a:endParaRPr b="0" lang="en-US" sz="1200" spc="-1" strike="noStrike">
              <a:solidFill>
                <a:srgbClr val="000000"/>
              </a:solidFill>
              <a:latin typeface="Times New Roman"/>
            </a:endParaRPr>
          </a:p>
        </p:txBody>
      </p:sp>
    </p:spTree>
  </p:cSld>
  <p:transition>
    <p:fade/>
  </p:transition>
  <p:timing>
    <p:tnLst>
      <p:par>
        <p:cTn id="234" dur="indefinite" restart="never" nodeType="tmRoot">
          <p:childTnLst>
            <p:seq>
              <p:cTn id="235" dur="indefinite" nodeType="mainSeq">
                <p:childTnLst>
                  <p:par>
                    <p:cTn id="236" fill="hold">
                      <p:stCondLst>
                        <p:cond delay="0"/>
                      </p:stCondLst>
                      <p:childTnLst>
                        <p:par>
                          <p:cTn id="237" fill="hold">
                            <p:stCondLst>
                              <p:cond delay="0"/>
                            </p:stCondLst>
                            <p:childTnLst>
                              <p:par>
                                <p:cTn id="238" nodeType="withEffect" fill="hold" presetClass="entr" presetID="10">
                                  <p:stCondLst>
                                    <p:cond delay="250"/>
                                  </p:stCondLst>
                                  <p:iterate type="el">
                                    <p:tmAbs val="100"/>
                                  </p:iterate>
                                  <p:childTnLst>
                                    <p:set>
                                      <p:cBhvr>
                                        <p:cTn id="239" dur="1" fill="hold">
                                          <p:stCondLst>
                                            <p:cond delay="0"/>
                                          </p:stCondLst>
                                        </p:cTn>
                                        <p:tgtEl>
                                          <p:spTgt spid="638"/>
                                        </p:tgtEl>
                                        <p:attrNameLst>
                                          <p:attrName>style.visibility</p:attrName>
                                        </p:attrNameLst>
                                      </p:cBhvr>
                                      <p:to>
                                        <p:strVal val="visible"/>
                                      </p:to>
                                    </p:set>
                                    <p:animEffect filter="fade" transition="in">
                                      <p:cBhvr additive="repl">
                                        <p:cTn id="240" dur="500"/>
                                        <p:tgtEl>
                                          <p:spTgt spid="6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1"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Edge Density</a:t>
            </a:r>
            <a:endParaRPr b="0" lang="en-US" sz="3000" spc="-1" strike="noStrike">
              <a:solidFill>
                <a:srgbClr val="000000"/>
              </a:solidFill>
              <a:latin typeface="Arial"/>
            </a:endParaRPr>
          </a:p>
        </p:txBody>
      </p:sp>
      <p:sp>
        <p:nvSpPr>
          <p:cNvPr id="642" name="PlaceHolder 2"/>
          <p:cNvSpPr>
            <a:spLocks noGrp="1"/>
          </p:cNvSpPr>
          <p:nvPr>
            <p:ph type="ftr" idx="10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43"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Key Note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Density is </a:t>
            </a:r>
            <a:r>
              <a:rPr b="1" lang="en-US" sz="1100" spc="-1" strike="noStrike">
                <a:solidFill>
                  <a:srgbClr val="000000"/>
                </a:solidFill>
                <a:latin typeface="Segoe UI"/>
              </a:rPr>
              <a:t>not</a:t>
            </a:r>
            <a:r>
              <a:rPr b="0" lang="en-US" sz="1100" spc="-1" strike="noStrike">
                <a:solidFill>
                  <a:srgbClr val="000000"/>
                </a:solidFill>
                <a:latin typeface="Segoe UI"/>
              </a:rPr>
              <a:t> a connectivity measure, </a:t>
            </a:r>
            <a:r>
              <a:rPr b="1" lang="en-US" sz="1100" spc="-1" strike="noStrike">
                <a:solidFill>
                  <a:srgbClr val="000000"/>
                </a:solidFill>
                <a:latin typeface="Segoe UI"/>
              </a:rPr>
              <a:t>not</a:t>
            </a:r>
            <a:r>
              <a:rPr b="0" lang="en-US" sz="1100" spc="-1" strike="noStrike">
                <a:solidFill>
                  <a:srgbClr val="000000"/>
                </a:solidFill>
                <a:latin typeface="Segoe UI"/>
              </a:rPr>
              <a:t> a robustness measure, and </a:t>
            </a:r>
            <a:r>
              <a:rPr b="1" lang="en-US" sz="1100" spc="-1" strike="noStrike">
                <a:solidFill>
                  <a:srgbClr val="000000"/>
                </a:solidFill>
                <a:latin typeface="Segoe UI"/>
              </a:rPr>
              <a:t>not</a:t>
            </a:r>
            <a:r>
              <a:rPr b="0" lang="en-US" sz="1100" spc="-1" strike="noStrike">
                <a:solidFill>
                  <a:srgbClr val="000000"/>
                </a:solidFill>
                <a:latin typeface="Segoe UI"/>
              </a:rPr>
              <a:t> a performance measure. It is a </a:t>
            </a:r>
            <a:r>
              <a:rPr b="1" lang="en-US" sz="1100" spc="-1" strike="noStrike">
                <a:solidFill>
                  <a:srgbClr val="000000"/>
                </a:solidFill>
                <a:latin typeface="Segoe UI"/>
              </a:rPr>
              <a:t>global structural quantity</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Examples: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44"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45" name="PlaceHolder 4"/>
          <p:cNvSpPr>
            <a:spLocks noGrp="1"/>
          </p:cNvSpPr>
          <p:nvPr>
            <p:ph type="sldNum" idx="10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91FD3321-F2F5-4272-A751-8AE284EF62F0}" type="slidenum">
              <a:rPr b="0" lang="en-US" sz="1200" spc="-1" strike="noStrike">
                <a:solidFill>
                  <a:srgbClr val="787878"/>
                </a:solidFill>
                <a:latin typeface="Aptos"/>
              </a:rPr>
              <a:t>37</a:t>
            </a:fld>
            <a:endParaRPr b="0" lang="en-US" sz="1200" spc="-1" strike="noStrike">
              <a:solidFill>
                <a:srgbClr val="000000"/>
              </a:solidFill>
              <a:latin typeface="Times New Roman"/>
            </a:endParaRPr>
          </a:p>
        </p:txBody>
      </p:sp>
    </p:spTree>
  </p:cSld>
  <p:transition>
    <p:fade/>
  </p:transition>
  <p:timing>
    <p:tnLst>
      <p:par>
        <p:cTn id="241" dur="indefinite" restart="never" nodeType="tmRoot">
          <p:childTnLst>
            <p:seq>
              <p:cTn id="242" dur="indefinite" nodeType="mainSeq">
                <p:childTnLst>
                  <p:par>
                    <p:cTn id="243" fill="hold">
                      <p:stCondLst>
                        <p:cond delay="0"/>
                      </p:stCondLst>
                      <p:childTnLst>
                        <p:par>
                          <p:cTn id="244" fill="hold">
                            <p:stCondLst>
                              <p:cond delay="0"/>
                            </p:stCondLst>
                            <p:childTnLst>
                              <p:par>
                                <p:cTn id="245" nodeType="withEffect" fill="hold" presetClass="entr" presetID="10">
                                  <p:stCondLst>
                                    <p:cond delay="250"/>
                                  </p:stCondLst>
                                  <p:iterate type="el">
                                    <p:tmAbs val="100"/>
                                  </p:iterate>
                                  <p:childTnLst>
                                    <p:set>
                                      <p:cBhvr>
                                        <p:cTn id="246" dur="1" fill="hold">
                                          <p:stCondLst>
                                            <p:cond delay="0"/>
                                          </p:stCondLst>
                                        </p:cTn>
                                        <p:tgtEl>
                                          <p:spTgt spid="643"/>
                                        </p:tgtEl>
                                        <p:attrNameLst>
                                          <p:attrName>style.visibility</p:attrName>
                                        </p:attrNameLst>
                                      </p:cBhvr>
                                      <p:to>
                                        <p:strVal val="visible"/>
                                      </p:to>
                                    </p:set>
                                    <p:animEffect filter="fade" transition="in">
                                      <p:cBhvr additive="repl">
                                        <p:cTn id="247" dur="500"/>
                                        <p:tgtEl>
                                          <p:spTgt spid="6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6"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Network Cohesion (Reachability Ratio)</a:t>
            </a:r>
            <a:endParaRPr b="0" lang="en-US" sz="3000" spc="-1" strike="noStrike">
              <a:solidFill>
                <a:srgbClr val="000000"/>
              </a:solidFill>
              <a:latin typeface="Arial"/>
            </a:endParaRPr>
          </a:p>
        </p:txBody>
      </p:sp>
      <p:sp>
        <p:nvSpPr>
          <p:cNvPr id="647" name="PlaceHolder 2"/>
          <p:cNvSpPr>
            <a:spLocks noGrp="1"/>
          </p:cNvSpPr>
          <p:nvPr>
            <p:ph type="ftr" idx="10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48"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WHAT it Measures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Cohesion</a:t>
            </a:r>
            <a:r>
              <a:rPr b="0" lang="en-US" sz="1100" spc="-1" strike="noStrike">
                <a:solidFill>
                  <a:srgbClr val="000000"/>
                </a:solidFill>
                <a:latin typeface="Segoe UI"/>
              </a:rPr>
              <a:t> (often called the </a:t>
            </a:r>
            <a:r>
              <a:rPr b="1" lang="en-US" sz="1100" spc="-1" strike="noStrike">
                <a:solidFill>
                  <a:srgbClr val="000000"/>
                </a:solidFill>
                <a:latin typeface="Segoe UI"/>
              </a:rPr>
              <a:t>reachability ratio</a:t>
            </a:r>
            <a:r>
              <a:rPr b="0" lang="en-US" sz="1100" spc="-1" strike="noStrike">
                <a:solidFill>
                  <a:srgbClr val="000000"/>
                </a:solidFill>
                <a:latin typeface="Segoe UI"/>
              </a:rPr>
              <a:t>) measures the </a:t>
            </a:r>
            <a:r>
              <a:rPr b="1" lang="en-US" sz="1100" spc="-1" strike="noStrike">
                <a:solidFill>
                  <a:srgbClr val="000000"/>
                </a:solidFill>
                <a:latin typeface="Segoe UI"/>
              </a:rPr>
              <a:t>proportion of unordered node pairs</a:t>
            </a:r>
            <a:r>
              <a:rPr b="0" lang="en-US" sz="1100" spc="-1" strike="noStrike">
                <a:solidFill>
                  <a:srgbClr val="000000"/>
                </a:solidFill>
                <a:latin typeface="Segoe UI"/>
              </a:rPr>
              <a:t> that can reach each other via </a:t>
            </a:r>
            <a:r>
              <a:rPr b="1" lang="en-US" sz="1100" spc="-1" strike="noStrike">
                <a:solidFill>
                  <a:srgbClr val="000000"/>
                </a:solidFill>
                <a:latin typeface="Segoe UI"/>
              </a:rPr>
              <a:t>some</a:t>
            </a:r>
            <a:r>
              <a:rPr b="0" lang="en-US" sz="1100" spc="-1" strike="noStrike">
                <a:solidFill>
                  <a:srgbClr val="000000"/>
                </a:solidFill>
                <a:latin typeface="Segoe UI"/>
              </a:rPr>
              <a:t> path in the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When cohesion &lt; 1, the graph has multiple components or unreachable regions.</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It Matters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Cohesion evaluates </a:t>
            </a:r>
            <a:r>
              <a:rPr b="1" lang="en-US" sz="1100" spc="-1" strike="noStrike">
                <a:solidFill>
                  <a:srgbClr val="000000"/>
                </a:solidFill>
                <a:latin typeface="Segoe UI"/>
              </a:rPr>
              <a:t>reachability at the system level</a:t>
            </a:r>
            <a:r>
              <a:rPr b="0" lang="en-US" sz="1100" spc="-1" strike="noStrike">
                <a:solidFill>
                  <a:srgbClr val="000000"/>
                </a:solidFill>
                <a:latin typeface="Segoe UI"/>
              </a:rPr>
              <a:t>, not shortest‑path distances or efficiency.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reveals the </a:t>
            </a:r>
            <a:r>
              <a:rPr b="1" lang="en-US" sz="1100" spc="-1" strike="noStrike">
                <a:solidFill>
                  <a:srgbClr val="000000"/>
                </a:solidFill>
                <a:latin typeface="Segoe UI"/>
              </a:rPr>
              <a:t>extent of fragmentation</a:t>
            </a:r>
            <a:r>
              <a:rPr b="0" lang="en-US" sz="1100" spc="-1" strike="noStrike">
                <a:solidFill>
                  <a:srgbClr val="000000"/>
                </a:solidFill>
                <a:latin typeface="Segoe UI"/>
              </a:rPr>
              <a:t>: even if large subregions are internally dense or efficient, the network may be globally fragile if many node pairs lie in different components.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WHEN to Use Cohesion</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Use cohesion when you care about </a:t>
            </a:r>
            <a:r>
              <a:rPr b="1" lang="en-US" sz="1100" spc="-1" strike="noStrike">
                <a:solidFill>
                  <a:srgbClr val="000000"/>
                </a:solidFill>
                <a:latin typeface="Segoe UI"/>
              </a:rPr>
              <a:t>global reach</a:t>
            </a:r>
            <a:r>
              <a:rPr b="0" lang="en-US" sz="1100" spc="-1" strike="noStrike">
                <a:solidFill>
                  <a:srgbClr val="000000"/>
                </a:solidFill>
                <a:latin typeface="Segoe UI"/>
              </a:rPr>
              <a:t>, </a:t>
            </a:r>
            <a:r>
              <a:rPr b="1" lang="en-US" sz="1100" spc="-1" strike="noStrike">
                <a:solidFill>
                  <a:srgbClr val="000000"/>
                </a:solidFill>
                <a:latin typeface="Segoe UI"/>
              </a:rPr>
              <a:t>coverage</a:t>
            </a:r>
            <a:r>
              <a:rPr b="0" lang="en-US" sz="1100" spc="-1" strike="noStrike">
                <a:solidFill>
                  <a:srgbClr val="000000"/>
                </a:solidFill>
                <a:latin typeface="Segoe UI"/>
              </a:rPr>
              <a:t>, or </a:t>
            </a:r>
            <a:r>
              <a:rPr b="1" lang="en-US" sz="1100" spc="-1" strike="noStrike">
                <a:solidFill>
                  <a:srgbClr val="000000"/>
                </a:solidFill>
                <a:latin typeface="Segoe UI"/>
              </a:rPr>
              <a:t>system-wide connectedness</a:t>
            </a:r>
            <a:r>
              <a:rPr b="0" lang="en-US" sz="1100" spc="-1" strike="noStrike">
                <a:solidFill>
                  <a:srgbClr val="000000"/>
                </a:solidFill>
                <a:latin typeface="Segoe UI"/>
              </a:rPr>
              <a:t>, such as: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Communication systems</a:t>
            </a:r>
            <a:r>
              <a:rPr b="0" lang="en-US" sz="1100" spc="-1" strike="noStrike">
                <a:solidFill>
                  <a:srgbClr val="000000"/>
                </a:solidFill>
                <a:latin typeface="Segoe UI"/>
              </a:rPr>
              <a:t>: can every unit eventually reach every other?</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Organizational networks</a:t>
            </a:r>
            <a:r>
              <a:rPr b="0" lang="en-US" sz="1100" spc="-1" strike="noStrike">
                <a:solidFill>
                  <a:srgbClr val="000000"/>
                </a:solidFill>
                <a:latin typeface="Segoe UI"/>
              </a:rPr>
              <a:t>: does the org structure create informational silos?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Infrastructure</a:t>
            </a:r>
            <a:r>
              <a:rPr b="0" lang="en-US" sz="1100" spc="-1" strike="noStrike">
                <a:solidFill>
                  <a:srgbClr val="000000"/>
                </a:solidFill>
                <a:latin typeface="Segoe UI"/>
              </a:rPr>
              <a:t>: what fraction of locations remain mutually reachable after disruptions?</a:t>
            </a:r>
            <a:endParaRPr b="0" lang="en-US" sz="1100" spc="-1" strike="noStrike">
              <a:solidFill>
                <a:srgbClr val="000000"/>
              </a:solidFill>
              <a:latin typeface="Arial"/>
            </a:endParaRPr>
          </a:p>
          <a:p>
            <a:pPr indent="0">
              <a:lnSpc>
                <a:spcPct val="90000"/>
              </a:lnSpc>
              <a:spcBef>
                <a:spcPts val="1001"/>
              </a:spcBef>
              <a:buNone/>
              <a:tabLst>
                <a:tab algn="l" pos="0"/>
              </a:tabLst>
            </a:pPr>
            <a:br>
              <a:rPr sz="1100"/>
            </a:br>
            <a:r>
              <a:rPr b="1" lang="en-US" sz="1400" spc="-1" strike="noStrike">
                <a:solidFill>
                  <a:srgbClr val="000000"/>
                </a:solidFill>
                <a:latin typeface="Aptos"/>
              </a:rPr>
              <a:t>Subtleties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Networks can have </a:t>
            </a:r>
            <a:r>
              <a:rPr b="1" lang="en-US" sz="1100" spc="-1" strike="noStrike">
                <a:solidFill>
                  <a:srgbClr val="000000"/>
                </a:solidFill>
                <a:latin typeface="Segoe UI"/>
              </a:rPr>
              <a:t>high density but low cohesion</a:t>
            </a:r>
            <a:r>
              <a:rPr b="0" lang="en-US" sz="1100" spc="-1" strike="noStrike">
                <a:solidFill>
                  <a:srgbClr val="000000"/>
                </a:solidFill>
                <a:latin typeface="Segoe UI"/>
              </a:rPr>
              <a:t> if edges concentrate internally within clusters and cross-cluster edges are missing.</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Changes in a </a:t>
            </a:r>
            <a:r>
              <a:rPr b="1" lang="en-US" sz="1100" spc="-1" strike="noStrike">
                <a:solidFill>
                  <a:srgbClr val="000000"/>
                </a:solidFill>
                <a:latin typeface="Segoe UI"/>
              </a:rPr>
              <a:t>single bridge</a:t>
            </a:r>
            <a:r>
              <a:rPr b="0" lang="en-US" sz="1100" spc="-1" strike="noStrike">
                <a:solidFill>
                  <a:srgbClr val="000000"/>
                </a:solidFill>
                <a:latin typeface="Segoe UI"/>
              </a:rPr>
              <a:t> can drastically alter cohesion while leaving many meso‑scale and micro‑scale measures unchanged.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Cohesion does </a:t>
            </a:r>
            <a:r>
              <a:rPr b="0" i="1" lang="en-US" sz="1100" spc="-1" strike="noStrike">
                <a:solidFill>
                  <a:srgbClr val="000000"/>
                </a:solidFill>
                <a:latin typeface="Segoe UI"/>
              </a:rPr>
              <a:t>not</a:t>
            </a:r>
            <a:r>
              <a:rPr b="0" lang="en-US" sz="1100" spc="-1" strike="noStrike">
                <a:solidFill>
                  <a:srgbClr val="000000"/>
                </a:solidFill>
                <a:latin typeface="Segoe UI"/>
              </a:rPr>
              <a:t> distinguish whether the reachable component is </a:t>
            </a:r>
            <a:r>
              <a:rPr b="1" lang="en-US" sz="1100" spc="-1" strike="noStrike">
                <a:solidFill>
                  <a:srgbClr val="000000"/>
                </a:solidFill>
                <a:latin typeface="Segoe UI"/>
              </a:rPr>
              <a:t>geodesically efficient</a:t>
            </a:r>
            <a:r>
              <a:rPr b="0" lang="en-US" sz="1100" spc="-1" strike="noStrike">
                <a:solidFill>
                  <a:srgbClr val="000000"/>
                </a:solidFill>
                <a:latin typeface="Segoe UI"/>
              </a:rPr>
              <a:t> or </a:t>
            </a:r>
            <a:r>
              <a:rPr b="1" lang="en-US" sz="1100" spc="-1" strike="noStrike">
                <a:solidFill>
                  <a:srgbClr val="000000"/>
                </a:solidFill>
                <a:latin typeface="Segoe UI"/>
              </a:rPr>
              <a:t>inefficient</a:t>
            </a:r>
            <a:r>
              <a:rPr b="0" lang="en-US" sz="1100" spc="-1" strike="noStrike">
                <a:solidFill>
                  <a:srgbClr val="000000"/>
                </a:solidFill>
                <a:latin typeface="Segoe UI"/>
              </a:rPr>
              <a:t>—only that paths exist.</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49"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50" name="PlaceHolder 4"/>
          <p:cNvSpPr>
            <a:spLocks noGrp="1"/>
          </p:cNvSpPr>
          <p:nvPr>
            <p:ph type="sldNum" idx="10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659F634C-6F5A-4E5E-97F2-8A86B5763E78}" type="slidenum">
              <a:rPr b="0" lang="en-US" sz="1200" spc="-1" strike="noStrike">
                <a:solidFill>
                  <a:srgbClr val="787878"/>
                </a:solidFill>
                <a:latin typeface="Aptos"/>
              </a:rPr>
              <a:t>38</a:t>
            </a:fld>
            <a:endParaRPr b="0" lang="en-US" sz="1200" spc="-1" strike="noStrike">
              <a:solidFill>
                <a:srgbClr val="000000"/>
              </a:solidFill>
              <a:latin typeface="Times New Roman"/>
            </a:endParaRPr>
          </a:p>
        </p:txBody>
      </p:sp>
    </p:spTree>
  </p:cSld>
  <p:transition>
    <p:fade/>
  </p:transition>
  <p:timing>
    <p:tnLst>
      <p:par>
        <p:cTn id="248" dur="indefinite" restart="never" nodeType="tmRoot">
          <p:childTnLst>
            <p:seq>
              <p:cTn id="249" dur="indefinite" nodeType="mainSeq">
                <p:childTnLst>
                  <p:par>
                    <p:cTn id="250" fill="hold">
                      <p:stCondLst>
                        <p:cond delay="0"/>
                      </p:stCondLst>
                      <p:childTnLst>
                        <p:par>
                          <p:cTn id="251" fill="hold">
                            <p:stCondLst>
                              <p:cond delay="0"/>
                            </p:stCondLst>
                            <p:childTnLst>
                              <p:par>
                                <p:cTn id="252" nodeType="withEffect" fill="hold" presetClass="entr" presetID="10">
                                  <p:stCondLst>
                                    <p:cond delay="250"/>
                                  </p:stCondLst>
                                  <p:iterate type="el">
                                    <p:tmAbs val="100"/>
                                  </p:iterate>
                                  <p:childTnLst>
                                    <p:set>
                                      <p:cBhvr>
                                        <p:cTn id="253" dur="1" fill="hold">
                                          <p:stCondLst>
                                            <p:cond delay="0"/>
                                          </p:stCondLst>
                                        </p:cTn>
                                        <p:tgtEl>
                                          <p:spTgt spid="648"/>
                                        </p:tgtEl>
                                        <p:attrNameLst>
                                          <p:attrName>style.visibility</p:attrName>
                                        </p:attrNameLst>
                                      </p:cBhvr>
                                      <p:to>
                                        <p:strVal val="visible"/>
                                      </p:to>
                                    </p:set>
                                    <p:animEffect filter="fade" transition="in">
                                      <p:cBhvr additive="repl">
                                        <p:cTn id="254" dur="500"/>
                                        <p:tgtEl>
                                          <p:spTgt spid="6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1"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Network Cohesion (Reachability Ratio)</a:t>
            </a:r>
            <a:endParaRPr b="0" lang="en-US" sz="3000" spc="-1" strike="noStrike">
              <a:solidFill>
                <a:srgbClr val="000000"/>
              </a:solidFill>
              <a:latin typeface="Arial"/>
            </a:endParaRPr>
          </a:p>
        </p:txBody>
      </p:sp>
      <p:sp>
        <p:nvSpPr>
          <p:cNvPr id="652" name="PlaceHolder 2"/>
          <p:cNvSpPr>
            <a:spLocks noGrp="1"/>
          </p:cNvSpPr>
          <p:nvPr>
            <p:ph type="ftr" idx="10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53"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Cohesion generalizes graph connectivity to a </a:t>
            </a:r>
            <a:r>
              <a:rPr b="1" lang="en-US" sz="1100" spc="-1" strike="noStrike">
                <a:solidFill>
                  <a:srgbClr val="000000"/>
                </a:solidFill>
                <a:latin typeface="Segoe UI"/>
              </a:rPr>
              <a:t>fractional measure</a:t>
            </a:r>
            <a:r>
              <a:rPr b="0" lang="en-US" sz="1100" spc="-1" strike="noStrike">
                <a:solidFill>
                  <a:srgbClr val="000000"/>
                </a:solidFill>
                <a:latin typeface="Segoe UI"/>
              </a:rPr>
              <a:t>: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Connectivity = 1 ⇔ cohesion = 1</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Partial cohesion quantifies </a:t>
            </a:r>
            <a:r>
              <a:rPr b="1" lang="en-US" sz="1100" spc="-1" strike="noStrike">
                <a:solidFill>
                  <a:srgbClr val="000000"/>
                </a:solidFill>
                <a:latin typeface="Segoe UI"/>
              </a:rPr>
              <a:t>how connected</a:t>
            </a:r>
            <a:r>
              <a:rPr b="0" lang="en-US" sz="1100" spc="-1" strike="noStrike">
                <a:solidFill>
                  <a:srgbClr val="000000"/>
                </a:solidFill>
                <a:latin typeface="Segoe UI"/>
              </a:rPr>
              <a:t> the system is when global connectivity is lost.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 measure exposes </a:t>
            </a:r>
            <a:r>
              <a:rPr b="1" lang="en-US" sz="1100" spc="-1" strike="noStrike">
                <a:solidFill>
                  <a:srgbClr val="000000"/>
                </a:solidFill>
                <a:latin typeface="Segoe UI"/>
              </a:rPr>
              <a:t>how much</a:t>
            </a:r>
            <a:r>
              <a:rPr b="0" lang="en-US" sz="1100" spc="-1" strike="noStrike">
                <a:solidFill>
                  <a:srgbClr val="000000"/>
                </a:solidFill>
                <a:latin typeface="Segoe UI"/>
              </a:rPr>
              <a:t> of the network remains reachable even if fully connectedness is broken.</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 (Resistance to Failure)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Cohesion collapses sharply when failures target </a:t>
            </a:r>
            <a:r>
              <a:rPr b="1" lang="en-US" sz="1100" spc="-1" strike="noStrike">
                <a:solidFill>
                  <a:srgbClr val="000000"/>
                </a:solidFill>
                <a:latin typeface="Segoe UI"/>
              </a:rPr>
              <a:t>bridges</a:t>
            </a:r>
            <a:r>
              <a:rPr b="0" lang="en-US" sz="1100" spc="-1" strike="noStrike">
                <a:solidFill>
                  <a:srgbClr val="000000"/>
                </a:solidFill>
                <a:latin typeface="Segoe UI"/>
              </a:rPr>
              <a:t> or </a:t>
            </a:r>
            <a:r>
              <a:rPr b="1" lang="en-US" sz="1100" spc="-1" strike="noStrike">
                <a:solidFill>
                  <a:srgbClr val="000000"/>
                </a:solidFill>
                <a:latin typeface="Segoe UI"/>
              </a:rPr>
              <a:t>articulation points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Random failure effects depend on </a:t>
            </a:r>
            <a:r>
              <a:rPr b="1" lang="en-US" sz="1100" spc="-1" strike="noStrike">
                <a:solidFill>
                  <a:srgbClr val="000000"/>
                </a:solidFill>
                <a:latin typeface="Segoe UI"/>
              </a:rPr>
              <a:t>degree/assortativity</a:t>
            </a:r>
            <a:r>
              <a:rPr b="0" lang="en-US" sz="1100" spc="-1" strike="noStrike">
                <a:solidFill>
                  <a:srgbClr val="000000"/>
                </a:solidFill>
                <a:latin typeface="Segoe UI"/>
              </a:rPr>
              <a:t> and </a:t>
            </a:r>
            <a:r>
              <a:rPr b="1" lang="en-US" sz="1100" spc="-1" strike="noStrike">
                <a:solidFill>
                  <a:srgbClr val="000000"/>
                </a:solidFill>
                <a:latin typeface="Segoe UI"/>
              </a:rPr>
              <a:t>component size distribution</a:t>
            </a:r>
            <a:r>
              <a:rPr b="0" lang="en-US" sz="1100" spc="-1" strike="noStrike">
                <a:solidFill>
                  <a:srgbClr val="000000"/>
                </a:solidFill>
                <a:latin typeface="Segoe UI"/>
              </a:rPr>
              <a:t>, but targeted failures on critical connectors can reduce cohesion from ~1 to nearly 0 in one event.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 (Recovery/Continuity)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Systems with high cohesion under failure maintain </a:t>
            </a:r>
            <a:r>
              <a:rPr b="1" lang="en-US" sz="1100" spc="-1" strike="noStrike">
                <a:solidFill>
                  <a:srgbClr val="000000"/>
                </a:solidFill>
                <a:latin typeface="Segoe UI"/>
              </a:rPr>
              <a:t>wide reachability</a:t>
            </a:r>
            <a:r>
              <a:rPr b="0" lang="en-US" sz="1100" spc="-1" strike="noStrike">
                <a:solidFill>
                  <a:srgbClr val="000000"/>
                </a:solidFill>
                <a:latin typeface="Segoe UI"/>
              </a:rPr>
              <a:t> and can coordinate or function as a whole.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Low cohesion indicates that a large portion of the system must be </a:t>
            </a:r>
            <a:r>
              <a:rPr b="1" lang="en-US" sz="1100" spc="-1" strike="noStrike">
                <a:solidFill>
                  <a:srgbClr val="000000"/>
                </a:solidFill>
                <a:latin typeface="Segoe UI"/>
              </a:rPr>
              <a:t>reconnected</a:t>
            </a:r>
            <a:r>
              <a:rPr b="0" lang="en-US" sz="1100" spc="-1" strike="noStrike">
                <a:solidFill>
                  <a:srgbClr val="000000"/>
                </a:solidFill>
                <a:latin typeface="Segoe UI"/>
              </a:rPr>
              <a:t> to regain function; recovery planning often requires </a:t>
            </a:r>
            <a:r>
              <a:rPr b="1" lang="en-US" sz="1100" spc="-1" strike="noStrike">
                <a:solidFill>
                  <a:srgbClr val="000000"/>
                </a:solidFill>
                <a:latin typeface="Segoe UI"/>
              </a:rPr>
              <a:t>adding bridging edges</a:t>
            </a:r>
            <a:r>
              <a:rPr b="0" lang="en-US" sz="1100" spc="-1" strike="noStrike">
                <a:solidFill>
                  <a:srgbClr val="000000"/>
                </a:solidFill>
                <a:latin typeface="Segoe UI"/>
              </a:rPr>
              <a:t> or </a:t>
            </a:r>
            <a:r>
              <a:rPr b="1" lang="en-US" sz="1100" spc="-1" strike="noStrike">
                <a:solidFill>
                  <a:srgbClr val="000000"/>
                </a:solidFill>
                <a:latin typeface="Segoe UI"/>
              </a:rPr>
              <a:t>fortifying inter-module ties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Cohesion complements </a:t>
            </a:r>
            <a:r>
              <a:rPr b="1" lang="en-US" sz="1100" spc="-1" strike="noStrike">
                <a:solidFill>
                  <a:srgbClr val="000000"/>
                </a:solidFill>
                <a:latin typeface="Segoe UI"/>
              </a:rPr>
              <a:t>global efficiency</a:t>
            </a:r>
            <a:r>
              <a:rPr b="0" lang="en-US" sz="1100" spc="-1" strike="noStrike">
                <a:solidFill>
                  <a:srgbClr val="000000"/>
                </a:solidFill>
                <a:latin typeface="Segoe UI"/>
              </a:rPr>
              <a:t>: a network can be cohesive but inefficient (paths exist but are long), or efficient but not cohesive (efficient within components but globally fragmented).</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54"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55" name="PlaceHolder 4"/>
          <p:cNvSpPr>
            <a:spLocks noGrp="1"/>
          </p:cNvSpPr>
          <p:nvPr>
            <p:ph type="sldNum" idx="10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DBC6972F-F8F8-4CF3-B26A-D70D967B5F9E}" type="slidenum">
              <a:rPr b="0" lang="en-US" sz="1200" spc="-1" strike="noStrike">
                <a:solidFill>
                  <a:srgbClr val="787878"/>
                </a:solidFill>
                <a:latin typeface="Aptos"/>
              </a:rPr>
              <a:t>39</a:t>
            </a:fld>
            <a:endParaRPr b="0" lang="en-US" sz="1200" spc="-1" strike="noStrike">
              <a:solidFill>
                <a:srgbClr val="000000"/>
              </a:solidFill>
              <a:latin typeface="Times New Roman"/>
            </a:endParaRPr>
          </a:p>
        </p:txBody>
      </p:sp>
    </p:spTree>
  </p:cSld>
  <p:transition>
    <p:fade/>
  </p:transition>
  <p:timing>
    <p:tnLst>
      <p:par>
        <p:cTn id="255" dur="indefinite" restart="never" nodeType="tmRoot">
          <p:childTnLst>
            <p:seq>
              <p:cTn id="256" dur="indefinite" nodeType="mainSeq">
                <p:childTnLst>
                  <p:par>
                    <p:cTn id="257" fill="hold">
                      <p:stCondLst>
                        <p:cond delay="0"/>
                      </p:stCondLst>
                      <p:childTnLst>
                        <p:par>
                          <p:cTn id="258" fill="hold">
                            <p:stCondLst>
                              <p:cond delay="0"/>
                            </p:stCondLst>
                            <p:childTnLst>
                              <p:par>
                                <p:cTn id="259" nodeType="withEffect" fill="hold" presetClass="entr" presetID="10">
                                  <p:stCondLst>
                                    <p:cond delay="250"/>
                                  </p:stCondLst>
                                  <p:iterate type="el">
                                    <p:tmAbs val="100"/>
                                  </p:iterate>
                                  <p:childTnLst>
                                    <p:set>
                                      <p:cBhvr>
                                        <p:cTn id="260" dur="1" fill="hold">
                                          <p:stCondLst>
                                            <p:cond delay="0"/>
                                          </p:stCondLst>
                                        </p:cTn>
                                        <p:tgtEl>
                                          <p:spTgt spid="653"/>
                                        </p:tgtEl>
                                        <p:attrNameLst>
                                          <p:attrName>style.visibility</p:attrName>
                                        </p:attrNameLst>
                                      </p:cBhvr>
                                      <p:to>
                                        <p:strVal val="visible"/>
                                      </p:to>
                                    </p:set>
                                    <p:animEffect filter="fade" transition="in">
                                      <p:cBhvr additive="repl">
                                        <p:cTn id="261" dur="500"/>
                                        <p:tgtEl>
                                          <p:spTgt spid="6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6"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Network Cohesion (Reachability Ratio)</a:t>
            </a:r>
            <a:endParaRPr b="0" lang="en-US" sz="3000" spc="-1" strike="noStrike">
              <a:solidFill>
                <a:srgbClr val="000000"/>
              </a:solidFill>
              <a:latin typeface="Arial"/>
            </a:endParaRPr>
          </a:p>
        </p:txBody>
      </p:sp>
      <p:sp>
        <p:nvSpPr>
          <p:cNvPr id="657" name="PlaceHolder 2"/>
          <p:cNvSpPr>
            <a:spLocks noGrp="1"/>
          </p:cNvSpPr>
          <p:nvPr>
            <p:ph type="ftr" idx="10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58"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59"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60" name="PlaceHolder 4"/>
          <p:cNvSpPr>
            <a:spLocks noGrp="1"/>
          </p:cNvSpPr>
          <p:nvPr>
            <p:ph type="sldNum" idx="10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E95A2BA6-5280-468A-9392-09930ED610F7}" type="slidenum">
              <a:rPr b="0" lang="en-US" sz="1200" spc="-1" strike="noStrike">
                <a:solidFill>
                  <a:srgbClr val="787878"/>
                </a:solidFill>
                <a:latin typeface="Aptos"/>
              </a:rPr>
              <a:t>40</a:t>
            </a:fld>
            <a:endParaRPr b="0" lang="en-US" sz="1200" spc="-1" strike="noStrike">
              <a:solidFill>
                <a:srgbClr val="000000"/>
              </a:solidFill>
              <a:latin typeface="Times New Roman"/>
            </a:endParaRPr>
          </a:p>
        </p:txBody>
      </p:sp>
      <p:sp>
        <p:nvSpPr>
          <p:cNvPr id="661" name="TextBox 5"/>
          <p:cNvSpPr/>
          <p:nvPr/>
        </p:nvSpPr>
        <p:spPr>
          <a:xfrm>
            <a:off x="839880" y="1174680"/>
            <a:ext cx="2708640" cy="363960"/>
          </a:xfrm>
          <a:prstGeom prst="rect">
            <a:avLst/>
          </a:prstGeom>
          <a:noFill/>
          <a:ln w="0">
            <a:noFill/>
          </a:ln>
        </p:spPr>
        <p:style>
          <a:lnRef idx="0"/>
          <a:fillRef idx="0"/>
          <a:effectRef idx="0"/>
          <a:fontRef idx="minor"/>
        </p:style>
        <p:txBody>
          <a:bodyPr numCol="1" spcCol="0" horzOverflow="overflow" vertOverflow="overflow" lIns="90000" rIns="90000" tIns="45000" bIns="45000" anchor="t">
            <a:spAutoFit/>
          </a:bodyPr>
          <a:p>
            <a:pPr>
              <a:lnSpc>
                <a:spcPct val="100000"/>
              </a:lnSpc>
            </a:pPr>
            <a:r>
              <a:rPr b="0" lang="en-US" sz="1800" spc="-1" strike="noStrike">
                <a:solidFill>
                  <a:srgbClr val="000000"/>
                </a:solidFill>
                <a:latin typeface="Aptos"/>
                <a:ea typeface="DejaVu Sans"/>
              </a:rPr>
              <a:t>Examples:</a:t>
            </a:r>
            <a:endParaRPr b="0" lang="en-US" sz="1800" spc="-1" strike="noStrike">
              <a:solidFill>
                <a:srgbClr val="000000"/>
              </a:solidFill>
              <a:latin typeface="Arial"/>
            </a:endParaRPr>
          </a:p>
        </p:txBody>
      </p:sp>
    </p:spTree>
  </p:cSld>
  <p:transition>
    <p:fade/>
  </p:transition>
  <p:timing>
    <p:tnLst>
      <p:par>
        <p:cTn id="262" dur="indefinite" restart="never" nodeType="tmRoot">
          <p:childTnLst>
            <p:seq>
              <p:cTn id="263" dur="indefinite" nodeType="mainSeq">
                <p:childTnLst>
                  <p:par>
                    <p:cTn id="264" fill="hold">
                      <p:stCondLst>
                        <p:cond delay="0"/>
                      </p:stCondLst>
                      <p:childTnLst>
                        <p:par>
                          <p:cTn id="265" fill="hold">
                            <p:stCondLst>
                              <p:cond delay="0"/>
                            </p:stCondLst>
                            <p:childTnLst>
                              <p:par>
                                <p:cTn id="266" nodeType="withEffect" fill="hold" presetClass="entr" presetID="10">
                                  <p:stCondLst>
                                    <p:cond delay="250"/>
                                  </p:stCondLst>
                                  <p:iterate type="el">
                                    <p:tmAbs val="100"/>
                                  </p:iterate>
                                  <p:childTnLst>
                                    <p:set>
                                      <p:cBhvr>
                                        <p:cTn id="267" dur="1" fill="hold">
                                          <p:stCondLst>
                                            <p:cond delay="0"/>
                                          </p:stCondLst>
                                        </p:cTn>
                                        <p:tgtEl>
                                          <p:spTgt spid="658"/>
                                        </p:tgtEl>
                                        <p:attrNameLst>
                                          <p:attrName>style.visibility</p:attrName>
                                        </p:attrNameLst>
                                      </p:cBhvr>
                                      <p:to>
                                        <p:strVal val="visible"/>
                                      </p:to>
                                    </p:set>
                                    <p:animEffect filter="fade" transition="in">
                                      <p:cBhvr additive="repl">
                                        <p:cTn id="268" dur="500"/>
                                        <p:tgtEl>
                                          <p:spTgt spid="6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2"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fontScale="94000"/>
          </a:bodyPr>
          <a:p>
            <a:pPr indent="0">
              <a:lnSpc>
                <a:spcPct val="90000"/>
              </a:lnSpc>
              <a:buNone/>
              <a:tabLst>
                <a:tab algn="l" pos="0"/>
              </a:tabLst>
            </a:pPr>
            <a:r>
              <a:rPr b="0" lang="en-US" sz="3000" spc="-1" strike="noStrike">
                <a:solidFill>
                  <a:srgbClr val="000000"/>
                </a:solidFill>
                <a:latin typeface="Aptos Display"/>
              </a:rPr>
              <a:t>Global Clustering Coefficient (Transitivity)</a:t>
            </a:r>
            <a:endParaRPr b="0" lang="en-US" sz="3000" spc="-1" strike="noStrike">
              <a:solidFill>
                <a:srgbClr val="000000"/>
              </a:solidFill>
              <a:latin typeface="Arial"/>
            </a:endParaRPr>
          </a:p>
        </p:txBody>
      </p:sp>
      <p:sp>
        <p:nvSpPr>
          <p:cNvPr id="663" name="PlaceHolder 2"/>
          <p:cNvSpPr>
            <a:spLocks noGrp="1"/>
          </p:cNvSpPr>
          <p:nvPr>
            <p:ph type="ftr" idx="10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64"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WHAT it Measures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Global clustering coefficient (transitivity)</a:t>
            </a:r>
            <a:r>
              <a:rPr b="0" lang="en-US" sz="1100" spc="-1" strike="noStrike">
                <a:solidFill>
                  <a:srgbClr val="000000"/>
                </a:solidFill>
                <a:latin typeface="Segoe UI"/>
              </a:rPr>
              <a:t> quantifies the </a:t>
            </a:r>
            <a:r>
              <a:rPr b="1" lang="en-US" sz="1100" spc="-1" strike="noStrike">
                <a:solidFill>
                  <a:srgbClr val="000000"/>
                </a:solidFill>
                <a:latin typeface="Segoe UI"/>
              </a:rPr>
              <a:t>prevalence of closed triads</a:t>
            </a:r>
            <a:r>
              <a:rPr b="0" lang="en-US" sz="1100" spc="-1" strike="noStrike">
                <a:solidFill>
                  <a:srgbClr val="000000"/>
                </a:solidFill>
                <a:latin typeface="Segoe UI"/>
              </a:rPr>
              <a:t> (triangles) in the entire network relative to all “connected triples” (i.e., length‑2 paths centered on any node).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For undirected and unweigted graphs it is calculated by 3*#triangles / # connected triples.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Directed graphs:</a:t>
            </a:r>
            <a:r>
              <a:rPr b="0" lang="en-US" sz="1100" spc="-1" strike="noStrike">
                <a:solidFill>
                  <a:srgbClr val="000000"/>
                </a:solidFill>
                <a:latin typeface="Segoe UI"/>
              </a:rPr>
              <a:t> count </a:t>
            </a:r>
            <a:r>
              <a:rPr b="1" lang="en-US" sz="1100" spc="-1" strike="noStrike">
                <a:solidFill>
                  <a:srgbClr val="000000"/>
                </a:solidFill>
                <a:latin typeface="Segoe UI"/>
              </a:rPr>
              <a:t>directed triangles</a:t>
            </a:r>
            <a:r>
              <a:rPr b="0" lang="en-US" sz="1100" spc="-1" strike="noStrike">
                <a:solidFill>
                  <a:srgbClr val="000000"/>
                </a:solidFill>
                <a:latin typeface="Segoe UI"/>
              </a:rPr>
              <a:t> and </a:t>
            </a:r>
            <a:r>
              <a:rPr b="1" lang="en-US" sz="1100" spc="-1" strike="noStrike">
                <a:solidFill>
                  <a:srgbClr val="000000"/>
                </a:solidFill>
                <a:latin typeface="Segoe UI"/>
              </a:rPr>
              <a:t>directed connected triples</a:t>
            </a:r>
            <a:r>
              <a:rPr b="0" lang="en-US" sz="1100" spc="-1" strike="noStrike">
                <a:solidFill>
                  <a:srgbClr val="000000"/>
                </a:solidFill>
                <a:latin typeface="Segoe UI"/>
              </a:rPr>
              <a:t> as per orientation, or analyze on the </a:t>
            </a:r>
            <a:r>
              <a:rPr b="1" lang="en-US" sz="1100" spc="-1" strike="noStrike">
                <a:solidFill>
                  <a:srgbClr val="000000"/>
                </a:solidFill>
                <a:latin typeface="Segoe UI"/>
              </a:rPr>
              <a:t>underlying</a:t>
            </a:r>
            <a:r>
              <a:rPr b="0" lang="en-US" sz="1100" spc="-1" strike="noStrike">
                <a:solidFill>
                  <a:srgbClr val="000000"/>
                </a:solidFill>
                <a:latin typeface="Segoe UI"/>
              </a:rPr>
              <a:t> undirected version (state choice).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Weighted graphs:</a:t>
            </a:r>
            <a:r>
              <a:rPr b="0" lang="en-US" sz="1100" spc="-1" strike="noStrike">
                <a:solidFill>
                  <a:srgbClr val="000000"/>
                </a:solidFill>
                <a:latin typeface="Segoe UI"/>
              </a:rPr>
              <a:t> several extensions exist (e.g., Barrat, Onnela formulations) that weight triangles by edge strengths.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Important:</a:t>
            </a:r>
            <a:r>
              <a:rPr b="0" lang="en-US" sz="1100" spc="-1" strike="noStrike">
                <a:solidFill>
                  <a:srgbClr val="000000"/>
                </a:solidFill>
                <a:latin typeface="Segoe UI"/>
              </a:rPr>
              <a:t> Global transitivity is </a:t>
            </a:r>
            <a:r>
              <a:rPr b="1" lang="en-US" sz="1100" spc="-1" strike="noStrike">
                <a:solidFill>
                  <a:srgbClr val="000000"/>
                </a:solidFill>
                <a:latin typeface="Segoe UI"/>
              </a:rPr>
              <a:t>not</a:t>
            </a:r>
            <a:r>
              <a:rPr b="0" lang="en-US" sz="1100" spc="-1" strike="noStrike">
                <a:solidFill>
                  <a:srgbClr val="000000"/>
                </a:solidFill>
                <a:latin typeface="Segoe UI"/>
              </a:rPr>
              <a:t> the same as the </a:t>
            </a:r>
            <a:r>
              <a:rPr b="1" lang="en-US" sz="1100" spc="-1" strike="noStrike">
                <a:solidFill>
                  <a:srgbClr val="000000"/>
                </a:solidFill>
                <a:latin typeface="Segoe UI"/>
              </a:rPr>
              <a:t>average local clustering</a:t>
            </a:r>
            <a:r>
              <a:rPr b="0" lang="en-US" sz="1100" spc="-1" strike="noStrike">
                <a:solidFill>
                  <a:srgbClr val="000000"/>
                </a:solidFill>
                <a:latin typeface="Segoe UI"/>
              </a:rPr>
              <a:t> (the mean of node‑level clustering coefficients). Transitivity is </a:t>
            </a:r>
            <a:r>
              <a:rPr b="1" lang="en-US" sz="1100" spc="-1" strike="noStrike">
                <a:solidFill>
                  <a:srgbClr val="000000"/>
                </a:solidFill>
                <a:latin typeface="Segoe UI"/>
              </a:rPr>
              <a:t>triangle‑weighted</a:t>
            </a:r>
            <a:r>
              <a:rPr b="0" lang="en-US" sz="1100" spc="-1" strike="noStrike">
                <a:solidFill>
                  <a:srgbClr val="000000"/>
                </a:solidFill>
                <a:latin typeface="Segoe UI"/>
              </a:rPr>
              <a:t> (emphasizes high‑degree centers), while the average of local clustering is </a:t>
            </a:r>
            <a:r>
              <a:rPr b="1" lang="en-US" sz="1100" spc="-1" strike="noStrike">
                <a:solidFill>
                  <a:srgbClr val="000000"/>
                </a:solidFill>
                <a:latin typeface="Segoe UI"/>
              </a:rPr>
              <a:t>node‑weighted</a:t>
            </a:r>
            <a:r>
              <a:rPr b="0" lang="en-US" sz="1100" spc="-1" strike="noStrike">
                <a:solidFill>
                  <a:srgbClr val="000000"/>
                </a:solidFill>
                <a:latin typeface="Segoe UI"/>
              </a:rPr>
              <a:t> (gives each node equal weight).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It Matters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Triangles are the </a:t>
            </a:r>
            <a:r>
              <a:rPr b="1" lang="en-US" sz="1100" spc="-1" strike="noStrike">
                <a:solidFill>
                  <a:srgbClr val="000000"/>
                </a:solidFill>
                <a:latin typeface="Segoe UI"/>
              </a:rPr>
              <a:t>elementary unit of local redundancy and social closure</a:t>
            </a:r>
            <a:r>
              <a:rPr b="0" lang="en-US" sz="1100" spc="-1" strike="noStrike">
                <a:solidFill>
                  <a:srgbClr val="000000"/>
                </a:solidFill>
                <a:latin typeface="Segoe UI"/>
              </a:rPr>
              <a:t>. High transitivity indicates that </a:t>
            </a:r>
            <a:r>
              <a:rPr b="1" lang="en-US" sz="1100" spc="-1" strike="noStrike">
                <a:solidFill>
                  <a:srgbClr val="000000"/>
                </a:solidFill>
                <a:latin typeface="Segoe UI"/>
              </a:rPr>
              <a:t>neighbors of a node are often connected to each other</a:t>
            </a:r>
            <a:r>
              <a:rPr b="0" lang="en-US" sz="1100" spc="-1" strike="noStrike">
                <a:solidFill>
                  <a:srgbClr val="000000"/>
                </a:solidFill>
                <a:latin typeface="Segoe UI"/>
              </a:rPr>
              <a:t>, creating </a:t>
            </a:r>
            <a:r>
              <a:rPr b="1" lang="en-US" sz="1100" spc="-1" strike="noStrike">
                <a:solidFill>
                  <a:srgbClr val="000000"/>
                </a:solidFill>
                <a:latin typeface="Segoe UI"/>
              </a:rPr>
              <a:t>multiple short alternative routes</a:t>
            </a:r>
            <a:r>
              <a:rPr b="0" lang="en-US" sz="1100" spc="-1" strike="noStrike">
                <a:solidFill>
                  <a:srgbClr val="000000"/>
                </a:solidFill>
                <a:latin typeface="Segoe UI"/>
              </a:rPr>
              <a:t> within ego‑neighborhoods.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This local redundancy changes </a:t>
            </a:r>
            <a:r>
              <a:rPr b="1" lang="en-US" sz="1100" spc="-1" strike="noStrike">
                <a:solidFill>
                  <a:srgbClr val="000000"/>
                </a:solidFill>
                <a:latin typeface="Segoe UI"/>
              </a:rPr>
              <a:t>micro‑dynamics</a:t>
            </a:r>
            <a:r>
              <a:rPr b="0" lang="en-US" sz="1100" spc="-1" strike="noStrike">
                <a:solidFill>
                  <a:srgbClr val="000000"/>
                </a:solidFill>
                <a:latin typeface="Segoe UI"/>
              </a:rPr>
              <a:t>:  It </a:t>
            </a:r>
            <a:r>
              <a:rPr b="1" lang="en-US" sz="1100" spc="-1" strike="noStrike">
                <a:solidFill>
                  <a:srgbClr val="000000"/>
                </a:solidFill>
                <a:latin typeface="Segoe UI"/>
              </a:rPr>
              <a:t>stabilizes</a:t>
            </a:r>
            <a:r>
              <a:rPr b="0" lang="en-US" sz="1100" spc="-1" strike="noStrike">
                <a:solidFill>
                  <a:srgbClr val="000000"/>
                </a:solidFill>
                <a:latin typeface="Segoe UI"/>
              </a:rPr>
              <a:t> interactions by providing </a:t>
            </a:r>
            <a:r>
              <a:rPr b="1" lang="en-US" sz="1100" spc="-1" strike="noStrike">
                <a:solidFill>
                  <a:srgbClr val="000000"/>
                </a:solidFill>
                <a:latin typeface="Segoe UI"/>
              </a:rPr>
              <a:t>backup pathways</a:t>
            </a:r>
            <a:r>
              <a:rPr b="0" lang="en-US" sz="1100" spc="-1" strike="noStrike">
                <a:solidFill>
                  <a:srgbClr val="000000"/>
                </a:solidFill>
                <a:latin typeface="Segoe UI"/>
              </a:rPr>
              <a:t> around a single missing edge.</a:t>
            </a:r>
            <a:endParaRPr b="0" lang="en-US" sz="11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WHEN to Use Global Clustering / Transitivity</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Employ transitivity when you need a </a:t>
            </a:r>
            <a:r>
              <a:rPr b="1" lang="en-US" sz="1100" spc="-1" strike="noStrike">
                <a:solidFill>
                  <a:srgbClr val="000000"/>
                </a:solidFill>
                <a:latin typeface="Segoe UI"/>
              </a:rPr>
              <a:t>macro‑scale summary of local redundancy</a:t>
            </a:r>
            <a:r>
              <a:rPr b="0" lang="en-US" sz="1100" spc="-1" strike="noStrike">
                <a:solidFill>
                  <a:srgbClr val="000000"/>
                </a:solidFill>
                <a:latin typeface="Segoe UI"/>
              </a:rPr>
              <a:t> and </a:t>
            </a:r>
            <a:r>
              <a:rPr b="1" lang="en-US" sz="1100" spc="-1" strike="noStrike">
                <a:solidFill>
                  <a:srgbClr val="000000"/>
                </a:solidFill>
                <a:latin typeface="Segoe UI"/>
              </a:rPr>
              <a:t>triadic closure</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Organizational / community structure:</a:t>
            </a:r>
            <a:r>
              <a:rPr b="0" lang="en-US" sz="1100" spc="-1" strike="noStrike">
                <a:solidFill>
                  <a:srgbClr val="000000"/>
                </a:solidFill>
                <a:latin typeface="Segoe UI"/>
              </a:rPr>
              <a:t> measuring cohesiveness of teams or local communities.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Reliability analysis:</a:t>
            </a:r>
            <a:r>
              <a:rPr b="0" lang="en-US" sz="1100" spc="-1" strike="noStrike">
                <a:solidFill>
                  <a:srgbClr val="000000"/>
                </a:solidFill>
                <a:latin typeface="Segoe UI"/>
              </a:rPr>
              <a:t> assessing whether neighborhoods possess </a:t>
            </a:r>
            <a:r>
              <a:rPr b="1" lang="en-US" sz="1100" spc="-1" strike="noStrike">
                <a:solidFill>
                  <a:srgbClr val="000000"/>
                </a:solidFill>
                <a:latin typeface="Segoe UI"/>
              </a:rPr>
              <a:t>short local detours</a:t>
            </a:r>
            <a:r>
              <a:rPr b="0" lang="en-US" sz="1100" spc="-1" strike="noStrike">
                <a:solidFill>
                  <a:srgbClr val="000000"/>
                </a:solidFill>
                <a:latin typeface="Segoe UI"/>
              </a:rPr>
              <a:t> around failures.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Diffusion modeling:</a:t>
            </a:r>
            <a:r>
              <a:rPr b="0" lang="en-US" sz="1100" spc="-1" strike="noStrike">
                <a:solidFill>
                  <a:srgbClr val="000000"/>
                </a:solidFill>
                <a:latin typeface="Segoe UI"/>
              </a:rPr>
              <a:t> distinguishing </a:t>
            </a:r>
            <a:r>
              <a:rPr b="1" lang="en-US" sz="1100" spc="-1" strike="noStrike">
                <a:solidFill>
                  <a:srgbClr val="000000"/>
                </a:solidFill>
                <a:latin typeface="Segoe UI"/>
              </a:rPr>
              <a:t>complex</a:t>
            </a:r>
            <a:r>
              <a:rPr b="0" lang="en-US" sz="1100" spc="-1" strike="noStrike">
                <a:solidFill>
                  <a:srgbClr val="000000"/>
                </a:solidFill>
                <a:latin typeface="Segoe UI"/>
              </a:rPr>
              <a:t> vs </a:t>
            </a:r>
            <a:r>
              <a:rPr b="1" lang="en-US" sz="1100" spc="-1" strike="noStrike">
                <a:solidFill>
                  <a:srgbClr val="000000"/>
                </a:solidFill>
                <a:latin typeface="Segoe UI"/>
              </a:rPr>
              <a:t>simple</a:t>
            </a:r>
            <a:r>
              <a:rPr b="0" lang="en-US" sz="1100" spc="-1" strike="noStrike">
                <a:solidFill>
                  <a:srgbClr val="000000"/>
                </a:solidFill>
                <a:latin typeface="Segoe UI"/>
              </a:rPr>
              <a:t> contagion regimes and diagnosing likely reinforcement effects.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65"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66" name="PlaceHolder 4"/>
          <p:cNvSpPr>
            <a:spLocks noGrp="1"/>
          </p:cNvSpPr>
          <p:nvPr>
            <p:ph type="sldNum" idx="10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4B64F32D-C9DF-4287-9284-195C182E760B}" type="slidenum">
              <a:rPr b="0" lang="en-US" sz="1200" spc="-1" strike="noStrike">
                <a:solidFill>
                  <a:srgbClr val="787878"/>
                </a:solidFill>
                <a:latin typeface="Aptos"/>
              </a:rPr>
              <a:t>41</a:t>
            </a:fld>
            <a:endParaRPr b="0" lang="en-US" sz="1200" spc="-1" strike="noStrike">
              <a:solidFill>
                <a:srgbClr val="000000"/>
              </a:solidFill>
              <a:latin typeface="Times New Roman"/>
            </a:endParaRPr>
          </a:p>
        </p:txBody>
      </p:sp>
    </p:spTree>
  </p:cSld>
  <p:transition>
    <p:fade/>
  </p:transition>
  <p:timing>
    <p:tnLst>
      <p:par>
        <p:cTn id="269" dur="indefinite" restart="never" nodeType="tmRoot">
          <p:childTnLst>
            <p:seq>
              <p:cTn id="270" dur="indefinite" nodeType="mainSeq">
                <p:childTnLst>
                  <p:par>
                    <p:cTn id="271" fill="hold">
                      <p:stCondLst>
                        <p:cond delay="0"/>
                      </p:stCondLst>
                      <p:childTnLst>
                        <p:par>
                          <p:cTn id="272" fill="hold">
                            <p:stCondLst>
                              <p:cond delay="0"/>
                            </p:stCondLst>
                            <p:childTnLst>
                              <p:par>
                                <p:cTn id="273" nodeType="withEffect" fill="hold" presetClass="entr" presetID="10">
                                  <p:stCondLst>
                                    <p:cond delay="250"/>
                                  </p:stCondLst>
                                  <p:iterate type="el">
                                    <p:tmAbs val="100"/>
                                  </p:iterate>
                                  <p:childTnLst>
                                    <p:set>
                                      <p:cBhvr>
                                        <p:cTn id="274" dur="1" fill="hold">
                                          <p:stCondLst>
                                            <p:cond delay="0"/>
                                          </p:stCondLst>
                                        </p:cTn>
                                        <p:tgtEl>
                                          <p:spTgt spid="664"/>
                                        </p:tgtEl>
                                        <p:attrNameLst>
                                          <p:attrName>style.visibility</p:attrName>
                                        </p:attrNameLst>
                                      </p:cBhvr>
                                      <p:to>
                                        <p:strVal val="visible"/>
                                      </p:to>
                                    </p:set>
                                    <p:animEffect filter="fade" transition="in">
                                      <p:cBhvr additive="repl">
                                        <p:cTn id="275" dur="500"/>
                                        <p:tgtEl>
                                          <p:spTgt spid="6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7"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fontScale="94000"/>
          </a:bodyPr>
          <a:p>
            <a:pPr indent="0">
              <a:lnSpc>
                <a:spcPct val="90000"/>
              </a:lnSpc>
              <a:buNone/>
              <a:tabLst>
                <a:tab algn="l" pos="0"/>
              </a:tabLst>
            </a:pPr>
            <a:r>
              <a:rPr b="0" lang="en-US" sz="3000" spc="-1" strike="noStrike">
                <a:solidFill>
                  <a:srgbClr val="000000"/>
                </a:solidFill>
                <a:latin typeface="Aptos Display"/>
              </a:rPr>
              <a:t>Global Clustering Coefficient (Transitivity)</a:t>
            </a:r>
            <a:endParaRPr b="0" lang="en-US" sz="3000" spc="-1" strike="noStrike">
              <a:solidFill>
                <a:srgbClr val="000000"/>
              </a:solidFill>
              <a:latin typeface="Arial"/>
            </a:endParaRPr>
          </a:p>
        </p:txBody>
      </p:sp>
      <p:sp>
        <p:nvSpPr>
          <p:cNvPr id="668" name="PlaceHolder 2"/>
          <p:cNvSpPr>
            <a:spLocks noGrp="1"/>
          </p:cNvSpPr>
          <p:nvPr>
            <p:ph type="ftr" idx="11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69"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Transitivity does </a:t>
            </a:r>
            <a:r>
              <a:rPr b="1" lang="en-US" sz="1100" spc="-1" strike="noStrike">
                <a:solidFill>
                  <a:srgbClr val="000000"/>
                </a:solidFill>
                <a:latin typeface="Segoe UI"/>
              </a:rPr>
              <a:t>not</a:t>
            </a:r>
            <a:r>
              <a:rPr b="0" lang="en-US" sz="1100" spc="-1" strike="noStrike">
                <a:solidFill>
                  <a:srgbClr val="000000"/>
                </a:solidFill>
                <a:latin typeface="Segoe UI"/>
              </a:rPr>
              <a:t> ensure global connectivity; it can be high in </a:t>
            </a:r>
            <a:r>
              <a:rPr b="1" lang="en-US" sz="1100" spc="-1" strike="noStrike">
                <a:solidFill>
                  <a:srgbClr val="000000"/>
                </a:solidFill>
                <a:latin typeface="Segoe UI"/>
              </a:rPr>
              <a:t>disconnected</a:t>
            </a:r>
            <a:r>
              <a:rPr b="0" lang="en-US" sz="1100" spc="-1" strike="noStrike">
                <a:solidFill>
                  <a:srgbClr val="000000"/>
                </a:solidFill>
                <a:latin typeface="Segoe UI"/>
              </a:rPr>
              <a:t> graphs if each component is clique‑like. Pair with </a:t>
            </a:r>
            <a:r>
              <a:rPr b="1" lang="en-US" sz="1100" spc="-1" strike="noStrike">
                <a:solidFill>
                  <a:srgbClr val="000000"/>
                </a:solidFill>
                <a:latin typeface="Segoe UI"/>
              </a:rPr>
              <a:t>cohesion</a:t>
            </a:r>
            <a:r>
              <a:rPr b="0" lang="en-US" sz="1100" spc="-1" strike="noStrike">
                <a:solidFill>
                  <a:srgbClr val="000000"/>
                </a:solidFill>
                <a:latin typeface="Segoe UI"/>
              </a:rPr>
              <a:t> to assess reachability coverage.</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 (Resistance to Failure)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transitivity usually </a:t>
            </a:r>
            <a:r>
              <a:rPr b="1" lang="en-US" sz="1100" spc="-1" strike="noStrike">
                <a:solidFill>
                  <a:srgbClr val="000000"/>
                </a:solidFill>
                <a:latin typeface="Segoe UI"/>
              </a:rPr>
              <a:t>reduces the probability that a single edge failure</a:t>
            </a:r>
            <a:r>
              <a:rPr b="0" lang="en-US" sz="1100" spc="-1" strike="noStrike">
                <a:solidFill>
                  <a:srgbClr val="000000"/>
                </a:solidFill>
                <a:latin typeface="Segoe UI"/>
              </a:rPr>
              <a:t> disrupts local communication; </a:t>
            </a:r>
            <a:r>
              <a:rPr b="1" lang="en-US" sz="1100" spc="-1" strike="noStrike">
                <a:solidFill>
                  <a:srgbClr val="000000"/>
                </a:solidFill>
                <a:latin typeface="Segoe UI"/>
              </a:rPr>
              <a:t>redundant triangles</a:t>
            </a:r>
            <a:r>
              <a:rPr b="0" lang="en-US" sz="1100" spc="-1" strike="noStrike">
                <a:solidFill>
                  <a:srgbClr val="000000"/>
                </a:solidFill>
                <a:latin typeface="Segoe UI"/>
              </a:rPr>
              <a:t> route around missing links.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However, if high clustering exists </a:t>
            </a:r>
            <a:r>
              <a:rPr b="1" lang="en-US" sz="1100" spc="-1" strike="noStrike">
                <a:solidFill>
                  <a:srgbClr val="000000"/>
                </a:solidFill>
                <a:latin typeface="Segoe UI"/>
              </a:rPr>
              <a:t>within</a:t>
            </a:r>
            <a:r>
              <a:rPr b="0" lang="en-US" sz="1100" spc="-1" strike="noStrike">
                <a:solidFill>
                  <a:srgbClr val="000000"/>
                </a:solidFill>
                <a:latin typeface="Segoe UI"/>
              </a:rPr>
              <a:t> modules and cross‑module bridges are sparse, the </a:t>
            </a:r>
            <a:r>
              <a:rPr b="1" lang="en-US" sz="1100" spc="-1" strike="noStrike">
                <a:solidFill>
                  <a:srgbClr val="000000"/>
                </a:solidFill>
                <a:latin typeface="Segoe UI"/>
              </a:rPr>
              <a:t>global structure remains fragile</a:t>
            </a:r>
            <a:r>
              <a:rPr b="0" lang="en-US" sz="1100" spc="-1" strike="noStrike">
                <a:solidFill>
                  <a:srgbClr val="000000"/>
                </a:solidFill>
                <a:latin typeface="Segoe UI"/>
              </a:rPr>
              <a:t> (low conductance, small λ(G), κ(G)).</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 (Recovery/Continuity)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Locally clustered neighborhoods tend to </a:t>
            </a:r>
            <a:r>
              <a:rPr b="1" lang="en-US" sz="1100" spc="-1" strike="noStrike">
                <a:solidFill>
                  <a:srgbClr val="000000"/>
                </a:solidFill>
                <a:latin typeface="Segoe UI"/>
              </a:rPr>
              <a:t>degrade gracefully</a:t>
            </a:r>
            <a:r>
              <a:rPr b="0" lang="en-US" sz="1100" spc="-1" strike="noStrike">
                <a:solidFill>
                  <a:srgbClr val="000000"/>
                </a:solidFill>
                <a:latin typeface="Segoe UI"/>
              </a:rPr>
              <a:t> under random failures: many neighbors remain mutually reachable.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System‑level resilience</a:t>
            </a:r>
            <a:r>
              <a:rPr b="0" lang="en-US" sz="1100" spc="-1" strike="noStrike">
                <a:solidFill>
                  <a:srgbClr val="000000"/>
                </a:solidFill>
                <a:latin typeface="Segoe UI"/>
              </a:rPr>
              <a:t> still requires </a:t>
            </a:r>
            <a:r>
              <a:rPr b="1" lang="en-US" sz="1100" spc="-1" strike="noStrike">
                <a:solidFill>
                  <a:srgbClr val="000000"/>
                </a:solidFill>
                <a:latin typeface="Segoe UI"/>
              </a:rPr>
              <a:t>distributed cross‑links</a:t>
            </a:r>
            <a:r>
              <a:rPr b="0" lang="en-US" sz="1100" spc="-1" strike="noStrike">
                <a:solidFill>
                  <a:srgbClr val="000000"/>
                </a:solidFill>
                <a:latin typeface="Segoe UI"/>
              </a:rPr>
              <a:t> between modules; otherwise, recovery may stall at module boundaries even with strong local closure.</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70"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71" name="PlaceHolder 4"/>
          <p:cNvSpPr>
            <a:spLocks noGrp="1"/>
          </p:cNvSpPr>
          <p:nvPr>
            <p:ph type="sldNum" idx="11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1EFBBB8F-6892-4F1B-A13B-64A02549A45B}" type="slidenum">
              <a:rPr b="0" lang="en-US" sz="1200" spc="-1" strike="noStrike">
                <a:solidFill>
                  <a:srgbClr val="787878"/>
                </a:solidFill>
                <a:latin typeface="Aptos"/>
              </a:rPr>
              <a:t>42</a:t>
            </a:fld>
            <a:endParaRPr b="0" lang="en-US" sz="1200" spc="-1" strike="noStrike">
              <a:solidFill>
                <a:srgbClr val="000000"/>
              </a:solidFill>
              <a:latin typeface="Times New Roman"/>
            </a:endParaRPr>
          </a:p>
        </p:txBody>
      </p:sp>
    </p:spTree>
  </p:cSld>
  <p:transition>
    <p:fade/>
  </p:transition>
  <p:timing>
    <p:tnLst>
      <p:par>
        <p:cTn id="276" dur="indefinite" restart="never" nodeType="tmRoot">
          <p:childTnLst>
            <p:seq>
              <p:cTn id="277" dur="indefinite" nodeType="mainSeq">
                <p:childTnLst>
                  <p:par>
                    <p:cTn id="278" fill="hold">
                      <p:stCondLst>
                        <p:cond delay="0"/>
                      </p:stCondLst>
                      <p:childTnLst>
                        <p:par>
                          <p:cTn id="279" fill="hold">
                            <p:stCondLst>
                              <p:cond delay="0"/>
                            </p:stCondLst>
                            <p:childTnLst>
                              <p:par>
                                <p:cTn id="280" nodeType="withEffect" fill="hold" presetClass="entr" presetID="10">
                                  <p:stCondLst>
                                    <p:cond delay="250"/>
                                  </p:stCondLst>
                                  <p:iterate type="el">
                                    <p:tmAbs val="100"/>
                                  </p:iterate>
                                  <p:childTnLst>
                                    <p:set>
                                      <p:cBhvr>
                                        <p:cTn id="281" dur="1" fill="hold">
                                          <p:stCondLst>
                                            <p:cond delay="0"/>
                                          </p:stCondLst>
                                        </p:cTn>
                                        <p:tgtEl>
                                          <p:spTgt spid="669"/>
                                        </p:tgtEl>
                                        <p:attrNameLst>
                                          <p:attrName>style.visibility</p:attrName>
                                        </p:attrNameLst>
                                      </p:cBhvr>
                                      <p:to>
                                        <p:strVal val="visible"/>
                                      </p:to>
                                    </p:set>
                                    <p:animEffect filter="fade" transition="in">
                                      <p:cBhvr additive="repl">
                                        <p:cTn id="282" dur="500"/>
                                        <p:tgtEl>
                                          <p:spTgt spid="6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2"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fontScale="94000"/>
          </a:bodyPr>
          <a:p>
            <a:pPr indent="0">
              <a:lnSpc>
                <a:spcPct val="90000"/>
              </a:lnSpc>
              <a:buNone/>
              <a:tabLst>
                <a:tab algn="l" pos="0"/>
              </a:tabLst>
            </a:pPr>
            <a:r>
              <a:rPr b="0" lang="en-US" sz="3000" spc="-1" strike="noStrike">
                <a:solidFill>
                  <a:srgbClr val="000000"/>
                </a:solidFill>
                <a:latin typeface="Aptos Display"/>
              </a:rPr>
              <a:t>Global Clustering Coefficient (Transitivity)</a:t>
            </a:r>
            <a:endParaRPr b="0" lang="en-US" sz="3000" spc="-1" strike="noStrike">
              <a:solidFill>
                <a:srgbClr val="000000"/>
              </a:solidFill>
              <a:latin typeface="Arial"/>
            </a:endParaRPr>
          </a:p>
        </p:txBody>
      </p:sp>
      <p:sp>
        <p:nvSpPr>
          <p:cNvPr id="673" name="PlaceHolder 2"/>
          <p:cNvSpPr>
            <a:spLocks noGrp="1"/>
          </p:cNvSpPr>
          <p:nvPr>
            <p:ph type="ftr" idx="11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74"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75"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76" name="PlaceHolder 4"/>
          <p:cNvSpPr>
            <a:spLocks noGrp="1"/>
          </p:cNvSpPr>
          <p:nvPr>
            <p:ph type="sldNum" idx="11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231C380B-134B-4E1F-9DE0-4A21266F127B}" type="slidenum">
              <a:rPr b="0" lang="en-US" sz="1200" spc="-1" strike="noStrike">
                <a:solidFill>
                  <a:srgbClr val="787878"/>
                </a:solidFill>
                <a:latin typeface="Aptos"/>
              </a:rPr>
              <a:t>43</a:t>
            </a:fld>
            <a:endParaRPr b="0" lang="en-US" sz="1200" spc="-1" strike="noStrike">
              <a:solidFill>
                <a:srgbClr val="000000"/>
              </a:solidFill>
              <a:latin typeface="Times New Roman"/>
            </a:endParaRPr>
          </a:p>
        </p:txBody>
      </p:sp>
    </p:spTree>
  </p:cSld>
  <p:transition>
    <p:fade/>
  </p:transition>
  <p:timing>
    <p:tnLst>
      <p:par>
        <p:cTn id="283" dur="indefinite" restart="never" nodeType="tmRoot">
          <p:childTnLst>
            <p:seq>
              <p:cTn id="284" dur="indefinite" nodeType="mainSeq">
                <p:childTnLst>
                  <p:par>
                    <p:cTn id="285" fill="hold">
                      <p:stCondLst>
                        <p:cond delay="0"/>
                      </p:stCondLst>
                      <p:childTnLst>
                        <p:par>
                          <p:cTn id="286" fill="hold">
                            <p:stCondLst>
                              <p:cond delay="0"/>
                            </p:stCondLst>
                            <p:childTnLst>
                              <p:par>
                                <p:cTn id="287" nodeType="withEffect" fill="hold" presetClass="entr" presetID="10">
                                  <p:stCondLst>
                                    <p:cond delay="250"/>
                                  </p:stCondLst>
                                  <p:iterate type="el">
                                    <p:tmAbs val="100"/>
                                  </p:iterate>
                                  <p:childTnLst>
                                    <p:set>
                                      <p:cBhvr>
                                        <p:cTn id="288" dur="1" fill="hold">
                                          <p:stCondLst>
                                            <p:cond delay="0"/>
                                          </p:stCondLst>
                                        </p:cTn>
                                        <p:tgtEl>
                                          <p:spTgt spid="674"/>
                                        </p:tgtEl>
                                        <p:attrNameLst>
                                          <p:attrName>style.visibility</p:attrName>
                                        </p:attrNameLst>
                                      </p:cBhvr>
                                      <p:to>
                                        <p:strVal val="visible"/>
                                      </p:to>
                                    </p:set>
                                    <p:animEffect filter="fade" transition="in">
                                      <p:cBhvr additive="repl">
                                        <p:cTn id="289" dur="500"/>
                                        <p:tgtEl>
                                          <p:spTgt spid="6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7"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Assortativity</a:t>
            </a:r>
            <a:endParaRPr b="0" lang="en-US" sz="3000" spc="-1" strike="noStrike">
              <a:solidFill>
                <a:srgbClr val="000000"/>
              </a:solidFill>
              <a:latin typeface="Arial"/>
            </a:endParaRPr>
          </a:p>
        </p:txBody>
      </p:sp>
      <p:sp>
        <p:nvSpPr>
          <p:cNvPr id="678" name="PlaceHolder 2"/>
          <p:cNvSpPr>
            <a:spLocks noGrp="1"/>
          </p:cNvSpPr>
          <p:nvPr>
            <p:ph type="ftr" idx="11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79"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WHAT it Measures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Assortativity</a:t>
            </a:r>
            <a:r>
              <a:rPr b="0" lang="en-US" sz="1100" spc="-1" strike="noStrike">
                <a:solidFill>
                  <a:srgbClr val="000000"/>
                </a:solidFill>
                <a:latin typeface="Segoe UI"/>
              </a:rPr>
              <a:t> measures the </a:t>
            </a:r>
            <a:r>
              <a:rPr b="1" lang="en-US" sz="1100" spc="-1" strike="noStrike">
                <a:solidFill>
                  <a:srgbClr val="000000"/>
                </a:solidFill>
                <a:latin typeface="Segoe UI"/>
              </a:rPr>
              <a:t>correlation between the degrees of nodes at either end of an edge</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answers: </a:t>
            </a:r>
            <a:r>
              <a:rPr b="0" i="1" lang="en-US" sz="1100" spc="-1" strike="noStrike">
                <a:solidFill>
                  <a:srgbClr val="000000"/>
                </a:solidFill>
                <a:latin typeface="Segoe UI"/>
              </a:rPr>
              <a:t>“Do high‑degree nodes tend to connect to other high‑degree nodes or to low‑degree ones?”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Formally: </a:t>
            </a:r>
            <a:endParaRPr b="0" lang="en-US" sz="11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r=corr(ki,kj)over all edges (i,j)r = \text{corr}(k_i, k_j) \quad \text{over all edges } (i,j)r=corr(ki ,kj )over all edges (i,j)</a:t>
            </a:r>
            <a:endParaRPr b="0" lang="en-US" sz="11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Values range from </a:t>
            </a:r>
            <a:r>
              <a:rPr b="1" lang="en-US" sz="1100" spc="-1" strike="noStrike">
                <a:solidFill>
                  <a:srgbClr val="000000"/>
                </a:solidFill>
                <a:latin typeface="Segoe UI"/>
              </a:rPr>
              <a:t>−1</a:t>
            </a:r>
            <a:r>
              <a:rPr b="0" lang="en-US" sz="1100" spc="-1" strike="noStrike">
                <a:solidFill>
                  <a:srgbClr val="000000"/>
                </a:solidFill>
                <a:latin typeface="Segoe UI"/>
              </a:rPr>
              <a:t> (perfectly disassortative) to </a:t>
            </a:r>
            <a:r>
              <a:rPr b="1" lang="en-US" sz="1100" spc="-1" strike="noStrike">
                <a:solidFill>
                  <a:srgbClr val="000000"/>
                </a:solidFill>
                <a:latin typeface="Segoe UI"/>
              </a:rPr>
              <a:t>+1</a:t>
            </a:r>
            <a:r>
              <a:rPr b="0" lang="en-US" sz="1100" spc="-1" strike="noStrike">
                <a:solidFill>
                  <a:srgbClr val="000000"/>
                </a:solidFill>
                <a:latin typeface="Segoe UI"/>
              </a:rPr>
              <a:t> (perfectly assortative), with </a:t>
            </a:r>
            <a:r>
              <a:rPr b="1" lang="en-US" sz="1100" spc="-1" strike="noStrike">
                <a:solidFill>
                  <a:srgbClr val="000000"/>
                </a:solidFill>
                <a:latin typeface="Segoe UI"/>
              </a:rPr>
              <a:t>0</a:t>
            </a:r>
            <a:r>
              <a:rPr b="0" lang="en-US" sz="1100" spc="-1" strike="noStrike">
                <a:solidFill>
                  <a:srgbClr val="000000"/>
                </a:solidFill>
                <a:latin typeface="Segoe UI"/>
              </a:rPr>
              <a:t> indicating no linear correlation</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It Matters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Assortativity reveals the </a:t>
            </a:r>
            <a:r>
              <a:rPr b="1" lang="en-US" sz="1100" spc="-1" strike="noStrike">
                <a:solidFill>
                  <a:srgbClr val="000000"/>
                </a:solidFill>
                <a:latin typeface="Segoe UI"/>
              </a:rPr>
              <a:t>mixing structure</a:t>
            </a:r>
            <a:r>
              <a:rPr b="0" lang="en-US" sz="1100" spc="-1" strike="noStrike">
                <a:solidFill>
                  <a:srgbClr val="000000"/>
                </a:solidFill>
                <a:latin typeface="Segoe UI"/>
              </a:rPr>
              <a:t> of the network: how nodes choose neighbors relative to their own structural characteristics.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WHEN to Use Assortativity</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Use assortativity when analyzing </a:t>
            </a:r>
            <a:r>
              <a:rPr b="1" lang="en-US" sz="1100" spc="-1" strike="noStrike">
                <a:solidFill>
                  <a:srgbClr val="000000"/>
                </a:solidFill>
                <a:latin typeface="Segoe UI"/>
              </a:rPr>
              <a:t>risk distribution</a:t>
            </a:r>
            <a:r>
              <a:rPr b="0" lang="en-US" sz="1100" spc="-1" strike="noStrike">
                <a:solidFill>
                  <a:srgbClr val="000000"/>
                </a:solidFill>
                <a:latin typeface="Segoe UI"/>
              </a:rPr>
              <a:t>, </a:t>
            </a:r>
            <a:r>
              <a:rPr b="1" lang="en-US" sz="1100" spc="-1" strike="noStrike">
                <a:solidFill>
                  <a:srgbClr val="000000"/>
                </a:solidFill>
                <a:latin typeface="Segoe UI"/>
              </a:rPr>
              <a:t>network mixing patterns</a:t>
            </a:r>
            <a:r>
              <a:rPr b="0" lang="en-US" sz="1100" spc="-1" strike="noStrike">
                <a:solidFill>
                  <a:srgbClr val="000000"/>
                </a:solidFill>
                <a:latin typeface="Segoe UI"/>
              </a:rPr>
              <a:t>, and </a:t>
            </a:r>
            <a:r>
              <a:rPr b="1" lang="en-US" sz="1100" spc="-1" strike="noStrike">
                <a:solidFill>
                  <a:srgbClr val="000000"/>
                </a:solidFill>
                <a:latin typeface="Segoe UI"/>
              </a:rPr>
              <a:t>degree‑based inequalities</a:t>
            </a:r>
            <a:r>
              <a:rPr b="0" lang="en-US" sz="1100" spc="-1" strike="noStrike">
                <a:solidFill>
                  <a:srgbClr val="000000"/>
                </a:solidFill>
                <a:latin typeface="Segoe UI"/>
              </a:rPr>
              <a:t>, such as: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Epidemiology:</a:t>
            </a:r>
            <a:r>
              <a:rPr b="0" lang="en-US" sz="1100" spc="-1" strike="noStrike">
                <a:solidFill>
                  <a:srgbClr val="000000"/>
                </a:solidFill>
                <a:latin typeface="Segoe UI"/>
              </a:rPr>
              <a:t> disassortativity accelerates outbreaks since hubs infect many low‑degree nodes; assortativity can either slow spread or increase persistence depending on structure.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Infrastructure:</a:t>
            </a:r>
            <a:r>
              <a:rPr b="0" lang="en-US" sz="1100" spc="-1" strike="noStrike">
                <a:solidFill>
                  <a:srgbClr val="000000"/>
                </a:solidFill>
                <a:latin typeface="Segoe UI"/>
              </a:rPr>
              <a:t> assortative high‑degree clusters can create robust cores; disassortative structures create fragile hub‑periphery dependencies.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Organizational / social networks:</a:t>
            </a:r>
            <a:r>
              <a:rPr b="0" lang="en-US" sz="1100" spc="-1" strike="noStrike">
                <a:solidFill>
                  <a:srgbClr val="000000"/>
                </a:solidFill>
                <a:latin typeface="Segoe UI"/>
              </a:rPr>
              <a:t> degree‑assortative structures may signal “elite” subgroups or hierarchical stratification.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Resilience modeling:</a:t>
            </a:r>
            <a:r>
              <a:rPr b="0" lang="en-US" sz="1100" spc="-1" strike="noStrike">
                <a:solidFill>
                  <a:srgbClr val="000000"/>
                </a:solidFill>
                <a:latin typeface="Segoe UI"/>
              </a:rPr>
              <a:t> degree correlations affect removal cascades and load‑redistribution failures.</a:t>
            </a:r>
            <a:endParaRPr b="0" lang="en-US" sz="11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Avoid naive use when the degree distribution is extremely narrow (regular graphs): assortativity becomes trivial.</a:t>
            </a:r>
            <a:endParaRPr b="0" lang="en-US" sz="1100" spc="-1" strike="noStrike">
              <a:solidFill>
                <a:srgbClr val="000000"/>
              </a:solidFill>
              <a:latin typeface="Arial"/>
            </a:endParaRPr>
          </a:p>
        </p:txBody>
      </p:sp>
      <p:pic>
        <p:nvPicPr>
          <p:cNvPr id="680"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81" name="PlaceHolder 4"/>
          <p:cNvSpPr>
            <a:spLocks noGrp="1"/>
          </p:cNvSpPr>
          <p:nvPr>
            <p:ph type="sldNum" idx="11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D102222F-A001-4DAC-A5E5-994684299D0F}" type="slidenum">
              <a:rPr b="0" lang="en-US" sz="1200" spc="-1" strike="noStrike">
                <a:solidFill>
                  <a:srgbClr val="787878"/>
                </a:solidFill>
                <a:latin typeface="Aptos"/>
              </a:rPr>
              <a:t>44</a:t>
            </a:fld>
            <a:endParaRPr b="0" lang="en-US" sz="1200" spc="-1" strike="noStrike">
              <a:solidFill>
                <a:srgbClr val="000000"/>
              </a:solidFill>
              <a:latin typeface="Times New Roman"/>
            </a:endParaRPr>
          </a:p>
        </p:txBody>
      </p:sp>
    </p:spTree>
  </p:cSld>
  <p:transition>
    <p:fade/>
  </p:transition>
  <p:timing>
    <p:tnLst>
      <p:par>
        <p:cTn id="290" dur="indefinite" restart="never" nodeType="tmRoot">
          <p:childTnLst>
            <p:seq>
              <p:cTn id="291" dur="indefinite" nodeType="mainSeq">
                <p:childTnLst>
                  <p:par>
                    <p:cTn id="292" fill="hold">
                      <p:stCondLst>
                        <p:cond delay="0"/>
                      </p:stCondLst>
                      <p:childTnLst>
                        <p:par>
                          <p:cTn id="293" fill="hold">
                            <p:stCondLst>
                              <p:cond delay="0"/>
                            </p:stCondLst>
                            <p:childTnLst>
                              <p:par>
                                <p:cTn id="294" nodeType="withEffect" fill="hold" presetClass="entr" presetID="10">
                                  <p:stCondLst>
                                    <p:cond delay="250"/>
                                  </p:stCondLst>
                                  <p:iterate type="el">
                                    <p:tmAbs val="100"/>
                                  </p:iterate>
                                  <p:childTnLst>
                                    <p:set>
                                      <p:cBhvr>
                                        <p:cTn id="295" dur="1" fill="hold">
                                          <p:stCondLst>
                                            <p:cond delay="0"/>
                                          </p:stCondLst>
                                        </p:cTn>
                                        <p:tgtEl>
                                          <p:spTgt spid="679"/>
                                        </p:tgtEl>
                                        <p:attrNameLst>
                                          <p:attrName>style.visibility</p:attrName>
                                        </p:attrNameLst>
                                      </p:cBhvr>
                                      <p:to>
                                        <p:strVal val="visible"/>
                                      </p:to>
                                    </p:set>
                                    <p:animEffect filter="fade" transition="in">
                                      <p:cBhvr additive="repl">
                                        <p:cTn id="296" dur="500"/>
                                        <p:tgtEl>
                                          <p:spTgt spid="6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2"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Assortativity</a:t>
            </a:r>
            <a:endParaRPr b="0" lang="en-US" sz="3000" spc="-1" strike="noStrike">
              <a:solidFill>
                <a:srgbClr val="000000"/>
              </a:solidFill>
              <a:latin typeface="Arial"/>
            </a:endParaRPr>
          </a:p>
        </p:txBody>
      </p:sp>
      <p:sp>
        <p:nvSpPr>
          <p:cNvPr id="683" name="PlaceHolder 2"/>
          <p:cNvSpPr>
            <a:spLocks noGrp="1"/>
          </p:cNvSpPr>
          <p:nvPr>
            <p:ph type="ftr" idx="11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84"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INTERPRETATION (High vs Low)</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Positive Assortativity (r &gt; 0)</a:t>
            </a:r>
            <a:r>
              <a:rPr b="0" lang="en-US" sz="1400" spc="-1" strike="noStrike">
                <a:solidFill>
                  <a:srgbClr val="000000"/>
                </a:solidFill>
                <a:latin typeface="Aptos"/>
              </a:rPr>
              <a:t> — </a:t>
            </a:r>
            <a:r>
              <a:rPr b="0" i="1" lang="en-US" sz="1400" spc="-1" strike="noStrike">
                <a:solidFill>
                  <a:srgbClr val="000000"/>
                </a:solidFill>
                <a:latin typeface="Aptos"/>
              </a:rPr>
              <a:t>Assortative mixing</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High‑degree nodes tend to connect to other high‑degree nodes; low‑degree nodes cluster with low‑degree nodes.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Creates a </a:t>
            </a:r>
            <a:r>
              <a:rPr b="1" lang="en-US" sz="1100" spc="-1" strike="noStrike">
                <a:solidFill>
                  <a:srgbClr val="000000"/>
                </a:solidFill>
                <a:latin typeface="Segoe UI"/>
              </a:rPr>
              <a:t>rich‑club</a:t>
            </a:r>
            <a:r>
              <a:rPr b="0" lang="en-US" sz="1100" spc="-1" strike="noStrike">
                <a:solidFill>
                  <a:srgbClr val="000000"/>
                </a:solidFill>
                <a:latin typeface="Segoe UI"/>
              </a:rPr>
              <a:t> core with high internal redundancy.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Peripheral nodes remain loosely integrated.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Often found in </a:t>
            </a:r>
            <a:r>
              <a:rPr b="1" lang="en-US" sz="1100" spc="-1" strike="noStrike">
                <a:solidFill>
                  <a:srgbClr val="000000"/>
                </a:solidFill>
                <a:latin typeface="Segoe UI"/>
              </a:rPr>
              <a:t>social networks</a:t>
            </a:r>
            <a:r>
              <a:rPr b="0" lang="en-US" sz="1100" spc="-1" strike="noStrike">
                <a:solidFill>
                  <a:srgbClr val="000000"/>
                </a:solidFill>
                <a:latin typeface="Segoe UI"/>
              </a:rPr>
              <a:t> driven by homophily or prestige hierarchies.</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Negative Assortativity (r &lt; 0)</a:t>
            </a:r>
            <a:r>
              <a:rPr b="0" lang="en-US" sz="1400" spc="-1" strike="noStrike">
                <a:solidFill>
                  <a:srgbClr val="000000"/>
                </a:solidFill>
                <a:latin typeface="Aptos"/>
              </a:rPr>
              <a:t> — </a:t>
            </a:r>
            <a:r>
              <a:rPr b="0" i="1" lang="en-US" sz="1400" spc="-1" strike="noStrike">
                <a:solidFill>
                  <a:srgbClr val="000000"/>
                </a:solidFill>
                <a:latin typeface="Aptos"/>
              </a:rPr>
              <a:t>Disassortative mixing</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High‑degree hubs preferentially attach to low‑degree nodes.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Produces </a:t>
            </a:r>
            <a:r>
              <a:rPr b="1" lang="en-US" sz="1100" spc="-1" strike="noStrike">
                <a:solidFill>
                  <a:srgbClr val="000000"/>
                </a:solidFill>
                <a:latin typeface="Segoe UI"/>
              </a:rPr>
              <a:t>hub‑and‑spoke</a:t>
            </a:r>
            <a:r>
              <a:rPr b="0" lang="en-US" sz="1100" spc="-1" strike="noStrike">
                <a:solidFill>
                  <a:srgbClr val="000000"/>
                </a:solidFill>
                <a:latin typeface="Segoe UI"/>
              </a:rPr>
              <a:t> or </a:t>
            </a:r>
            <a:r>
              <a:rPr b="1" lang="en-US" sz="1100" spc="-1" strike="noStrike">
                <a:solidFill>
                  <a:srgbClr val="000000"/>
                </a:solidFill>
                <a:latin typeface="Segoe UI"/>
              </a:rPr>
              <a:t>tree‑like</a:t>
            </a:r>
            <a:r>
              <a:rPr b="0" lang="en-US" sz="1100" spc="-1" strike="noStrike">
                <a:solidFill>
                  <a:srgbClr val="000000"/>
                </a:solidFill>
                <a:latin typeface="Segoe UI"/>
              </a:rPr>
              <a:t> peripheries.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Many low‑degree nodes depend on hubs for connectivity.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Common in </a:t>
            </a:r>
            <a:r>
              <a:rPr b="1" lang="en-US" sz="1100" spc="-1" strike="noStrike">
                <a:solidFill>
                  <a:srgbClr val="000000"/>
                </a:solidFill>
                <a:latin typeface="Segoe UI"/>
              </a:rPr>
              <a:t>biological</a:t>
            </a:r>
            <a:r>
              <a:rPr b="0" lang="en-US" sz="1100" spc="-1" strike="noStrike">
                <a:solidFill>
                  <a:srgbClr val="000000"/>
                </a:solidFill>
                <a:latin typeface="Segoe UI"/>
              </a:rPr>
              <a:t>, </a:t>
            </a:r>
            <a:r>
              <a:rPr b="1" lang="en-US" sz="1100" spc="-1" strike="noStrike">
                <a:solidFill>
                  <a:srgbClr val="000000"/>
                </a:solidFill>
                <a:latin typeface="Segoe UI"/>
              </a:rPr>
              <a:t>technological</a:t>
            </a:r>
            <a:r>
              <a:rPr b="0" lang="en-US" sz="1100" spc="-1" strike="noStrike">
                <a:solidFill>
                  <a:srgbClr val="000000"/>
                </a:solidFill>
                <a:latin typeface="Segoe UI"/>
              </a:rPr>
              <a:t>, and </a:t>
            </a:r>
            <a:r>
              <a:rPr b="1" lang="en-US" sz="1100" spc="-1" strike="noStrike">
                <a:solidFill>
                  <a:srgbClr val="000000"/>
                </a:solidFill>
                <a:latin typeface="Segoe UI"/>
              </a:rPr>
              <a:t>information</a:t>
            </a:r>
            <a:r>
              <a:rPr b="0" lang="en-US" sz="1100" spc="-1" strike="noStrike">
                <a:solidFill>
                  <a:srgbClr val="000000"/>
                </a:solidFill>
                <a:latin typeface="Segoe UI"/>
              </a:rPr>
              <a:t> networks where preferential attachment or functional optimization dominates.</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 ≈ 0</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Can be either structurally neutral or the result of a mixture of opposing forces (e.g., random wiring + small rich‑club effects).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Subtleties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Two networks with identical assortativity can have </a:t>
            </a:r>
            <a:r>
              <a:rPr b="1" lang="en-US" sz="1100" spc="-1" strike="noStrike">
                <a:solidFill>
                  <a:srgbClr val="000000"/>
                </a:solidFill>
                <a:latin typeface="Segoe UI"/>
              </a:rPr>
              <a:t>different centralization</a:t>
            </a:r>
            <a:r>
              <a:rPr b="0" lang="en-US" sz="1100" spc="-1" strike="noStrike">
                <a:solidFill>
                  <a:srgbClr val="000000"/>
                </a:solidFill>
                <a:latin typeface="Segoe UI"/>
              </a:rPr>
              <a:t>, </a:t>
            </a:r>
            <a:r>
              <a:rPr b="1" lang="en-US" sz="1100" spc="-1" strike="noStrike">
                <a:solidFill>
                  <a:srgbClr val="000000"/>
                </a:solidFill>
                <a:latin typeface="Segoe UI"/>
              </a:rPr>
              <a:t>clustering</a:t>
            </a:r>
            <a:r>
              <a:rPr b="0" lang="en-US" sz="1100" spc="-1" strike="noStrike">
                <a:solidFill>
                  <a:srgbClr val="000000"/>
                </a:solidFill>
                <a:latin typeface="Segoe UI"/>
              </a:rPr>
              <a:t>, or </a:t>
            </a:r>
            <a:r>
              <a:rPr b="1" lang="en-US" sz="1100" spc="-1" strike="noStrike">
                <a:solidFill>
                  <a:srgbClr val="000000"/>
                </a:solidFill>
                <a:latin typeface="Segoe UI"/>
              </a:rPr>
              <a:t>conductance</a:t>
            </a:r>
            <a:r>
              <a:rPr b="0" lang="en-US" sz="1100" spc="-1" strike="noStrike">
                <a:solidFill>
                  <a:srgbClr val="000000"/>
                </a:solidFill>
                <a:latin typeface="Segoe UI"/>
              </a:rPr>
              <a:t>; assortativity does not encode local redundancy or bottleneck strength.</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Assortativity interacts with </a:t>
            </a:r>
            <a:r>
              <a:rPr b="1" lang="en-US" sz="1100" spc="-1" strike="noStrike">
                <a:solidFill>
                  <a:srgbClr val="000000"/>
                </a:solidFill>
                <a:latin typeface="Segoe UI"/>
              </a:rPr>
              <a:t>degree distribution</a:t>
            </a:r>
            <a:r>
              <a:rPr b="0" lang="en-US" sz="1100" spc="-1" strike="noStrike">
                <a:solidFill>
                  <a:srgbClr val="000000"/>
                </a:solidFill>
                <a:latin typeface="Segoe UI"/>
              </a:rPr>
              <a:t>: disassortativity in heavy‑tailed networks affects processes far more dramatically than in narrow distributions.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85"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86" name="PlaceHolder 4"/>
          <p:cNvSpPr>
            <a:spLocks noGrp="1"/>
          </p:cNvSpPr>
          <p:nvPr>
            <p:ph type="sldNum" idx="11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8CCA8297-ED68-46FA-BFA5-7F4FA0F4358B}" type="slidenum">
              <a:rPr b="0" lang="en-US" sz="1200" spc="-1" strike="noStrike">
                <a:solidFill>
                  <a:srgbClr val="787878"/>
                </a:solidFill>
                <a:latin typeface="Aptos"/>
              </a:rPr>
              <a:t>45</a:t>
            </a:fld>
            <a:endParaRPr b="0" lang="en-US" sz="1200" spc="-1" strike="noStrike">
              <a:solidFill>
                <a:srgbClr val="000000"/>
              </a:solidFill>
              <a:latin typeface="Times New Roman"/>
            </a:endParaRPr>
          </a:p>
        </p:txBody>
      </p:sp>
    </p:spTree>
  </p:cSld>
  <p:transition>
    <p:fade/>
  </p:transition>
  <p:timing>
    <p:tnLst>
      <p:par>
        <p:cTn id="297" dur="indefinite" restart="never" nodeType="tmRoot">
          <p:childTnLst>
            <p:seq>
              <p:cTn id="298" dur="indefinite" nodeType="mainSeq">
                <p:childTnLst>
                  <p:par>
                    <p:cTn id="299" fill="hold">
                      <p:stCondLst>
                        <p:cond delay="0"/>
                      </p:stCondLst>
                      <p:childTnLst>
                        <p:par>
                          <p:cTn id="300" fill="hold">
                            <p:stCondLst>
                              <p:cond delay="0"/>
                            </p:stCondLst>
                            <p:childTnLst>
                              <p:par>
                                <p:cTn id="301" nodeType="withEffect" fill="hold" presetClass="entr" presetID="10">
                                  <p:stCondLst>
                                    <p:cond delay="250"/>
                                  </p:stCondLst>
                                  <p:iterate type="el">
                                    <p:tmAbs val="100"/>
                                  </p:iterate>
                                  <p:childTnLst>
                                    <p:set>
                                      <p:cBhvr>
                                        <p:cTn id="302" dur="1" fill="hold">
                                          <p:stCondLst>
                                            <p:cond delay="0"/>
                                          </p:stCondLst>
                                        </p:cTn>
                                        <p:tgtEl>
                                          <p:spTgt spid="684"/>
                                        </p:tgtEl>
                                        <p:attrNameLst>
                                          <p:attrName>style.visibility</p:attrName>
                                        </p:attrNameLst>
                                      </p:cBhvr>
                                      <p:to>
                                        <p:strVal val="visible"/>
                                      </p:to>
                                    </p:set>
                                    <p:animEffect filter="fade" transition="in">
                                      <p:cBhvr additive="repl">
                                        <p:cTn id="303" dur="500"/>
                                        <p:tgtEl>
                                          <p:spTgt spid="6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7"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Assortativity</a:t>
            </a:r>
            <a:endParaRPr b="0" lang="en-US" sz="3000" spc="-1" strike="noStrike">
              <a:solidFill>
                <a:srgbClr val="000000"/>
              </a:solidFill>
              <a:latin typeface="Arial"/>
            </a:endParaRPr>
          </a:p>
        </p:txBody>
      </p:sp>
      <p:sp>
        <p:nvSpPr>
          <p:cNvPr id="688" name="PlaceHolder 2"/>
          <p:cNvSpPr>
            <a:spLocks noGrp="1"/>
          </p:cNvSpPr>
          <p:nvPr>
            <p:ph type="ftr" idx="11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89"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Assortativity does </a:t>
            </a:r>
            <a:r>
              <a:rPr b="1" lang="en-US" sz="1100" spc="-1" strike="noStrike">
                <a:solidFill>
                  <a:srgbClr val="000000"/>
                </a:solidFill>
                <a:latin typeface="Segoe UI"/>
              </a:rPr>
              <a:t>not</a:t>
            </a:r>
            <a:r>
              <a:rPr b="0" lang="en-US" sz="1100" spc="-1" strike="noStrike">
                <a:solidFill>
                  <a:srgbClr val="000000"/>
                </a:solidFill>
                <a:latin typeface="Segoe UI"/>
              </a:rPr>
              <a:t> determine whether the network is connected.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indicates “how connectivity is allocated”: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Assortative:</a:t>
            </a:r>
            <a:r>
              <a:rPr b="0" lang="en-US" sz="1100" spc="-1" strike="noStrike">
                <a:solidFill>
                  <a:srgbClr val="000000"/>
                </a:solidFill>
                <a:latin typeface="Segoe UI"/>
              </a:rPr>
              <a:t> dense inter‑hub connections reinforce the “backbone.”</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Disassortative:</a:t>
            </a:r>
            <a:r>
              <a:rPr b="0" lang="en-US" sz="1100" spc="-1" strike="noStrike">
                <a:solidFill>
                  <a:srgbClr val="000000"/>
                </a:solidFill>
                <a:latin typeface="Segoe UI"/>
              </a:rPr>
              <a:t> connectivity radiates outward from hubs.</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Assortative networks</a:t>
            </a:r>
            <a:r>
              <a:rPr b="0" lang="en-US" sz="1100" spc="-1" strike="noStrike">
                <a:solidFill>
                  <a:srgbClr val="000000"/>
                </a:solidFill>
                <a:latin typeface="Segoe UI"/>
              </a:rPr>
              <a:t> (rich‑club):</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More robust to random failures (hubs are mutually reinforced).</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But may create isolated, fragile peripheries.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Disassortative networks</a:t>
            </a:r>
            <a:r>
              <a:rPr b="0" lang="en-US" sz="1100" spc="-1" strike="noStrike">
                <a:solidFill>
                  <a:srgbClr val="000000"/>
                </a:solidFill>
                <a:latin typeface="Segoe UI"/>
              </a:rPr>
              <a:t> (hub‑periphery):</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Robust to random failures among leaves (most nodes are low‑degree).</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Extremely vulnerable to </a:t>
            </a:r>
            <a:r>
              <a:rPr b="1" lang="en-US" sz="1100" spc="-1" strike="noStrike">
                <a:solidFill>
                  <a:srgbClr val="000000"/>
                </a:solidFill>
                <a:latin typeface="Segoe UI"/>
              </a:rPr>
              <a:t>targeted hub failures</a:t>
            </a:r>
            <a:r>
              <a:rPr b="0" lang="en-US" sz="1100" spc="-1" strike="noStrike">
                <a:solidFill>
                  <a:srgbClr val="000000"/>
                </a:solidFill>
                <a:latin typeface="Segoe UI"/>
              </a:rPr>
              <a:t> due to star‑like dependencies.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Failure of a hub disconnects many leaves at once.</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Assortative mixing</a:t>
            </a:r>
            <a:r>
              <a:rPr b="0" lang="en-US" sz="1100" spc="-1" strike="noStrike">
                <a:solidFill>
                  <a:srgbClr val="000000"/>
                </a:solidFill>
                <a:latin typeface="Segoe UI"/>
              </a:rPr>
              <a:t> supports </a:t>
            </a:r>
            <a:r>
              <a:rPr b="1" lang="en-US" sz="1100" spc="-1" strike="noStrike">
                <a:solidFill>
                  <a:srgbClr val="000000"/>
                </a:solidFill>
                <a:latin typeface="Segoe UI"/>
              </a:rPr>
              <a:t>core‑level resilience</a:t>
            </a:r>
            <a:r>
              <a:rPr b="0" lang="en-US" sz="1100" spc="-1" strike="noStrike">
                <a:solidFill>
                  <a:srgbClr val="000000"/>
                </a:solidFill>
                <a:latin typeface="Segoe UI"/>
              </a:rPr>
              <a:t>: even if peripheral nodes fail, the core continues to function.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Disassortative mixing</a:t>
            </a:r>
            <a:r>
              <a:rPr b="0" lang="en-US" sz="1100" spc="-1" strike="noStrike">
                <a:solidFill>
                  <a:srgbClr val="000000"/>
                </a:solidFill>
                <a:latin typeface="Segoe UI"/>
              </a:rPr>
              <a:t> may propagate failures quickly if hubs are overloaded—loss of a hub creates </a:t>
            </a:r>
            <a:r>
              <a:rPr b="1" lang="en-US" sz="1100" spc="-1" strike="noStrike">
                <a:solidFill>
                  <a:srgbClr val="000000"/>
                </a:solidFill>
                <a:latin typeface="Segoe UI"/>
              </a:rPr>
              <a:t>large structural holes</a:t>
            </a:r>
            <a:r>
              <a:rPr b="0" lang="en-US" sz="1100" spc="-1" strike="noStrike">
                <a:solidFill>
                  <a:srgbClr val="000000"/>
                </a:solidFill>
                <a:latin typeface="Segoe UI"/>
              </a:rPr>
              <a:t>, slowing recovery.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Degree correlations shift </a:t>
            </a:r>
            <a:r>
              <a:rPr b="1" lang="en-US" sz="1100" spc="-1" strike="noStrike">
                <a:solidFill>
                  <a:srgbClr val="000000"/>
                </a:solidFill>
                <a:latin typeface="Segoe UI"/>
              </a:rPr>
              <a:t>epidemic thresholds</a:t>
            </a:r>
            <a:r>
              <a:rPr b="0" lang="en-US" sz="1100" spc="-1" strike="noStrike">
                <a:solidFill>
                  <a:srgbClr val="000000"/>
                </a:solidFill>
                <a:latin typeface="Segoe UI"/>
              </a:rPr>
              <a:t>, </a:t>
            </a:r>
            <a:r>
              <a:rPr b="1" lang="en-US" sz="1100" spc="-1" strike="noStrike">
                <a:solidFill>
                  <a:srgbClr val="000000"/>
                </a:solidFill>
                <a:latin typeface="Segoe UI"/>
              </a:rPr>
              <a:t>cascade risks</a:t>
            </a:r>
            <a:r>
              <a:rPr b="0" lang="en-US" sz="1100" spc="-1" strike="noStrike">
                <a:solidFill>
                  <a:srgbClr val="000000"/>
                </a:solidFill>
                <a:latin typeface="Segoe UI"/>
              </a:rPr>
              <a:t>, and </a:t>
            </a:r>
            <a:r>
              <a:rPr b="1" lang="en-US" sz="1100" spc="-1" strike="noStrike">
                <a:solidFill>
                  <a:srgbClr val="000000"/>
                </a:solidFill>
                <a:latin typeface="Segoe UI"/>
              </a:rPr>
              <a:t>load redistribution</a:t>
            </a:r>
            <a:r>
              <a:rPr b="0" lang="en-US" sz="1100" spc="-1" strike="noStrike">
                <a:solidFill>
                  <a:srgbClr val="000000"/>
                </a:solidFill>
                <a:latin typeface="Segoe UI"/>
              </a:rPr>
              <a:t> patterns.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90"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91" name="PlaceHolder 4"/>
          <p:cNvSpPr>
            <a:spLocks noGrp="1"/>
          </p:cNvSpPr>
          <p:nvPr>
            <p:ph type="sldNum" idx="11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E3DDD10B-4183-4187-ACE3-1EB3F81EBD66}" type="slidenum">
              <a:rPr b="0" lang="en-US" sz="1200" spc="-1" strike="noStrike">
                <a:solidFill>
                  <a:srgbClr val="787878"/>
                </a:solidFill>
                <a:latin typeface="Aptos"/>
              </a:rPr>
              <a:t>46</a:t>
            </a:fld>
            <a:endParaRPr b="0" lang="en-US" sz="1200" spc="-1" strike="noStrike">
              <a:solidFill>
                <a:srgbClr val="000000"/>
              </a:solidFill>
              <a:latin typeface="Times New Roman"/>
            </a:endParaRPr>
          </a:p>
        </p:txBody>
      </p:sp>
    </p:spTree>
  </p:cSld>
  <p:transition>
    <p:fade/>
  </p:transition>
  <p:timing>
    <p:tnLst>
      <p:par>
        <p:cTn id="304" dur="indefinite" restart="never" nodeType="tmRoot">
          <p:childTnLst>
            <p:seq>
              <p:cTn id="305" dur="indefinite" nodeType="mainSeq">
                <p:childTnLst>
                  <p:par>
                    <p:cTn id="306" fill="hold">
                      <p:stCondLst>
                        <p:cond delay="0"/>
                      </p:stCondLst>
                      <p:childTnLst>
                        <p:par>
                          <p:cTn id="307" fill="hold">
                            <p:stCondLst>
                              <p:cond delay="0"/>
                            </p:stCondLst>
                            <p:childTnLst>
                              <p:par>
                                <p:cTn id="308" nodeType="withEffect" fill="hold" presetClass="entr" presetID="10">
                                  <p:stCondLst>
                                    <p:cond delay="250"/>
                                  </p:stCondLst>
                                  <p:iterate type="el">
                                    <p:tmAbs val="100"/>
                                  </p:iterate>
                                  <p:childTnLst>
                                    <p:set>
                                      <p:cBhvr>
                                        <p:cTn id="309" dur="1" fill="hold">
                                          <p:stCondLst>
                                            <p:cond delay="0"/>
                                          </p:stCondLst>
                                        </p:cTn>
                                        <p:tgtEl>
                                          <p:spTgt spid="689"/>
                                        </p:tgtEl>
                                        <p:attrNameLst>
                                          <p:attrName>style.visibility</p:attrName>
                                        </p:attrNameLst>
                                      </p:cBhvr>
                                      <p:to>
                                        <p:strVal val="visible"/>
                                      </p:to>
                                    </p:set>
                                    <p:animEffect filter="fade" transition="in">
                                      <p:cBhvr additive="repl">
                                        <p:cTn id="310" dur="500"/>
                                        <p:tgtEl>
                                          <p:spTgt spid="6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2"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Assortativity</a:t>
            </a:r>
            <a:endParaRPr b="0" lang="en-US" sz="3000" spc="-1" strike="noStrike">
              <a:solidFill>
                <a:srgbClr val="000000"/>
              </a:solidFill>
              <a:latin typeface="Arial"/>
            </a:endParaRPr>
          </a:p>
        </p:txBody>
      </p:sp>
      <p:sp>
        <p:nvSpPr>
          <p:cNvPr id="693" name="PlaceHolder 2"/>
          <p:cNvSpPr>
            <a:spLocks noGrp="1"/>
          </p:cNvSpPr>
          <p:nvPr>
            <p:ph type="ftr" idx="12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94"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p:txBody>
      </p:sp>
      <p:pic>
        <p:nvPicPr>
          <p:cNvPr id="695"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696" name="PlaceHolder 4"/>
          <p:cNvSpPr>
            <a:spLocks noGrp="1"/>
          </p:cNvSpPr>
          <p:nvPr>
            <p:ph type="sldNum" idx="12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A1AE0A69-32F7-4482-A85D-BE401B5D1D17}" type="slidenum">
              <a:rPr b="0" lang="en-US" sz="1200" spc="-1" strike="noStrike">
                <a:solidFill>
                  <a:srgbClr val="787878"/>
                </a:solidFill>
                <a:latin typeface="Aptos"/>
              </a:rPr>
              <a:t>47</a:t>
            </a:fld>
            <a:endParaRPr b="0" lang="en-US" sz="1200" spc="-1" strike="noStrike">
              <a:solidFill>
                <a:srgbClr val="000000"/>
              </a:solidFill>
              <a:latin typeface="Times New Roman"/>
            </a:endParaRPr>
          </a:p>
        </p:txBody>
      </p:sp>
    </p:spTree>
  </p:cSld>
  <p:transition>
    <p:fade/>
  </p:transition>
  <p:timing>
    <p:tnLst>
      <p:par>
        <p:cTn id="311" dur="indefinite" restart="never" nodeType="tmRoot">
          <p:childTnLst>
            <p:seq>
              <p:cTn id="312" dur="indefinite" nodeType="mainSeq">
                <p:childTnLst>
                  <p:par>
                    <p:cTn id="313" fill="hold">
                      <p:stCondLst>
                        <p:cond delay="0"/>
                      </p:stCondLst>
                      <p:childTnLst>
                        <p:par>
                          <p:cTn id="314" fill="hold">
                            <p:stCondLst>
                              <p:cond delay="0"/>
                            </p:stCondLst>
                            <p:childTnLst>
                              <p:par>
                                <p:cTn id="315" nodeType="withEffect" fill="hold" presetClass="entr" presetID="10">
                                  <p:stCondLst>
                                    <p:cond delay="250"/>
                                  </p:stCondLst>
                                  <p:iterate type="el">
                                    <p:tmAbs val="100"/>
                                  </p:iterate>
                                  <p:childTnLst>
                                    <p:set>
                                      <p:cBhvr>
                                        <p:cTn id="316" dur="1" fill="hold">
                                          <p:stCondLst>
                                            <p:cond delay="0"/>
                                          </p:stCondLst>
                                        </p:cTn>
                                        <p:tgtEl>
                                          <p:spTgt spid="694"/>
                                        </p:tgtEl>
                                        <p:attrNameLst>
                                          <p:attrName>style.visibility</p:attrName>
                                        </p:attrNameLst>
                                      </p:cBhvr>
                                      <p:to>
                                        <p:strVal val="visible"/>
                                      </p:to>
                                    </p:set>
                                    <p:animEffect filter="fade" transition="in">
                                      <p:cBhvr additive="repl">
                                        <p:cTn id="317" dur="500"/>
                                        <p:tgtEl>
                                          <p:spTgt spid="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title"/>
          </p:nvPr>
        </p:nvSpPr>
        <p:spPr>
          <a:xfrm>
            <a:off x="4129920" y="1645920"/>
            <a:ext cx="3931200" cy="3565440"/>
          </a:xfrm>
          <a:prstGeom prst="rect">
            <a:avLst/>
          </a:prstGeom>
          <a:noFill/>
          <a:ln w="0">
            <a:noFill/>
          </a:ln>
        </p:spPr>
        <p:txBody>
          <a:bodyPr lIns="90000" rIns="90000" tIns="45000" bIns="45000" anchor="ctr">
            <a:normAutofit/>
          </a:bodyPr>
          <a:p>
            <a:pPr indent="0" algn="ctr">
              <a:lnSpc>
                <a:spcPct val="90000"/>
              </a:lnSpc>
              <a:buNone/>
              <a:tabLst>
                <a:tab algn="l" pos="0"/>
              </a:tabLst>
            </a:pPr>
            <a:r>
              <a:rPr b="0" lang="en-US" sz="3500" spc="-1" strike="noStrike">
                <a:solidFill>
                  <a:srgbClr val="000000"/>
                </a:solidFill>
                <a:latin typeface="Aptos Display"/>
              </a:rPr>
              <a:t>Centralization Metrics</a:t>
            </a:r>
            <a:endParaRPr b="0" lang="en-US" sz="3500" spc="-1" strike="noStrike">
              <a:solidFill>
                <a:srgbClr val="000000"/>
              </a:solidFill>
              <a:latin typeface="Arial"/>
            </a:endParaRPr>
          </a:p>
        </p:txBody>
      </p:sp>
      <p:sp>
        <p:nvSpPr>
          <p:cNvPr id="698" name="PlaceHolder 2"/>
          <p:cNvSpPr>
            <a:spLocks noGrp="1"/>
          </p:cNvSpPr>
          <p:nvPr>
            <p:ph type="ftr" idx="12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699" name="PlaceHolder 3"/>
          <p:cNvSpPr>
            <a:spLocks noGrp="1"/>
          </p:cNvSpPr>
          <p:nvPr>
            <p:ph type="sldNum" idx="12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6A7F3996-C98C-4897-B4D8-F7AD8FF2635A}" type="slidenum">
              <a:rPr b="0" lang="en-US" sz="1200" spc="-1" strike="noStrike">
                <a:solidFill>
                  <a:srgbClr val="787878"/>
                </a:solidFill>
                <a:latin typeface="Aptos"/>
              </a:rPr>
              <a:t>48</a:t>
            </a:fld>
            <a:endParaRPr b="0" lang="en-US" sz="1200" spc="-1" strike="noStrike">
              <a:solidFill>
                <a:srgbClr val="000000"/>
              </a:solidFill>
              <a:latin typeface="Times New Roman"/>
            </a:endParaRPr>
          </a:p>
        </p:txBody>
      </p:sp>
    </p:spTree>
  </p:cSld>
  <p:transition>
    <p:fade/>
  </p:transition>
  <p:timing>
    <p:tnLst>
      <p:par>
        <p:cTn id="318" dur="indefinite" restart="never" nodeType="tmRoot">
          <p:childTnLst>
            <p:seq>
              <p:cTn id="319" dur="indefinite" nodeType="mainSeq">
                <p:childTnLst>
                  <p:par>
                    <p:cTn id="320" fill="hold">
                      <p:stCondLst>
                        <p:cond delay="0"/>
                      </p:stCondLst>
                      <p:childTnLst>
                        <p:par>
                          <p:cTn id="321" fill="hold">
                            <p:stCondLst>
                              <p:cond delay="0"/>
                            </p:stCondLst>
                            <p:childTnLst>
                              <p:par>
                                <p:cTn id="322" nodeType="withEffect" fill="hold" presetClass="entr" presetID="10">
                                  <p:stCondLst>
                                    <p:cond delay="500"/>
                                  </p:stCondLst>
                                  <p:iterate type="lt">
                                    <p:tmAbs val="100"/>
                                  </p:iterate>
                                  <p:childTnLst>
                                    <p:set>
                                      <p:cBhvr>
                                        <p:cTn id="323" dur="1" fill="hold">
                                          <p:stCondLst>
                                            <p:cond delay="0"/>
                                          </p:stCondLst>
                                        </p:cTn>
                                        <p:tgtEl>
                                          <p:spTgt spid="697"/>
                                        </p:tgtEl>
                                        <p:attrNameLst>
                                          <p:attrName>style.visibility</p:attrName>
                                        </p:attrNameLst>
                                      </p:cBhvr>
                                      <p:to>
                                        <p:strVal val="visible"/>
                                      </p:to>
                                    </p:set>
                                    <p:animEffect filter="fade" transition="in">
                                      <p:cBhvr additive="repl">
                                        <p:cTn id="324" dur="400"/>
                                        <p:tgtEl>
                                          <p:spTgt spid="6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0" name="PlaceHolder 1"/>
          <p:cNvSpPr>
            <a:spLocks noGrp="1"/>
          </p:cNvSpPr>
          <p:nvPr>
            <p:ph type="title"/>
          </p:nvPr>
        </p:nvSpPr>
        <p:spPr>
          <a:xfrm>
            <a:off x="1245240" y="786240"/>
            <a:ext cx="4022640" cy="1279440"/>
          </a:xfrm>
          <a:prstGeom prst="rect">
            <a:avLst/>
          </a:prstGeom>
          <a:noFill/>
          <a:ln w="0">
            <a:noFill/>
          </a:ln>
        </p:spPr>
        <p:txBody>
          <a:bodyPr lIns="90000" rIns="90000" tIns="45000" bIns="45000" anchor="t">
            <a:normAutofit/>
          </a:bodyPr>
          <a:p>
            <a:pPr indent="0">
              <a:lnSpc>
                <a:spcPct val="90000"/>
              </a:lnSpc>
              <a:buNone/>
              <a:tabLst>
                <a:tab algn="l" pos="0"/>
              </a:tabLst>
            </a:pPr>
            <a:r>
              <a:rPr b="0" lang="en-US" sz="3200" spc="-1" strike="noStrike">
                <a:solidFill>
                  <a:srgbClr val="000000"/>
                </a:solidFill>
                <a:latin typeface="Aptos Display"/>
              </a:rPr>
              <a:t>Overview of Centralization</a:t>
            </a:r>
            <a:endParaRPr b="0" lang="en-US" sz="3200" spc="-1" strike="noStrike">
              <a:solidFill>
                <a:srgbClr val="000000"/>
              </a:solidFill>
              <a:latin typeface="Arial"/>
            </a:endParaRPr>
          </a:p>
        </p:txBody>
      </p:sp>
      <p:sp>
        <p:nvSpPr>
          <p:cNvPr id="701" name="PlaceHolder 2"/>
          <p:cNvSpPr>
            <a:spLocks noGrp="1"/>
          </p:cNvSpPr>
          <p:nvPr>
            <p:ph type="ftr" idx="12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pic>
        <p:nvPicPr>
          <p:cNvPr id="702" name="Content Placeholder 6" descr="Pins pinned on a white surface and connecting a black thread"/>
          <p:cNvPicPr/>
          <p:nvPr/>
        </p:nvPicPr>
        <p:blipFill>
          <a:blip r:embed="rId1">
            <a:alphaModFix amt="20000"/>
          </a:blip>
          <a:srcRect l="0" t="0" r="0" b="-2165"/>
          <a:stretch/>
        </p:blipFill>
        <p:spPr>
          <a:xfrm>
            <a:off x="1220400" y="2396160"/>
            <a:ext cx="4070160" cy="3637080"/>
          </a:xfrm>
          <a:prstGeom prst="rect">
            <a:avLst/>
          </a:prstGeom>
          <a:ln w="6350">
            <a:solidFill>
              <a:srgbClr val="000000"/>
            </a:solidFill>
            <a:round/>
          </a:ln>
        </p:spPr>
      </p:pic>
      <p:sp>
        <p:nvSpPr>
          <p:cNvPr id="703" name="PlaceHolder 3"/>
          <p:cNvSpPr>
            <a:spLocks noGrp="1"/>
          </p:cNvSpPr>
          <p:nvPr>
            <p:ph/>
          </p:nvPr>
        </p:nvSpPr>
        <p:spPr>
          <a:xfrm>
            <a:off x="5669280" y="786240"/>
            <a:ext cx="5302800" cy="530280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r>
              <a:rPr b="1" lang="en-US" sz="1400" spc="-1" strike="noStrike">
                <a:solidFill>
                  <a:srgbClr val="000000"/>
                </a:solidFill>
                <a:latin typeface="Aptos"/>
              </a:rPr>
              <a:t>Definition of Centralization</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Centralization measures inequality in node centrality, showing concentration of advantage across the network.</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Implications of High Centralization</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High centralization creates hierarchy, enabling efficient broadcast but also increases vulnerability to targeted attacks.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Distinction from Centrality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Centralization is a network-level measure, while centrality is a node-level metric, each with different implications.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Efficiency and Fragility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Understanding centralization helps evaluate network efficiency and vulnerability to failures or attacks.</a:t>
            </a:r>
            <a:endParaRPr b="0" lang="en-US" sz="1400" spc="-1" strike="noStrike">
              <a:solidFill>
                <a:srgbClr val="000000"/>
              </a:solidFill>
              <a:latin typeface="Arial"/>
            </a:endParaRPr>
          </a:p>
        </p:txBody>
      </p:sp>
      <p:sp>
        <p:nvSpPr>
          <p:cNvPr id="704" name="PlaceHolder 4"/>
          <p:cNvSpPr>
            <a:spLocks noGrp="1"/>
          </p:cNvSpPr>
          <p:nvPr>
            <p:ph type="sldNum" idx="12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F9FFA840-4699-43DC-B1F9-F4FE6873C21E}" type="slidenum">
              <a:rPr b="0" lang="en-US" sz="1200" spc="-1" strike="noStrike">
                <a:solidFill>
                  <a:srgbClr val="787878"/>
                </a:solidFill>
                <a:latin typeface="Aptos"/>
              </a:rPr>
              <a:t>49</a:t>
            </a:fld>
            <a:endParaRPr b="0" lang="en-US" sz="1200" spc="-1" strike="noStrike">
              <a:solidFill>
                <a:srgbClr val="000000"/>
              </a:solidFill>
              <a:latin typeface="Times New Roman"/>
            </a:endParaRPr>
          </a:p>
        </p:txBody>
      </p:sp>
    </p:spTree>
  </p:cSld>
  <p:transition>
    <p:fade/>
  </p:transition>
  <p:timing>
    <p:tnLst>
      <p:par>
        <p:cTn id="325" dur="indefinite" restart="never" nodeType="tmRoot">
          <p:childTnLst>
            <p:seq>
              <p:cTn id="326" dur="indefinite" nodeType="mainSeq">
                <p:childTnLst>
                  <p:par>
                    <p:cTn id="327" fill="hold">
                      <p:stCondLst>
                        <p:cond delay="0"/>
                      </p:stCondLst>
                      <p:childTnLst>
                        <p:par>
                          <p:cTn id="328" fill="hold">
                            <p:stCondLst>
                              <p:cond delay="0"/>
                            </p:stCondLst>
                            <p:childTnLst>
                              <p:par>
                                <p:cTn id="329" nodeType="withEffect" fill="hold" presetClass="entr" presetID="10">
                                  <p:stCondLst>
                                    <p:cond delay="250"/>
                                  </p:stCondLst>
                                  <p:iterate type="el">
                                    <p:tmAbs val="100"/>
                                  </p:iterate>
                                  <p:childTnLst>
                                    <p:set>
                                      <p:cBhvr>
                                        <p:cTn id="330" dur="1" fill="hold">
                                          <p:stCondLst>
                                            <p:cond delay="0"/>
                                          </p:stCondLst>
                                        </p:cTn>
                                        <p:tgtEl>
                                          <p:spTgt spid="703"/>
                                        </p:tgtEl>
                                        <p:attrNameLst>
                                          <p:attrName>style.visibility</p:attrName>
                                        </p:attrNameLst>
                                      </p:cBhvr>
                                      <p:to>
                                        <p:strVal val="visible"/>
                                      </p:to>
                                    </p:set>
                                    <p:animEffect filter="fade" transition="in">
                                      <p:cBhvr additive="repl">
                                        <p:cTn id="331" dur="500"/>
                                        <p:tgtEl>
                                          <p:spTgt spid="7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5" name="PlaceHolder 1"/>
          <p:cNvSpPr>
            <a:spLocks noGrp="1"/>
          </p:cNvSpPr>
          <p:nvPr>
            <p:ph type="title"/>
          </p:nvPr>
        </p:nvSpPr>
        <p:spPr>
          <a:xfrm>
            <a:off x="1207080" y="786240"/>
            <a:ext cx="7771680" cy="91368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Degree, Closeness, Betweenness, and Eigenvector Centralization</a:t>
            </a:r>
            <a:endParaRPr b="0" lang="en-US" sz="3000" spc="-1" strike="noStrike">
              <a:solidFill>
                <a:srgbClr val="000000"/>
              </a:solidFill>
              <a:latin typeface="Arial"/>
            </a:endParaRPr>
          </a:p>
        </p:txBody>
      </p:sp>
      <p:sp>
        <p:nvSpPr>
          <p:cNvPr id="706" name="PlaceHolder 2"/>
          <p:cNvSpPr>
            <a:spLocks noGrp="1"/>
          </p:cNvSpPr>
          <p:nvPr>
            <p:ph type="ftr" idx="12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07" name="PlaceHolder 3"/>
          <p:cNvSpPr>
            <a:spLocks noGrp="1"/>
          </p:cNvSpPr>
          <p:nvPr>
            <p:ph/>
          </p:nvPr>
        </p:nvSpPr>
        <p:spPr>
          <a:xfrm>
            <a:off x="1207080" y="1828800"/>
            <a:ext cx="7771680" cy="4205520"/>
          </a:xfrm>
          <a:prstGeom prst="rect">
            <a:avLst/>
          </a:prstGeom>
          <a:noFill/>
          <a:ln w="0">
            <a:noFill/>
          </a:ln>
        </p:spPr>
        <p:txBody>
          <a:bodyPr lIns="90000" rIns="90000" tIns="45000" bIns="45000" anchor="t">
            <a:normAutofit/>
          </a:bodyPr>
          <a:p>
            <a:pPr indent="0">
              <a:lnSpc>
                <a:spcPct val="90000"/>
              </a:lnSpc>
              <a:spcBef>
                <a:spcPts val="499"/>
              </a:spcBef>
              <a:buNone/>
              <a:tabLst>
                <a:tab algn="l" pos="0"/>
              </a:tabLst>
            </a:pPr>
            <a:r>
              <a:rPr b="1" lang="en-US" sz="1400" spc="-1" strike="noStrike">
                <a:solidFill>
                  <a:srgbClr val="000000"/>
                </a:solidFill>
                <a:latin typeface="Aptos"/>
              </a:rPr>
              <a:t>Degree Centralization</a:t>
            </a:r>
            <a:r>
              <a:rPr b="1" lang="en-US" sz="1100" spc="-1" strike="noStrike">
                <a:solidFill>
                  <a:srgbClr val="000000"/>
                </a:solidFill>
                <a:latin typeface="Segoe UI"/>
              </a:rPr>
              <a:t>→ inequality in number of ties</a:t>
            </a:r>
            <a:endParaRPr b="0" lang="en-US" sz="11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Degree centralization shows hub dominance and signals potential single points of failure in the network.</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Closeness Centralization</a:t>
            </a:r>
            <a:r>
              <a:rPr b="1" lang="en-US" sz="1100" spc="-1" strike="noStrike">
                <a:solidFill>
                  <a:srgbClr val="000000"/>
                </a:solidFill>
                <a:latin typeface="Segoe UI"/>
              </a:rPr>
              <a:t>→ inequality in reaching others</a:t>
            </a:r>
            <a:endParaRPr b="0" lang="en-US" sz="11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Closeness centralization highlights disparities in node accessibility, emphasizing nodes with superior reach.</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Betweenness Centralization</a:t>
            </a:r>
            <a:r>
              <a:rPr b="1" lang="en-US" sz="1100" spc="-1" strike="noStrike">
                <a:solidFill>
                  <a:srgbClr val="000000"/>
                </a:solidFill>
                <a:latin typeface="Segoe UI"/>
              </a:rPr>
              <a:t>→ inequality in brokerage</a:t>
            </a:r>
            <a:endParaRPr b="0" lang="en-US" sz="11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Betweenness centralization identifies chokepoints that concentrate brokerage in the flow of information.</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Eigenvector Centralization</a:t>
            </a:r>
            <a:r>
              <a:rPr b="1" lang="en-US" sz="1100" spc="-1" strike="noStrike">
                <a:solidFill>
                  <a:srgbClr val="000000"/>
                </a:solidFill>
                <a:latin typeface="Segoe UI"/>
              </a:rPr>
              <a:t>→ inequality in recursive, self‑reinforcing influence</a:t>
            </a:r>
            <a:endParaRPr b="0" lang="en-US" sz="11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Eigenvector centralization reveals influence inequality based on connections to well-connected nodes, showing core-periphery structures.</a:t>
            </a:r>
            <a:endParaRPr b="0" lang="en-US" sz="1400" spc="-1" strike="noStrike">
              <a:solidFill>
                <a:srgbClr val="000000"/>
              </a:solidFill>
              <a:latin typeface="Arial"/>
            </a:endParaRPr>
          </a:p>
          <a:p>
            <a:pPr indent="0">
              <a:lnSpc>
                <a:spcPct val="90000"/>
              </a:lnSpc>
              <a:spcBef>
                <a:spcPts val="499"/>
              </a:spcBef>
              <a:buNone/>
              <a:tabLst>
                <a:tab algn="l" pos="0"/>
              </a:tabLst>
            </a:pPr>
            <a:endParaRPr b="0" lang="en-US" sz="1100" spc="-1" strike="noStrike">
              <a:solidFill>
                <a:srgbClr val="000000"/>
              </a:solidFill>
              <a:latin typeface="Arial"/>
            </a:endParaRPr>
          </a:p>
        </p:txBody>
      </p:sp>
      <p:pic>
        <p:nvPicPr>
          <p:cNvPr id="70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09" name="PlaceHolder 4"/>
          <p:cNvSpPr>
            <a:spLocks noGrp="1"/>
          </p:cNvSpPr>
          <p:nvPr>
            <p:ph type="sldNum" idx="12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EF441889-87A3-4735-8165-F8CCE49E0E3C}" type="slidenum">
              <a:rPr b="0" lang="en-US" sz="1200" spc="-1" strike="noStrike">
                <a:solidFill>
                  <a:srgbClr val="787878"/>
                </a:solidFill>
                <a:latin typeface="Aptos"/>
              </a:rPr>
              <a:t>50</a:t>
            </a:fld>
            <a:endParaRPr b="0" lang="en-US" sz="1200" spc="-1" strike="noStrike">
              <a:solidFill>
                <a:srgbClr val="000000"/>
              </a:solidFill>
              <a:latin typeface="Times New Roman"/>
            </a:endParaRPr>
          </a:p>
        </p:txBody>
      </p:sp>
    </p:spTree>
  </p:cSld>
  <p:transition>
    <p:fade/>
  </p:transition>
  <p:timing>
    <p:tnLst>
      <p:par>
        <p:cTn id="332" dur="indefinite" restart="never" nodeType="tmRoot">
          <p:childTnLst>
            <p:seq>
              <p:cTn id="333" dur="indefinite" nodeType="mainSeq">
                <p:childTnLst>
                  <p:par>
                    <p:cTn id="334" fill="hold">
                      <p:stCondLst>
                        <p:cond delay="0"/>
                      </p:stCondLst>
                      <p:childTnLst>
                        <p:par>
                          <p:cTn id="335" fill="hold">
                            <p:stCondLst>
                              <p:cond delay="0"/>
                            </p:stCondLst>
                            <p:childTnLst>
                              <p:par>
                                <p:cTn id="336" nodeType="withEffect" fill="hold" presetClass="entr" presetID="10">
                                  <p:stCondLst>
                                    <p:cond delay="250"/>
                                  </p:stCondLst>
                                  <p:iterate type="el">
                                    <p:tmAbs val="100"/>
                                  </p:iterate>
                                  <p:childTnLst>
                                    <p:set>
                                      <p:cBhvr>
                                        <p:cTn id="337" dur="1" fill="hold">
                                          <p:stCondLst>
                                            <p:cond delay="0"/>
                                          </p:stCondLst>
                                        </p:cTn>
                                        <p:tgtEl>
                                          <p:spTgt spid="707"/>
                                        </p:tgtEl>
                                        <p:attrNameLst>
                                          <p:attrName>style.visibility</p:attrName>
                                        </p:attrNameLst>
                                      </p:cBhvr>
                                      <p:to>
                                        <p:strVal val="visible"/>
                                      </p:to>
                                    </p:set>
                                    <p:animEffect filter="fade" transition="in">
                                      <p:cBhvr additive="repl">
                                        <p:cTn id="338" dur="500"/>
                                        <p:tgtEl>
                                          <p:spTgt spid="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0"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Degree Centralization</a:t>
            </a:r>
            <a:endParaRPr b="0" lang="en-US" sz="3000" spc="-1" strike="noStrike">
              <a:solidFill>
                <a:srgbClr val="000000"/>
              </a:solidFill>
              <a:latin typeface="Arial"/>
            </a:endParaRPr>
          </a:p>
        </p:txBody>
      </p:sp>
      <p:sp>
        <p:nvSpPr>
          <p:cNvPr id="711" name="PlaceHolder 2"/>
          <p:cNvSpPr>
            <a:spLocks noGrp="1"/>
          </p:cNvSpPr>
          <p:nvPr>
            <p:ph type="ftr" idx="12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12"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What Degree Centralization Measures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Degree centralization quantifies </a:t>
            </a:r>
            <a:r>
              <a:rPr b="1" lang="en-US" sz="1100" spc="-1" strike="noStrike">
                <a:solidFill>
                  <a:srgbClr val="000000"/>
                </a:solidFill>
                <a:latin typeface="Segoe UI"/>
              </a:rPr>
              <a:t>how unequal the distribution of degree</a:t>
            </a:r>
            <a:r>
              <a:rPr b="0" lang="en-US" sz="1100" spc="-1" strike="noStrike">
                <a:solidFill>
                  <a:srgbClr val="000000"/>
                </a:solidFill>
                <a:latin typeface="Segoe UI"/>
              </a:rPr>
              <a:t> is across all nodes in a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compares the observed degree distribution to the </a:t>
            </a:r>
            <a:r>
              <a:rPr b="1" lang="en-US" sz="1100" spc="-1" strike="noStrike">
                <a:solidFill>
                  <a:srgbClr val="000000"/>
                </a:solidFill>
                <a:latin typeface="Segoe UI"/>
              </a:rPr>
              <a:t>maximum possible inequality</a:t>
            </a:r>
            <a:r>
              <a:rPr b="0" lang="en-US" sz="1100" spc="-1" strike="noStrike">
                <a:solidFill>
                  <a:srgbClr val="000000"/>
                </a:solidFill>
                <a:latin typeface="Segoe UI"/>
              </a:rPr>
              <a:t> for a network of the same size, which occurs in a </a:t>
            </a:r>
            <a:r>
              <a:rPr b="1" lang="en-US" sz="1100" spc="-1" strike="noStrike">
                <a:solidFill>
                  <a:srgbClr val="000000"/>
                </a:solidFill>
                <a:latin typeface="Segoe UI"/>
              </a:rPr>
              <a:t>perfect star graph</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Formally, it captures how much </a:t>
            </a:r>
            <a:r>
              <a:rPr b="1" lang="en-US" sz="1100" spc="-1" strike="noStrike">
                <a:solidFill>
                  <a:srgbClr val="000000"/>
                </a:solidFill>
                <a:latin typeface="Segoe UI"/>
              </a:rPr>
              <a:t>one or a few nodes disproportionately control adjacency</a:t>
            </a:r>
            <a:r>
              <a:rPr b="0" lang="en-US" sz="1100" spc="-1" strike="noStrike">
                <a:solidFill>
                  <a:srgbClr val="000000"/>
                </a:solidFill>
                <a:latin typeface="Segoe UI"/>
              </a:rPr>
              <a:t>, reflecting </a:t>
            </a:r>
            <a:r>
              <a:rPr b="1" lang="en-US" sz="1100" spc="-1" strike="noStrike">
                <a:solidFill>
                  <a:srgbClr val="000000"/>
                </a:solidFill>
                <a:latin typeface="Segoe UI"/>
              </a:rPr>
              <a:t>hub dominance</a:t>
            </a:r>
            <a:r>
              <a:rPr b="0" lang="en-US" sz="1100" spc="-1" strike="noStrike">
                <a:solidFill>
                  <a:srgbClr val="000000"/>
                </a:solidFill>
                <a:latin typeface="Segoe UI"/>
              </a:rPr>
              <a:t> in the topology.</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Why Degree Centralization Matters (Mechanistic Insight)</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Networks with high degree centralization tend to behave like </a:t>
            </a:r>
            <a:r>
              <a:rPr b="1" lang="en-US" sz="1100" spc="-1" strike="noStrike">
                <a:solidFill>
                  <a:srgbClr val="000000"/>
                </a:solidFill>
                <a:latin typeface="Segoe UI"/>
              </a:rPr>
              <a:t>hub‑and‑spoke systems</a:t>
            </a:r>
            <a:r>
              <a:rPr b="0" lang="en-US" sz="1100" spc="-1" strike="noStrike">
                <a:solidFill>
                  <a:srgbClr val="000000"/>
                </a:solidFill>
                <a:latin typeface="Segoe UI"/>
              </a:rPr>
              <a:t>, where hubs absorb and mediate connectivity.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This shape has major implications: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Efficient communication</a:t>
            </a:r>
            <a:r>
              <a:rPr b="0" lang="en-US" sz="1100" spc="-1" strike="noStrike">
                <a:solidFill>
                  <a:srgbClr val="000000"/>
                </a:solidFill>
                <a:latin typeface="Segoe UI"/>
              </a:rPr>
              <a:t> because many nodes are only a single hop from the hub.</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Low redundancy</a:t>
            </a:r>
            <a:r>
              <a:rPr b="0" lang="en-US" sz="1100" spc="-1" strike="noStrike">
                <a:solidFill>
                  <a:srgbClr val="000000"/>
                </a:solidFill>
                <a:latin typeface="Segoe UI"/>
              </a:rPr>
              <a:t> because peripheral nodes rely almost entirely on the hub for connectivity.</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High structural vulnerability</a:t>
            </a:r>
            <a:r>
              <a:rPr b="0" lang="en-US" sz="1100" spc="-1" strike="noStrike">
                <a:solidFill>
                  <a:srgbClr val="000000"/>
                </a:solidFill>
                <a:latin typeface="Segoe UI"/>
              </a:rPr>
              <a:t> because the hub becomes a </a:t>
            </a:r>
            <a:r>
              <a:rPr b="1" lang="en-US" sz="1100" spc="-1" strike="noStrike">
                <a:solidFill>
                  <a:srgbClr val="000000"/>
                </a:solidFill>
                <a:latin typeface="Segoe UI"/>
              </a:rPr>
              <a:t>single point of failure</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Interpretation &amp; Behavioral Consequences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High degree centralization</a:t>
            </a:r>
            <a:r>
              <a:rPr b="0" lang="en-US" sz="1100" spc="-1" strike="noStrike">
                <a:solidFill>
                  <a:srgbClr val="000000"/>
                </a:solidFill>
                <a:latin typeface="Segoe UI"/>
              </a:rPr>
              <a:t> means: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0" lang="en-US" sz="1100" spc="-1" strike="noStrike">
                <a:solidFill>
                  <a:srgbClr val="000000"/>
                </a:solidFill>
                <a:latin typeface="Segoe UI"/>
              </a:rPr>
              <a:t>A small set of nodes (often one) carries a disproportionate share of the network’s adjacency.</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0" lang="en-US" sz="1100" spc="-1" strike="noStrike">
                <a:solidFill>
                  <a:srgbClr val="000000"/>
                </a:solidFill>
                <a:latin typeface="Segoe UI"/>
              </a:rPr>
              <a:t>The network is </a:t>
            </a:r>
            <a:r>
              <a:rPr b="1" lang="en-US" sz="1100" spc="-1" strike="noStrike">
                <a:solidFill>
                  <a:srgbClr val="000000"/>
                </a:solidFill>
                <a:latin typeface="Segoe UI"/>
              </a:rPr>
              <a:t>fast</a:t>
            </a:r>
            <a:r>
              <a:rPr b="0" lang="en-US" sz="1100" spc="-1" strike="noStrike">
                <a:solidFill>
                  <a:srgbClr val="000000"/>
                </a:solidFill>
                <a:latin typeface="Segoe UI"/>
              </a:rPr>
              <a:t> for hub‑mediated communication, but extremely </a:t>
            </a:r>
            <a:r>
              <a:rPr b="1" lang="en-US" sz="1100" spc="-1" strike="noStrike">
                <a:solidFill>
                  <a:srgbClr val="000000"/>
                </a:solidFill>
                <a:latin typeface="Segoe UI"/>
              </a:rPr>
              <a:t>fragile</a:t>
            </a:r>
            <a:r>
              <a:rPr b="0" lang="en-US" sz="1100" spc="-1" strike="noStrike">
                <a:solidFill>
                  <a:srgbClr val="000000"/>
                </a:solidFill>
                <a:latin typeface="Segoe UI"/>
              </a:rPr>
              <a:t> to targeted attacks on hubs.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0" lang="en-US" sz="1100" spc="-1" strike="noStrike">
                <a:solidFill>
                  <a:srgbClr val="000000"/>
                </a:solidFill>
                <a:latin typeface="Segoe UI"/>
              </a:rPr>
              <a:t>Removal of the highest‑degree node often collapses the giant component or dramatically increases average path length.</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Low degree centralization</a:t>
            </a:r>
            <a:r>
              <a:rPr b="0" lang="en-US" sz="1100" spc="-1" strike="noStrike">
                <a:solidFill>
                  <a:srgbClr val="000000"/>
                </a:solidFill>
                <a:latin typeface="Segoe UI"/>
              </a:rPr>
              <a:t> means: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0" lang="en-US" sz="1100" spc="-1" strike="noStrike">
                <a:solidFill>
                  <a:srgbClr val="000000"/>
                </a:solidFill>
                <a:latin typeface="Segoe UI"/>
              </a:rPr>
              <a:t>Connectivity is more evenly distributed.</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0" lang="en-US" sz="1100" spc="-1" strike="noStrike">
                <a:solidFill>
                  <a:srgbClr val="000000"/>
                </a:solidFill>
                <a:latin typeface="Segoe UI"/>
              </a:rPr>
              <a:t>The network is </a:t>
            </a:r>
            <a:r>
              <a:rPr b="1" lang="en-US" sz="1100" spc="-1" strike="noStrike">
                <a:solidFill>
                  <a:srgbClr val="000000"/>
                </a:solidFill>
                <a:latin typeface="Segoe UI"/>
              </a:rPr>
              <a:t>slower</a:t>
            </a:r>
            <a:r>
              <a:rPr b="0" lang="en-US" sz="1100" spc="-1" strike="noStrike">
                <a:solidFill>
                  <a:srgbClr val="000000"/>
                </a:solidFill>
                <a:latin typeface="Segoe UI"/>
              </a:rPr>
              <a:t> in star‑like broadcast but generally </a:t>
            </a:r>
            <a:r>
              <a:rPr b="1" lang="en-US" sz="1100" spc="-1" strike="noStrike">
                <a:solidFill>
                  <a:srgbClr val="000000"/>
                </a:solidFill>
                <a:latin typeface="Segoe UI"/>
              </a:rPr>
              <a:t>more robust</a:t>
            </a:r>
            <a:r>
              <a:rPr b="0" lang="en-US" sz="1100" spc="-1" strike="noStrike">
                <a:solidFill>
                  <a:srgbClr val="000000"/>
                </a:solidFill>
                <a:latin typeface="Segoe UI"/>
              </a:rPr>
              <a:t> to individual node failures.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0" lang="en-US" sz="1100" spc="-1" strike="noStrike">
                <a:solidFill>
                  <a:srgbClr val="000000"/>
                </a:solidFill>
                <a:latin typeface="Segoe UI"/>
              </a:rPr>
              <a:t>In many biological or engineered systems, reduced centralization supports </a:t>
            </a:r>
            <a:r>
              <a:rPr b="1" lang="en-US" sz="1100" spc="-1" strike="noStrike">
                <a:solidFill>
                  <a:srgbClr val="000000"/>
                </a:solidFill>
                <a:latin typeface="Segoe UI"/>
              </a:rPr>
              <a:t>fault tolerance</a:t>
            </a:r>
            <a:r>
              <a:rPr b="0" lang="en-US" sz="1100" spc="-1" strike="noStrike">
                <a:solidFill>
                  <a:srgbClr val="000000"/>
                </a:solidFill>
                <a:latin typeface="Segoe UI"/>
              </a:rPr>
              <a:t> and </a:t>
            </a:r>
            <a:r>
              <a:rPr b="1" lang="en-US" sz="1100" spc="-1" strike="noStrike">
                <a:solidFill>
                  <a:srgbClr val="000000"/>
                </a:solidFill>
                <a:latin typeface="Segoe UI"/>
              </a:rPr>
              <a:t>load balancing</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13"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14" name="PlaceHolder 4"/>
          <p:cNvSpPr>
            <a:spLocks noGrp="1"/>
          </p:cNvSpPr>
          <p:nvPr>
            <p:ph type="sldNum" idx="12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35708F56-A1D1-45D0-90CD-476FC71E1949}" type="slidenum">
              <a:rPr b="0" lang="en-US" sz="1200" spc="-1" strike="noStrike">
                <a:solidFill>
                  <a:srgbClr val="787878"/>
                </a:solidFill>
                <a:latin typeface="Aptos"/>
              </a:rPr>
              <a:t>51</a:t>
            </a:fld>
            <a:endParaRPr b="0" lang="en-US" sz="1200" spc="-1" strike="noStrike">
              <a:solidFill>
                <a:srgbClr val="000000"/>
              </a:solidFill>
              <a:latin typeface="Times New Roman"/>
            </a:endParaRPr>
          </a:p>
        </p:txBody>
      </p:sp>
    </p:spTree>
  </p:cSld>
  <p:transition>
    <p:fade/>
  </p:transition>
  <p:timing>
    <p:tnLst>
      <p:par>
        <p:cTn id="339" dur="indefinite" restart="never" nodeType="tmRoot">
          <p:childTnLst>
            <p:seq>
              <p:cTn id="340" dur="indefinite" nodeType="mainSeq">
                <p:childTnLst>
                  <p:par>
                    <p:cTn id="341" fill="hold">
                      <p:stCondLst>
                        <p:cond delay="0"/>
                      </p:stCondLst>
                      <p:childTnLst>
                        <p:par>
                          <p:cTn id="342" fill="hold">
                            <p:stCondLst>
                              <p:cond delay="0"/>
                            </p:stCondLst>
                            <p:childTnLst>
                              <p:par>
                                <p:cTn id="343" nodeType="withEffect" fill="hold" presetClass="entr" presetID="10">
                                  <p:stCondLst>
                                    <p:cond delay="250"/>
                                  </p:stCondLst>
                                  <p:iterate type="el">
                                    <p:tmAbs val="100"/>
                                  </p:iterate>
                                  <p:childTnLst>
                                    <p:set>
                                      <p:cBhvr>
                                        <p:cTn id="344" dur="1" fill="hold">
                                          <p:stCondLst>
                                            <p:cond delay="0"/>
                                          </p:stCondLst>
                                        </p:cTn>
                                        <p:tgtEl>
                                          <p:spTgt spid="712"/>
                                        </p:tgtEl>
                                        <p:attrNameLst>
                                          <p:attrName>style.visibility</p:attrName>
                                        </p:attrNameLst>
                                      </p:cBhvr>
                                      <p:to>
                                        <p:strVal val="visible"/>
                                      </p:to>
                                    </p:set>
                                    <p:animEffect filter="fade" transition="in">
                                      <p:cBhvr additive="repl">
                                        <p:cTn id="345" dur="500"/>
                                        <p:tgtEl>
                                          <p:spTgt spid="7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5" name="PlaceHolder 1"/>
          <p:cNvSpPr>
            <a:spLocks noGrp="1"/>
          </p:cNvSpPr>
          <p:nvPr>
            <p:ph type="title"/>
          </p:nvPr>
        </p:nvSpPr>
        <p:spPr>
          <a:xfrm>
            <a:off x="841680" y="389880"/>
            <a:ext cx="7771680" cy="55872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Degree Centralization</a:t>
            </a:r>
            <a:endParaRPr b="0" lang="en-US" sz="3000" spc="-1" strike="noStrike">
              <a:solidFill>
                <a:srgbClr val="000000"/>
              </a:solidFill>
              <a:latin typeface="Arial"/>
            </a:endParaRPr>
          </a:p>
        </p:txBody>
      </p:sp>
      <p:sp>
        <p:nvSpPr>
          <p:cNvPr id="716" name="PlaceHolder 2"/>
          <p:cNvSpPr>
            <a:spLocks noGrp="1"/>
          </p:cNvSpPr>
          <p:nvPr>
            <p:ph type="ftr" idx="13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17" name="PlaceHolder 3"/>
          <p:cNvSpPr>
            <a:spLocks noGrp="1"/>
          </p:cNvSpPr>
          <p:nvPr>
            <p:ph/>
          </p:nvPr>
        </p:nvSpPr>
        <p:spPr>
          <a:xfrm>
            <a:off x="841680" y="1317240"/>
            <a:ext cx="8439840" cy="51451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When Degree Centralization Is Appropriate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When analyzing systems where </a:t>
            </a:r>
            <a:r>
              <a:rPr b="1" lang="en-US" sz="1100" spc="-1" strike="noStrike">
                <a:solidFill>
                  <a:srgbClr val="000000"/>
                </a:solidFill>
                <a:latin typeface="Segoe UI"/>
              </a:rPr>
              <a:t>direct connectivity</a:t>
            </a:r>
            <a:r>
              <a:rPr b="0" lang="en-US" sz="1100" spc="-1" strike="noStrike">
                <a:solidFill>
                  <a:srgbClr val="000000"/>
                </a:solidFill>
                <a:latin typeface="Segoe UI"/>
              </a:rPr>
              <a:t> (not distance, not flow, not recursive influence) is the primary structural factor: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Organizational hierarchies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Transportation and logistics hubs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Communication infrastructures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Disease spreading networks (initial exposure pathways)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Ecological or metabolic networks with strong hub species/metabolites</a:t>
            </a:r>
            <a:endParaRPr b="0" lang="en-US" sz="1100" spc="-1" strike="noStrike">
              <a:solidFill>
                <a:srgbClr val="000000"/>
              </a:solidFill>
              <a:latin typeface="Arial"/>
            </a:endParaRPr>
          </a:p>
          <a:p>
            <a:pPr indent="0">
              <a:lnSpc>
                <a:spcPct val="90000"/>
              </a:lnSpc>
              <a:spcBef>
                <a:spcPts val="2500"/>
              </a:spcBef>
              <a:buNone/>
              <a:tabLst>
                <a:tab algn="l" pos="0"/>
              </a:tabLst>
            </a:pPr>
            <a:br>
              <a:rPr sz="1100"/>
            </a:b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Connectivity:</a:t>
            </a:r>
            <a:br>
              <a:rPr sz="1100"/>
            </a:br>
            <a:r>
              <a:rPr b="1" lang="en-US" sz="1100" spc="-1" strike="noStrike">
                <a:solidFill>
                  <a:srgbClr val="000000"/>
                </a:solidFill>
                <a:latin typeface="Segoe UI"/>
              </a:rPr>
              <a:t> Higher degree centralization increases the likelihood of maintaining global connectivity if hubs remain intact</a:t>
            </a:r>
            <a:r>
              <a:rPr b="0" lang="en-US" sz="1100" spc="-1" strike="noStrike">
                <a:solidFill>
                  <a:srgbClr val="000000"/>
                </a:solidFill>
                <a:latin typeface="Segoe UI"/>
              </a:rPr>
              <a:t>, but reduces alternative routing paths.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Robustness (Resistance to Failure):</a:t>
            </a:r>
            <a:br>
              <a:rPr sz="1100"/>
            </a:br>
            <a:r>
              <a:rPr b="1" lang="en-US" sz="1100" spc="-1" strike="noStrike">
                <a:solidFill>
                  <a:srgbClr val="000000"/>
                </a:solidFill>
                <a:latin typeface="Segoe UI"/>
              </a:rPr>
              <a:t> Highly centralized networks are robust to </a:t>
            </a:r>
            <a:r>
              <a:rPr b="0" i="1" lang="en-US" sz="1100" spc="-1" strike="noStrike">
                <a:solidFill>
                  <a:srgbClr val="000000"/>
                </a:solidFill>
                <a:latin typeface="Segoe UI"/>
              </a:rPr>
              <a:t>random</a:t>
            </a:r>
            <a:r>
              <a:rPr b="0" lang="en-US" sz="1100" spc="-1" strike="noStrike">
                <a:solidFill>
                  <a:srgbClr val="000000"/>
                </a:solidFill>
                <a:latin typeface="Segoe UI"/>
              </a:rPr>
              <a:t> failures (because most nodes are low‑degree), but extremely vulnerable to </a:t>
            </a:r>
            <a:r>
              <a:rPr b="1" lang="en-US" sz="1100" spc="-1" strike="noStrike">
                <a:solidFill>
                  <a:srgbClr val="000000"/>
                </a:solidFill>
                <a:latin typeface="Segoe UI"/>
              </a:rPr>
              <a:t>targeted removal</a:t>
            </a:r>
            <a:r>
              <a:rPr b="0" lang="en-US" sz="1100" spc="-1" strike="noStrike">
                <a:solidFill>
                  <a:srgbClr val="000000"/>
                </a:solidFill>
                <a:latin typeface="Segoe UI"/>
              </a:rPr>
              <a:t> of the hub.</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Resilience (Recovery / Continuity):</a:t>
            </a:r>
            <a:br>
              <a:rPr sz="1100"/>
            </a:br>
            <a:r>
              <a:rPr b="1" lang="en-US" sz="1100" spc="-1" strike="noStrike">
                <a:solidFill>
                  <a:srgbClr val="000000"/>
                </a:solidFill>
                <a:latin typeface="Segoe UI"/>
              </a:rPr>
              <a:t> After disruption, a centralized network has few fallback pathways</a:t>
            </a:r>
            <a:r>
              <a:rPr b="0" lang="en-US" sz="1100" spc="-1" strike="noStrike">
                <a:solidFill>
                  <a:srgbClr val="000000"/>
                </a:solidFill>
                <a:latin typeface="Segoe UI"/>
              </a:rPr>
              <a:t>, so recovery is slow—loss of the hub usually requires substantial rewiring or reconstruction.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This makes degree centralization a strong indicator of </a:t>
            </a:r>
            <a:r>
              <a:rPr b="1" lang="en-US" sz="1100" spc="-1" strike="noStrike">
                <a:solidFill>
                  <a:srgbClr val="000000"/>
                </a:solidFill>
                <a:latin typeface="Segoe UI"/>
              </a:rPr>
              <a:t>systemic fragility masked by superficial efficiency</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1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19" name="PlaceHolder 4"/>
          <p:cNvSpPr>
            <a:spLocks noGrp="1"/>
          </p:cNvSpPr>
          <p:nvPr>
            <p:ph type="sldNum" idx="13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6266532D-0D78-438F-8154-236375314E14}" type="slidenum">
              <a:rPr b="0" lang="en-US" sz="1200" spc="-1" strike="noStrike">
                <a:solidFill>
                  <a:srgbClr val="787878"/>
                </a:solidFill>
                <a:latin typeface="Aptos"/>
              </a:rPr>
              <a:t>52</a:t>
            </a:fld>
            <a:endParaRPr b="0" lang="en-US" sz="1200" spc="-1" strike="noStrike">
              <a:solidFill>
                <a:srgbClr val="000000"/>
              </a:solidFill>
              <a:latin typeface="Times New Roman"/>
            </a:endParaRPr>
          </a:p>
        </p:txBody>
      </p:sp>
    </p:spTree>
  </p:cSld>
  <p:transition>
    <p:fade/>
  </p:transition>
  <p:timing>
    <p:tnLst>
      <p:par>
        <p:cTn id="346" dur="indefinite" restart="never" nodeType="tmRoot">
          <p:childTnLst>
            <p:seq>
              <p:cTn id="347" dur="indefinite" nodeType="mainSeq">
                <p:childTnLst>
                  <p:par>
                    <p:cTn id="348" fill="hold">
                      <p:stCondLst>
                        <p:cond delay="0"/>
                      </p:stCondLst>
                      <p:childTnLst>
                        <p:par>
                          <p:cTn id="349" fill="hold">
                            <p:stCondLst>
                              <p:cond delay="0"/>
                            </p:stCondLst>
                            <p:childTnLst>
                              <p:par>
                                <p:cTn id="350" nodeType="withEffect" fill="hold" presetClass="entr" presetID="10">
                                  <p:stCondLst>
                                    <p:cond delay="250"/>
                                  </p:stCondLst>
                                  <p:iterate type="el">
                                    <p:tmAbs val="100"/>
                                  </p:iterate>
                                  <p:childTnLst>
                                    <p:set>
                                      <p:cBhvr>
                                        <p:cTn id="351" dur="1" fill="hold">
                                          <p:stCondLst>
                                            <p:cond delay="0"/>
                                          </p:stCondLst>
                                        </p:cTn>
                                        <p:tgtEl>
                                          <p:spTgt spid="717"/>
                                        </p:tgtEl>
                                        <p:attrNameLst>
                                          <p:attrName>style.visibility</p:attrName>
                                        </p:attrNameLst>
                                      </p:cBhvr>
                                      <p:to>
                                        <p:strVal val="visible"/>
                                      </p:to>
                                    </p:set>
                                    <p:animEffect filter="fade" transition="in">
                                      <p:cBhvr additive="repl">
                                        <p:cTn id="352" dur="500"/>
                                        <p:tgtEl>
                                          <p:spTgt spid="7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0" name="PlaceHolder 1"/>
          <p:cNvSpPr>
            <a:spLocks noGrp="1"/>
          </p:cNvSpPr>
          <p:nvPr>
            <p:ph type="title"/>
          </p:nvPr>
        </p:nvSpPr>
        <p:spPr>
          <a:xfrm>
            <a:off x="841680" y="389880"/>
            <a:ext cx="7771680" cy="52200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Degree Centralization</a:t>
            </a:r>
            <a:endParaRPr b="0" lang="en-US" sz="3000" spc="-1" strike="noStrike">
              <a:solidFill>
                <a:srgbClr val="000000"/>
              </a:solidFill>
              <a:latin typeface="Arial"/>
            </a:endParaRPr>
          </a:p>
        </p:txBody>
      </p:sp>
      <p:sp>
        <p:nvSpPr>
          <p:cNvPr id="721" name="PlaceHolder 2"/>
          <p:cNvSpPr>
            <a:spLocks noGrp="1"/>
          </p:cNvSpPr>
          <p:nvPr>
            <p:ph type="ftr" idx="13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22" name="PlaceHolder 3"/>
          <p:cNvSpPr>
            <a:spLocks noGrp="1"/>
          </p:cNvSpPr>
          <p:nvPr>
            <p:ph/>
          </p:nvPr>
        </p:nvSpPr>
        <p:spPr>
          <a:xfrm>
            <a:off x="841680" y="1317240"/>
            <a:ext cx="8439840" cy="514512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r>
              <a:rPr b="1" lang="en-US" sz="1400" spc="-1" strike="noStrike">
                <a:solidFill>
                  <a:srgbClr val="000000"/>
                </a:solidFill>
                <a:latin typeface="Aptos"/>
              </a:rPr>
              <a:t>Key Point</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Degree centralization reflects fundamental trade‑offs in network design: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1" lang="en-US" sz="1100" spc="-1" strike="noStrike">
                <a:solidFill>
                  <a:srgbClr val="000000"/>
                </a:solidFill>
                <a:latin typeface="Segoe UI"/>
              </a:rPr>
              <a:t>Speed vs. redundancy</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1" lang="en-US" sz="1100" spc="-1" strike="noStrike">
                <a:solidFill>
                  <a:srgbClr val="000000"/>
                </a:solidFill>
                <a:latin typeface="Segoe UI"/>
              </a:rPr>
              <a:t>Control vs. resilience</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Sans-Serif"/>
              <a:buChar char="•"/>
              <a:tabLst>
                <a:tab algn="l" pos="0"/>
              </a:tabLst>
            </a:pPr>
            <a:r>
              <a:rPr b="1" lang="en-US" sz="1100" spc="-1" strike="noStrike">
                <a:solidFill>
                  <a:srgbClr val="000000"/>
                </a:solidFill>
                <a:latin typeface="Segoe UI"/>
              </a:rPr>
              <a:t>Efficiency vs. Vulnerability</a:t>
            </a:r>
            <a:endParaRPr b="0" lang="en-US" sz="11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23"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24" name="PlaceHolder 4"/>
          <p:cNvSpPr>
            <a:spLocks noGrp="1"/>
          </p:cNvSpPr>
          <p:nvPr>
            <p:ph type="sldNum" idx="13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9676E25B-437D-4C0F-91CA-585C584BFAD9}" type="slidenum">
              <a:rPr b="0" lang="en-US" sz="1200" spc="-1" strike="noStrike">
                <a:solidFill>
                  <a:srgbClr val="787878"/>
                </a:solidFill>
                <a:latin typeface="Aptos"/>
              </a:rPr>
              <a:t>53</a:t>
            </a:fld>
            <a:endParaRPr b="0" lang="en-US" sz="1200" spc="-1" strike="noStrike">
              <a:solidFill>
                <a:srgbClr val="000000"/>
              </a:solidFill>
              <a:latin typeface="Times New Roman"/>
            </a:endParaRPr>
          </a:p>
        </p:txBody>
      </p:sp>
    </p:spTree>
  </p:cSld>
  <p:transition>
    <p:fade/>
  </p:transition>
  <p:timing>
    <p:tnLst>
      <p:par>
        <p:cTn id="353" dur="indefinite" restart="never" nodeType="tmRoot">
          <p:childTnLst>
            <p:seq>
              <p:cTn id="354" dur="indefinite" nodeType="mainSeq">
                <p:childTnLst>
                  <p:par>
                    <p:cTn id="355" fill="hold">
                      <p:stCondLst>
                        <p:cond delay="0"/>
                      </p:stCondLst>
                      <p:childTnLst>
                        <p:par>
                          <p:cTn id="356" fill="hold">
                            <p:stCondLst>
                              <p:cond delay="0"/>
                            </p:stCondLst>
                            <p:childTnLst>
                              <p:par>
                                <p:cTn id="357" nodeType="withEffect" fill="hold" presetClass="entr" presetID="10">
                                  <p:stCondLst>
                                    <p:cond delay="250"/>
                                  </p:stCondLst>
                                  <p:iterate type="el">
                                    <p:tmAbs val="100"/>
                                  </p:iterate>
                                  <p:childTnLst>
                                    <p:set>
                                      <p:cBhvr>
                                        <p:cTn id="358" dur="1" fill="hold">
                                          <p:stCondLst>
                                            <p:cond delay="0"/>
                                          </p:stCondLst>
                                        </p:cTn>
                                        <p:tgtEl>
                                          <p:spTgt spid="722"/>
                                        </p:tgtEl>
                                        <p:attrNameLst>
                                          <p:attrName>style.visibility</p:attrName>
                                        </p:attrNameLst>
                                      </p:cBhvr>
                                      <p:to>
                                        <p:strVal val="visible"/>
                                      </p:to>
                                    </p:set>
                                    <p:animEffect filter="fade" transition="in">
                                      <p:cBhvr additive="repl">
                                        <p:cTn id="359" dur="500"/>
                                        <p:tgtEl>
                                          <p:spTgt spid="7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5" name="PlaceHolder 1"/>
          <p:cNvSpPr>
            <a:spLocks noGrp="1"/>
          </p:cNvSpPr>
          <p:nvPr>
            <p:ph type="title"/>
          </p:nvPr>
        </p:nvSpPr>
        <p:spPr>
          <a:xfrm>
            <a:off x="841680" y="389880"/>
            <a:ext cx="7771680" cy="54828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Closeness Centralization</a:t>
            </a:r>
            <a:endParaRPr b="0" lang="en-US" sz="3000" spc="-1" strike="noStrike">
              <a:solidFill>
                <a:srgbClr val="000000"/>
              </a:solidFill>
              <a:latin typeface="Arial"/>
            </a:endParaRPr>
          </a:p>
        </p:txBody>
      </p:sp>
      <p:sp>
        <p:nvSpPr>
          <p:cNvPr id="726" name="PlaceHolder 2"/>
          <p:cNvSpPr>
            <a:spLocks noGrp="1"/>
          </p:cNvSpPr>
          <p:nvPr>
            <p:ph type="ftr" idx="13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27" name="PlaceHolder 3"/>
          <p:cNvSpPr>
            <a:spLocks noGrp="1"/>
          </p:cNvSpPr>
          <p:nvPr>
            <p:ph/>
          </p:nvPr>
        </p:nvSpPr>
        <p:spPr>
          <a:xfrm>
            <a:off x="831240" y="940320"/>
            <a:ext cx="8455320" cy="54997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WHAT it Measures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Closeness centralization</a:t>
            </a:r>
            <a:r>
              <a:rPr b="0" lang="en-US" sz="1100" spc="-1" strike="noStrike">
                <a:solidFill>
                  <a:srgbClr val="000000"/>
                </a:solidFill>
                <a:latin typeface="Segoe UI"/>
              </a:rPr>
              <a:t> quantifies the </a:t>
            </a:r>
            <a:r>
              <a:rPr b="0" i="1" lang="en-US" sz="1100" spc="-1" strike="noStrike">
                <a:solidFill>
                  <a:srgbClr val="000000"/>
                </a:solidFill>
                <a:latin typeface="Segoe UI"/>
              </a:rPr>
              <a:t>inequality</a:t>
            </a:r>
            <a:r>
              <a:rPr b="0" lang="en-US" sz="1100" spc="-1" strike="noStrike">
                <a:solidFill>
                  <a:srgbClr val="000000"/>
                </a:solidFill>
                <a:latin typeface="Segoe UI"/>
              </a:rPr>
              <a:t> in </a:t>
            </a:r>
            <a:r>
              <a:rPr b="1" lang="en-US" sz="1100" spc="-1" strike="noStrike">
                <a:solidFill>
                  <a:srgbClr val="000000"/>
                </a:solidFill>
                <a:latin typeface="Segoe UI"/>
              </a:rPr>
              <a:t>closeness centrality</a:t>
            </a:r>
            <a:r>
              <a:rPr b="0" lang="en-US" sz="1100" spc="-1" strike="noStrike">
                <a:solidFill>
                  <a:srgbClr val="000000"/>
                </a:solidFill>
                <a:latin typeface="Segoe UI"/>
              </a:rPr>
              <a:t> scores across nodes in the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measures </a:t>
            </a:r>
            <a:r>
              <a:rPr b="1" lang="en-US" sz="1100" spc="-1" strike="noStrike">
                <a:solidFill>
                  <a:srgbClr val="000000"/>
                </a:solidFill>
                <a:latin typeface="Segoe UI"/>
              </a:rPr>
              <a:t>how unevenly “distance advantage” is distributed</a:t>
            </a:r>
            <a:r>
              <a:rPr b="0" lang="en-US" sz="1100" spc="-1" strike="noStrike">
                <a:solidFill>
                  <a:srgbClr val="000000"/>
                </a:solidFill>
                <a:latin typeface="Segoe UI"/>
              </a:rPr>
              <a:t>, i.e., how much more quickly some nodes can reach all others compared to the network average.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 highly centralized network (on closeness) is one where </a:t>
            </a:r>
            <a:r>
              <a:rPr b="1" lang="en-US" sz="1100" spc="-1" strike="noStrike">
                <a:solidFill>
                  <a:srgbClr val="000000"/>
                </a:solidFill>
                <a:latin typeface="Segoe UI"/>
              </a:rPr>
              <a:t>a small subset of nodes sits at the geometric “center” of the graph</a:t>
            </a:r>
            <a:r>
              <a:rPr b="0" lang="en-US" sz="1100" spc="-1" strike="noStrike">
                <a:solidFill>
                  <a:srgbClr val="000000"/>
                </a:solidFill>
                <a:latin typeface="Segoe UI"/>
              </a:rPr>
              <a:t>, enjoying systematically shorter average distances to everyone else.</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Closeness Centralization Matters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Closeness centralization captures the </a:t>
            </a:r>
            <a:r>
              <a:rPr b="1" lang="en-US" sz="1100" spc="-1" strike="noStrike">
                <a:solidFill>
                  <a:srgbClr val="000000"/>
                </a:solidFill>
                <a:latin typeface="Segoe UI"/>
              </a:rPr>
              <a:t>geometry</a:t>
            </a:r>
            <a:r>
              <a:rPr b="0" lang="en-US" sz="1100" spc="-1" strike="noStrike">
                <a:solidFill>
                  <a:srgbClr val="000000"/>
                </a:solidFill>
                <a:latin typeface="Segoe UI"/>
              </a:rPr>
              <a:t> of the network: whether communication and interaction distances are </a:t>
            </a:r>
            <a:r>
              <a:rPr b="1" lang="en-US" sz="1100" spc="-1" strike="noStrike">
                <a:solidFill>
                  <a:srgbClr val="000000"/>
                </a:solidFill>
                <a:latin typeface="Segoe UI"/>
              </a:rPr>
              <a:t>uniform</a:t>
            </a:r>
            <a:r>
              <a:rPr b="0" lang="en-US" sz="1100" spc="-1" strike="noStrike">
                <a:solidFill>
                  <a:srgbClr val="000000"/>
                </a:solidFill>
                <a:latin typeface="Segoe UI"/>
              </a:rPr>
              <a:t> or </a:t>
            </a:r>
            <a:r>
              <a:rPr b="1" lang="en-US" sz="1100" spc="-1" strike="noStrike">
                <a:solidFill>
                  <a:srgbClr val="000000"/>
                </a:solidFill>
                <a:latin typeface="Segoe UI"/>
              </a:rPr>
              <a:t>clustered around privileged actors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This gives insight into </a:t>
            </a:r>
            <a:r>
              <a:rPr b="1" lang="en-US" sz="1100" spc="-1" strike="noStrike">
                <a:solidFill>
                  <a:srgbClr val="000000"/>
                </a:solidFill>
                <a:latin typeface="Segoe UI"/>
              </a:rPr>
              <a:t>hierarchical information landscapes</a:t>
            </a:r>
            <a:r>
              <a:rPr b="0" lang="en-US" sz="1100" spc="-1" strike="noStrike">
                <a:solidFill>
                  <a:srgbClr val="000000"/>
                </a:solidFill>
                <a:latin typeface="Segoe UI"/>
              </a:rPr>
              <a:t> even when degree distributions are relatively flat.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WHEN Closeness Centralization Is Appropriate</a:t>
            </a:r>
            <a:endParaRPr b="0" lang="en-US" sz="1400" spc="-1" strike="noStrike">
              <a:solidFill>
                <a:srgbClr val="000000"/>
              </a:solidFill>
              <a:latin typeface="Arial"/>
            </a:endParaRPr>
          </a:p>
          <a:p>
            <a:pPr indent="0">
              <a:lnSpc>
                <a:spcPct val="90000"/>
              </a:lnSpc>
              <a:spcBef>
                <a:spcPts val="1001"/>
              </a:spcBef>
              <a:buNone/>
              <a:tabLst>
                <a:tab algn="l" pos="0"/>
              </a:tabLst>
            </a:pPr>
            <a:r>
              <a:rPr b="0" lang="en-US" sz="1100" spc="-1" strike="noStrike">
                <a:solidFill>
                  <a:srgbClr val="000000"/>
                </a:solidFill>
                <a:latin typeface="Segoe UI"/>
              </a:rPr>
              <a:t>Use closeness centralization when analyzing systems where </a:t>
            </a:r>
            <a:r>
              <a:rPr b="1" lang="en-US" sz="1100" spc="-1" strike="noStrike">
                <a:solidFill>
                  <a:srgbClr val="000000"/>
                </a:solidFill>
                <a:latin typeface="Segoe UI"/>
              </a:rPr>
              <a:t>distance = cost, time, or risk</a:t>
            </a:r>
            <a:r>
              <a:rPr b="0" lang="en-US" sz="1100" spc="-1" strike="noStrike">
                <a:solidFill>
                  <a:srgbClr val="000000"/>
                </a:solidFill>
                <a:latin typeface="Segoe UI"/>
              </a:rPr>
              <a:t>, including:</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Communication networks where message delay matters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Rumor, disease, or innovation diffusion processes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Organizational structures where decision dissemination speed matters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Emergency response networks where rapid reachability is crucial</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Infrastructural networks (transportation, supply chains) where path length influences efficiency</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2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29" name="PlaceHolder 4"/>
          <p:cNvSpPr>
            <a:spLocks noGrp="1"/>
          </p:cNvSpPr>
          <p:nvPr>
            <p:ph type="sldNum" idx="13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BFCAE6E7-91C2-4166-A528-0EC5082E0E76}" type="slidenum">
              <a:rPr b="0" lang="en-US" sz="1200" spc="-1" strike="noStrike">
                <a:solidFill>
                  <a:srgbClr val="787878"/>
                </a:solidFill>
                <a:latin typeface="Aptos"/>
              </a:rPr>
              <a:t>54</a:t>
            </a:fld>
            <a:endParaRPr b="0" lang="en-US" sz="1200" spc="-1" strike="noStrike">
              <a:solidFill>
                <a:srgbClr val="000000"/>
              </a:solidFill>
              <a:latin typeface="Times New Roman"/>
            </a:endParaRPr>
          </a:p>
        </p:txBody>
      </p:sp>
    </p:spTree>
  </p:cSld>
  <p:transition>
    <p:fade/>
  </p:transition>
  <p:timing>
    <p:tnLst>
      <p:par>
        <p:cTn id="360" dur="indefinite" restart="never" nodeType="tmRoot">
          <p:childTnLst>
            <p:seq>
              <p:cTn id="361" dur="indefinite" nodeType="mainSeq">
                <p:childTnLst>
                  <p:par>
                    <p:cTn id="362" fill="hold">
                      <p:stCondLst>
                        <p:cond delay="0"/>
                      </p:stCondLst>
                      <p:childTnLst>
                        <p:par>
                          <p:cTn id="363" fill="hold">
                            <p:stCondLst>
                              <p:cond delay="0"/>
                            </p:stCondLst>
                            <p:childTnLst>
                              <p:par>
                                <p:cTn id="364" nodeType="withEffect" fill="hold" presetClass="entr" presetID="10">
                                  <p:stCondLst>
                                    <p:cond delay="250"/>
                                  </p:stCondLst>
                                  <p:iterate type="el">
                                    <p:tmAbs val="100"/>
                                  </p:iterate>
                                  <p:childTnLst>
                                    <p:set>
                                      <p:cBhvr>
                                        <p:cTn id="365" dur="1" fill="hold">
                                          <p:stCondLst>
                                            <p:cond delay="0"/>
                                          </p:stCondLst>
                                        </p:cTn>
                                        <p:tgtEl>
                                          <p:spTgt spid="727"/>
                                        </p:tgtEl>
                                        <p:attrNameLst>
                                          <p:attrName>style.visibility</p:attrName>
                                        </p:attrNameLst>
                                      </p:cBhvr>
                                      <p:to>
                                        <p:strVal val="visible"/>
                                      </p:to>
                                    </p:set>
                                    <p:animEffect filter="fade" transition="in">
                                      <p:cBhvr additive="repl">
                                        <p:cTn id="366" dur="500"/>
                                        <p:tgtEl>
                                          <p:spTgt spid="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0" name="PlaceHolder 1"/>
          <p:cNvSpPr>
            <a:spLocks noGrp="1"/>
          </p:cNvSpPr>
          <p:nvPr>
            <p:ph type="title"/>
          </p:nvPr>
        </p:nvSpPr>
        <p:spPr>
          <a:xfrm>
            <a:off x="841680" y="389880"/>
            <a:ext cx="7771680" cy="52704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Closeness Centralization</a:t>
            </a:r>
            <a:endParaRPr b="0" lang="en-US" sz="3000" spc="-1" strike="noStrike">
              <a:solidFill>
                <a:srgbClr val="000000"/>
              </a:solidFill>
              <a:latin typeface="Arial"/>
            </a:endParaRPr>
          </a:p>
        </p:txBody>
      </p:sp>
      <p:sp>
        <p:nvSpPr>
          <p:cNvPr id="731" name="PlaceHolder 2"/>
          <p:cNvSpPr>
            <a:spLocks noGrp="1"/>
          </p:cNvSpPr>
          <p:nvPr>
            <p:ph type="ftr" idx="13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32" name="PlaceHolder 3"/>
          <p:cNvSpPr>
            <a:spLocks noGrp="1"/>
          </p:cNvSpPr>
          <p:nvPr>
            <p:ph/>
          </p:nvPr>
        </p:nvSpPr>
        <p:spPr>
          <a:xfrm>
            <a:off x="841680" y="797760"/>
            <a:ext cx="8445240" cy="565236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Closeness centralization exposes how connectivity is </a:t>
            </a:r>
            <a:r>
              <a:rPr b="1" lang="en-US" sz="1100" spc="-1" strike="noStrike">
                <a:solidFill>
                  <a:srgbClr val="000000"/>
                </a:solidFill>
                <a:latin typeface="Segoe UI"/>
              </a:rPr>
              <a:t>distributed</a:t>
            </a:r>
            <a:r>
              <a:rPr b="0" lang="en-US" sz="1100" spc="-1" strike="noStrike">
                <a:solidFill>
                  <a:srgbClr val="000000"/>
                </a:solidFill>
                <a:latin typeface="Segoe UI"/>
              </a:rPr>
              <a:t>, not just whether it exists.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closeness centralization implies: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A strong </a:t>
            </a:r>
            <a:r>
              <a:rPr b="1" lang="en-US" sz="1100" spc="-1" strike="noStrike">
                <a:solidFill>
                  <a:srgbClr val="000000"/>
                </a:solidFill>
                <a:latin typeface="Segoe UI"/>
              </a:rPr>
              <a:t>geodesic core</a:t>
            </a:r>
            <a:r>
              <a:rPr b="0" lang="en-US" sz="1100" spc="-1" strike="noStrike">
                <a:solidFill>
                  <a:srgbClr val="000000"/>
                </a:solidFill>
                <a:latin typeface="Segoe UI"/>
              </a:rPr>
              <a:t>, where most shortest paths involve or pivot around a few nodes.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A periphery whose connectivity depends heavily on that core.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Even if the network is connected, its </a:t>
            </a:r>
            <a:r>
              <a:rPr b="0" i="1" lang="en-US" sz="1100" spc="-1" strike="noStrike">
                <a:solidFill>
                  <a:srgbClr val="000000"/>
                </a:solidFill>
                <a:latin typeface="Segoe UI"/>
              </a:rPr>
              <a:t>shape</a:t>
            </a:r>
            <a:r>
              <a:rPr b="0" lang="en-US" sz="1100" spc="-1" strike="noStrike">
                <a:solidFill>
                  <a:srgbClr val="000000"/>
                </a:solidFill>
                <a:latin typeface="Segoe UI"/>
              </a:rPr>
              <a:t> may make some nodes systematically disadvantaged.</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Networks with high closeness centralization are </a:t>
            </a:r>
            <a:r>
              <a:rPr b="1" lang="en-US" sz="1100" spc="-1" strike="noStrike">
                <a:solidFill>
                  <a:srgbClr val="000000"/>
                </a:solidFill>
                <a:latin typeface="Segoe UI"/>
              </a:rPr>
              <a:t>robust to random failures</a:t>
            </a:r>
            <a:r>
              <a:rPr b="0" lang="en-US" sz="1100" spc="-1" strike="noStrike">
                <a:solidFill>
                  <a:srgbClr val="000000"/>
                </a:solidFill>
                <a:latin typeface="Segoe UI"/>
              </a:rPr>
              <a:t> of peripheral nodes (they are redundant and often equivalent).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They are </a:t>
            </a:r>
            <a:r>
              <a:rPr b="1" lang="en-US" sz="1100" spc="-1" strike="noStrike">
                <a:solidFill>
                  <a:srgbClr val="000000"/>
                </a:solidFill>
                <a:latin typeface="Segoe UI"/>
              </a:rPr>
              <a:t>extremely vulnerable to removal of central nodes</a:t>
            </a:r>
            <a:r>
              <a:rPr b="0" lang="en-US" sz="1100" spc="-1" strike="noStrike">
                <a:solidFill>
                  <a:srgbClr val="000000"/>
                </a:solidFill>
                <a:latin typeface="Segoe UI"/>
              </a:rPr>
              <a:t>, because: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Average shortest‑path lengths increase sharply.</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The diameter may increase or the network may fragment.</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The efficiency of communication decays disproportionately.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This makes closeness centralization a useful predictor of </a:t>
            </a:r>
            <a:r>
              <a:rPr b="1" lang="en-US" sz="1100" spc="-1" strike="noStrike">
                <a:solidFill>
                  <a:srgbClr val="000000"/>
                </a:solidFill>
                <a:latin typeface="Segoe UI"/>
              </a:rPr>
              <a:t>structural fragility under targeted attacks</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Resilience concerns the network’s </a:t>
            </a:r>
            <a:r>
              <a:rPr b="1" lang="en-US" sz="1100" spc="-1" strike="noStrike">
                <a:solidFill>
                  <a:srgbClr val="000000"/>
                </a:solidFill>
                <a:latin typeface="Segoe UI"/>
              </a:rPr>
              <a:t>ability to maintain or recover functional reachability</a:t>
            </a:r>
            <a:r>
              <a:rPr b="0" lang="en-US" sz="1100" spc="-1" strike="noStrike">
                <a:solidFill>
                  <a:srgbClr val="000000"/>
                </a:solidFill>
                <a:latin typeface="Segoe UI"/>
              </a:rPr>
              <a:t> after disruptions.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Highly centralized networks tend to be </a:t>
            </a:r>
            <a:r>
              <a:rPr b="1" lang="en-US" sz="1100" spc="-1" strike="noStrike">
                <a:solidFill>
                  <a:srgbClr val="000000"/>
                </a:solidFill>
                <a:latin typeface="Segoe UI"/>
              </a:rPr>
              <a:t>slow to recover</a:t>
            </a:r>
            <a:r>
              <a:rPr b="0" lang="en-US" sz="1100" spc="-1" strike="noStrike">
                <a:solidFill>
                  <a:srgbClr val="000000"/>
                </a:solidFill>
                <a:latin typeface="Segoe UI"/>
              </a:rPr>
              <a:t>: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Loss of a central node creates </a:t>
            </a:r>
            <a:r>
              <a:rPr b="1" lang="en-US" sz="1100" spc="-1" strike="noStrike">
                <a:solidFill>
                  <a:srgbClr val="000000"/>
                </a:solidFill>
                <a:latin typeface="Segoe UI"/>
              </a:rPr>
              <a:t>global bottlenecks</a:t>
            </a:r>
            <a:r>
              <a:rPr b="0" lang="en-US" sz="1100" spc="-1" strike="noStrike">
                <a:solidFill>
                  <a:srgbClr val="000000"/>
                </a:solidFill>
                <a:latin typeface="Segoe UI"/>
              </a:rPr>
              <a:t> or fragmented components.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Recovery requires creating new long‑range ties, which may not be feasible.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Low closeness centralization networks retain </a:t>
            </a:r>
            <a:r>
              <a:rPr b="1" lang="en-US" sz="1100" spc="-1" strike="noStrike">
                <a:solidFill>
                  <a:srgbClr val="000000"/>
                </a:solidFill>
                <a:latin typeface="Segoe UI"/>
              </a:rPr>
              <a:t>multiple near‑equivalent alternative routes</a:t>
            </a:r>
            <a:r>
              <a:rPr b="0" lang="en-US" sz="1100" spc="-1" strike="noStrike">
                <a:solidFill>
                  <a:srgbClr val="000000"/>
                </a:solidFill>
                <a:latin typeface="Segoe UI"/>
              </a:rPr>
              <a:t>, enabling faster functional recovery.</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499"/>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33"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34" name="PlaceHolder 4"/>
          <p:cNvSpPr>
            <a:spLocks noGrp="1"/>
          </p:cNvSpPr>
          <p:nvPr>
            <p:ph type="sldNum" idx="13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CE4A6F0A-2F58-423C-95C5-3F0AE08FBE96}" type="slidenum">
              <a:rPr b="0" lang="en-US" sz="1200" spc="-1" strike="noStrike">
                <a:solidFill>
                  <a:srgbClr val="787878"/>
                </a:solidFill>
                <a:latin typeface="Aptos"/>
              </a:rPr>
              <a:t>55</a:t>
            </a:fld>
            <a:endParaRPr b="0" lang="en-US" sz="1200" spc="-1" strike="noStrike">
              <a:solidFill>
                <a:srgbClr val="000000"/>
              </a:solidFill>
              <a:latin typeface="Times New Roman"/>
            </a:endParaRPr>
          </a:p>
        </p:txBody>
      </p:sp>
    </p:spTree>
  </p:cSld>
  <p:transition>
    <p:fade/>
  </p:transition>
  <p:timing>
    <p:tnLst>
      <p:par>
        <p:cTn id="367" dur="indefinite" restart="never" nodeType="tmRoot">
          <p:childTnLst>
            <p:seq>
              <p:cTn id="368" dur="indefinite" nodeType="mainSeq">
                <p:childTnLst>
                  <p:par>
                    <p:cTn id="369" fill="hold">
                      <p:stCondLst>
                        <p:cond delay="0"/>
                      </p:stCondLst>
                      <p:childTnLst>
                        <p:par>
                          <p:cTn id="370" fill="hold">
                            <p:stCondLst>
                              <p:cond delay="0"/>
                            </p:stCondLst>
                            <p:childTnLst>
                              <p:par>
                                <p:cTn id="371" nodeType="withEffect" fill="hold" presetClass="entr" presetID="10">
                                  <p:stCondLst>
                                    <p:cond delay="250"/>
                                  </p:stCondLst>
                                  <p:iterate type="el">
                                    <p:tmAbs val="100"/>
                                  </p:iterate>
                                  <p:childTnLst>
                                    <p:set>
                                      <p:cBhvr>
                                        <p:cTn id="372" dur="1" fill="hold">
                                          <p:stCondLst>
                                            <p:cond delay="0"/>
                                          </p:stCondLst>
                                        </p:cTn>
                                        <p:tgtEl>
                                          <p:spTgt spid="732"/>
                                        </p:tgtEl>
                                        <p:attrNameLst>
                                          <p:attrName>style.visibility</p:attrName>
                                        </p:attrNameLst>
                                      </p:cBhvr>
                                      <p:to>
                                        <p:strVal val="visible"/>
                                      </p:to>
                                    </p:set>
                                    <p:animEffect filter="fade" transition="in">
                                      <p:cBhvr additive="repl">
                                        <p:cTn id="373" dur="500"/>
                                        <p:tgtEl>
                                          <p:spTgt spid="7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5" name="PlaceHolder 1"/>
          <p:cNvSpPr>
            <a:spLocks noGrp="1"/>
          </p:cNvSpPr>
          <p:nvPr>
            <p:ph type="title"/>
          </p:nvPr>
        </p:nvSpPr>
        <p:spPr>
          <a:xfrm>
            <a:off x="841680" y="389880"/>
            <a:ext cx="7771680" cy="56916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Closeness Centralization</a:t>
            </a:r>
            <a:endParaRPr b="0" lang="en-US" sz="3000" spc="-1" strike="noStrike">
              <a:solidFill>
                <a:srgbClr val="000000"/>
              </a:solidFill>
              <a:latin typeface="Arial"/>
            </a:endParaRPr>
          </a:p>
        </p:txBody>
      </p:sp>
      <p:sp>
        <p:nvSpPr>
          <p:cNvPr id="736" name="PlaceHolder 2"/>
          <p:cNvSpPr>
            <a:spLocks noGrp="1"/>
          </p:cNvSpPr>
          <p:nvPr>
            <p:ph type="ftr" idx="13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37" name="PlaceHolder 3"/>
          <p:cNvSpPr>
            <a:spLocks noGrp="1"/>
          </p:cNvSpPr>
          <p:nvPr>
            <p:ph/>
          </p:nvPr>
        </p:nvSpPr>
        <p:spPr>
          <a:xfrm>
            <a:off x="841680" y="1305720"/>
            <a:ext cx="8434440" cy="5155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499"/>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3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39" name="PlaceHolder 4"/>
          <p:cNvSpPr>
            <a:spLocks noGrp="1"/>
          </p:cNvSpPr>
          <p:nvPr>
            <p:ph type="sldNum" idx="13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C362E688-2B3E-4897-82CA-CDE6AF8670BE}" type="slidenum">
              <a:rPr b="0" lang="en-US" sz="1200" spc="-1" strike="noStrike">
                <a:solidFill>
                  <a:srgbClr val="787878"/>
                </a:solidFill>
                <a:latin typeface="Aptos"/>
              </a:rPr>
              <a:t>56</a:t>
            </a:fld>
            <a:endParaRPr b="0" lang="en-US" sz="1200" spc="-1" strike="noStrike">
              <a:solidFill>
                <a:srgbClr val="000000"/>
              </a:solidFill>
              <a:latin typeface="Times New Roman"/>
            </a:endParaRPr>
          </a:p>
        </p:txBody>
      </p:sp>
    </p:spTree>
  </p:cSld>
  <p:transition>
    <p:fade/>
  </p:transition>
  <p:timing>
    <p:tnLst>
      <p:par>
        <p:cTn id="374" dur="indefinite" restart="never" nodeType="tmRoot">
          <p:childTnLst>
            <p:seq>
              <p:cTn id="375" dur="indefinite" nodeType="mainSeq">
                <p:childTnLst>
                  <p:par>
                    <p:cTn id="376" fill="hold">
                      <p:stCondLst>
                        <p:cond delay="0"/>
                      </p:stCondLst>
                      <p:childTnLst>
                        <p:par>
                          <p:cTn id="377" fill="hold">
                            <p:stCondLst>
                              <p:cond delay="0"/>
                            </p:stCondLst>
                            <p:childTnLst>
                              <p:par>
                                <p:cTn id="378" nodeType="withEffect" fill="hold" presetClass="entr" presetID="10">
                                  <p:stCondLst>
                                    <p:cond delay="250"/>
                                  </p:stCondLst>
                                  <p:endCondLst>
                                    <p:cond delay="0" evt="begin">
                                      <p:tn val="378"/>
                                    </p:cond>
                                  </p:endCondLst>
                                  <p:iterate type="el">
                                    <p:tmAbs val="100"/>
                                  </p:iterate>
                                  <p:childTnLst>
                                    <p:set>
                                      <p:cBhvr>
                                        <p:cTn id="379" dur="1" fill="hold">
                                          <p:stCondLst>
                                            <p:cond delay="0"/>
                                          </p:stCondLst>
                                        </p:cTn>
                                        <p:tgtEl>
                                          <p:spTgt spid="737"/>
                                        </p:tgtEl>
                                        <p:attrNameLst>
                                          <p:attrName>style.visibility</p:attrName>
                                        </p:attrNameLst>
                                      </p:cBhvr>
                                      <p:to>
                                        <p:strVal val="visible"/>
                                      </p:to>
                                    </p:set>
                                    <p:animEffect filter="fade" transition="in">
                                      <p:cBhvr additive="repl">
                                        <p:cTn id="380" dur="500"/>
                                        <p:tgtEl>
                                          <p:spTgt spid="7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0" name="PlaceHolder 1"/>
          <p:cNvSpPr>
            <a:spLocks noGrp="1"/>
          </p:cNvSpPr>
          <p:nvPr>
            <p:ph type="title"/>
          </p:nvPr>
        </p:nvSpPr>
        <p:spPr>
          <a:xfrm>
            <a:off x="841680" y="389880"/>
            <a:ext cx="7771680" cy="52704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Betweenness Centralization</a:t>
            </a:r>
            <a:endParaRPr b="0" lang="en-US" sz="3000" spc="-1" strike="noStrike">
              <a:solidFill>
                <a:srgbClr val="000000"/>
              </a:solidFill>
              <a:latin typeface="Arial"/>
            </a:endParaRPr>
          </a:p>
        </p:txBody>
      </p:sp>
      <p:sp>
        <p:nvSpPr>
          <p:cNvPr id="741" name="PlaceHolder 2"/>
          <p:cNvSpPr>
            <a:spLocks noGrp="1"/>
          </p:cNvSpPr>
          <p:nvPr>
            <p:ph type="ftr" idx="14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42" name="PlaceHolder 3"/>
          <p:cNvSpPr>
            <a:spLocks noGrp="1"/>
          </p:cNvSpPr>
          <p:nvPr>
            <p:ph/>
          </p:nvPr>
        </p:nvSpPr>
        <p:spPr>
          <a:xfrm>
            <a:off x="831240" y="920520"/>
            <a:ext cx="8455320" cy="5519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WHAT it Measures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Betweenness centralization</a:t>
            </a:r>
            <a:r>
              <a:rPr b="0" lang="en-US" sz="1100" spc="-1" strike="noStrike">
                <a:solidFill>
                  <a:srgbClr val="000000"/>
                </a:solidFill>
                <a:latin typeface="Segoe UI"/>
              </a:rPr>
              <a:t> quantifies the </a:t>
            </a:r>
            <a:r>
              <a:rPr b="1" lang="en-US" sz="1100" spc="-1" strike="noStrike">
                <a:solidFill>
                  <a:srgbClr val="000000"/>
                </a:solidFill>
                <a:latin typeface="Segoe UI"/>
              </a:rPr>
              <a:t>inequality in betweenness centrality across nodes</a:t>
            </a:r>
            <a:r>
              <a:rPr b="0" lang="en-US" sz="1100" spc="-1" strike="noStrike">
                <a:solidFill>
                  <a:srgbClr val="000000"/>
                </a:solidFill>
                <a:latin typeface="Segoe UI"/>
              </a:rPr>
              <a:t> in the entire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indicates </a:t>
            </a:r>
            <a:r>
              <a:rPr b="1" lang="en-US" sz="1100" spc="-1" strike="noStrike">
                <a:solidFill>
                  <a:srgbClr val="000000"/>
                </a:solidFill>
                <a:latin typeface="Segoe UI"/>
              </a:rPr>
              <a:t>how concentrated control of geodesic (shortest‑path) traffic</a:t>
            </a:r>
            <a:r>
              <a:rPr b="0" lang="en-US" sz="1100" spc="-1" strike="noStrike">
                <a:solidFill>
                  <a:srgbClr val="000000"/>
                </a:solidFill>
                <a:latin typeface="Segoe UI"/>
              </a:rPr>
              <a:t> is in a small subset of nodes.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 network with high betweenness centralization has </a:t>
            </a:r>
            <a:r>
              <a:rPr b="1" lang="en-US" sz="1100" spc="-1" strike="noStrike">
                <a:solidFill>
                  <a:srgbClr val="000000"/>
                </a:solidFill>
                <a:latin typeface="Segoe UI"/>
              </a:rPr>
              <a:t>few structural “gatekeepers”</a:t>
            </a:r>
            <a:r>
              <a:rPr b="0" lang="en-US" sz="1100" spc="-1" strike="noStrike">
                <a:solidFill>
                  <a:srgbClr val="000000"/>
                </a:solidFill>
                <a:latin typeface="Segoe UI"/>
              </a:rPr>
              <a:t> through which a large share of shortest paths pass; a low‑centralized network distributes brokerage more evenly.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i="1" lang="en-US" sz="1100" spc="-1" strike="noStrike">
                <a:solidFill>
                  <a:srgbClr val="000000"/>
                </a:solidFill>
                <a:latin typeface="Segoe UI"/>
              </a:rPr>
              <a:t>“</a:t>
            </a:r>
            <a:r>
              <a:rPr b="0" i="1" lang="en-US" sz="1100" spc="-1" strike="noStrike">
                <a:solidFill>
                  <a:srgbClr val="000000"/>
                </a:solidFill>
                <a:latin typeface="Segoe UI"/>
              </a:rPr>
              <a:t>How much does the network’s communication/control structure rely on a few chokepoints?”</a:t>
            </a:r>
            <a:br>
              <a:rPr sz="1100"/>
            </a:br>
            <a:r>
              <a:rPr b="0" i="1" lang="en-US" sz="1100" spc="-1" strike="noStrike">
                <a:solidFill>
                  <a:srgbClr val="000000"/>
                </a:solidFill>
                <a:latin typeface="Segoe UI"/>
              </a:rPr>
              <a:t> </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it Matters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Betweenness centralization captures </a:t>
            </a:r>
            <a:r>
              <a:rPr b="1" lang="en-US" sz="1100" spc="-1" strike="noStrike">
                <a:solidFill>
                  <a:srgbClr val="000000"/>
                </a:solidFill>
                <a:latin typeface="Segoe UI"/>
              </a:rPr>
              <a:t>structural mediation of flow</a:t>
            </a:r>
            <a:r>
              <a:rPr b="0" lang="en-US" sz="1100" spc="-1" strike="noStrike">
                <a:solidFill>
                  <a:srgbClr val="000000"/>
                </a:solidFill>
                <a:latin typeface="Segoe UI"/>
              </a:rPr>
              <a:t>: who (collectively) sits on the </a:t>
            </a:r>
            <a:r>
              <a:rPr b="1" lang="en-US" sz="1100" spc="-1" strike="noStrike">
                <a:solidFill>
                  <a:srgbClr val="000000"/>
                </a:solidFill>
                <a:latin typeface="Segoe UI"/>
              </a:rPr>
              <a:t>critical corridors</a:t>
            </a:r>
            <a:r>
              <a:rPr b="0" lang="en-US" sz="1100" spc="-1" strike="noStrike">
                <a:solidFill>
                  <a:srgbClr val="000000"/>
                </a:solidFill>
                <a:latin typeface="Segoe UI"/>
              </a:rPr>
              <a:t> connecting otherwise distant parts of the graph.</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Mechanistically, when shortest paths define the dominant routing, </a:t>
            </a:r>
            <a:r>
              <a:rPr b="1" lang="en-US" sz="1100" spc="-1" strike="noStrike">
                <a:solidFill>
                  <a:srgbClr val="000000"/>
                </a:solidFill>
                <a:latin typeface="Segoe UI"/>
              </a:rPr>
              <a:t>gatekeeper nodes</a:t>
            </a:r>
            <a:r>
              <a:rPr b="0" lang="en-US" sz="1100" spc="-1" strike="noStrike">
                <a:solidFill>
                  <a:srgbClr val="000000"/>
                </a:solidFill>
                <a:latin typeface="Segoe UI"/>
              </a:rPr>
              <a:t> acquire </a:t>
            </a:r>
            <a:r>
              <a:rPr b="1" lang="en-US" sz="1100" spc="-1" strike="noStrike">
                <a:solidFill>
                  <a:srgbClr val="000000"/>
                </a:solidFill>
                <a:latin typeface="Segoe UI"/>
              </a:rPr>
              <a:t>disproportionate influence</a:t>
            </a:r>
            <a:r>
              <a:rPr b="0" lang="en-US" sz="1100" spc="-1" strike="noStrike">
                <a:solidFill>
                  <a:srgbClr val="000000"/>
                </a:solidFill>
                <a:latin typeface="Segoe UI"/>
              </a:rPr>
              <a:t> over information, resources, permissions, or risks that must traverse the network.</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WHEN it is Appropriate</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Use betweenness centralization when: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Routing or interaction is well‑approximated by shortest paths</a:t>
            </a:r>
            <a:r>
              <a:rPr b="0" lang="en-US" sz="1100" spc="-1" strike="noStrike">
                <a:solidFill>
                  <a:srgbClr val="000000"/>
                </a:solidFill>
                <a:latin typeface="Segoe UI"/>
              </a:rPr>
              <a:t> (or efficient path choice), e.g., managerial approval chains, hub‑based logistics, formal communication protocols, many search/navigation processes.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You care about </a:t>
            </a:r>
            <a:r>
              <a:rPr b="1" lang="en-US" sz="1100" spc="-1" strike="noStrike">
                <a:solidFill>
                  <a:srgbClr val="000000"/>
                </a:solidFill>
                <a:latin typeface="Segoe UI"/>
              </a:rPr>
              <a:t>brokerage, chokepoints, oversight, or inter‑community bridges</a:t>
            </a:r>
            <a:r>
              <a:rPr b="0" lang="en-US" sz="1100" spc="-1" strike="noStrike">
                <a:solidFill>
                  <a:srgbClr val="000000"/>
                </a:solidFill>
                <a:latin typeface="Segoe UI"/>
              </a:rPr>
              <a:t>, e.g., compliance gateways, security screening, supply‑chain gateways, or brokers linking otherwise weakly connected communities.</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Limitation:</a:t>
            </a:r>
            <a:br>
              <a:rPr sz="1100"/>
            </a:br>
            <a:r>
              <a:rPr b="0" lang="en-US" sz="1100" spc="-1" strike="noStrike">
                <a:solidFill>
                  <a:srgbClr val="000000"/>
                </a:solidFill>
                <a:latin typeface="Segoe UI"/>
              </a:rPr>
              <a:t>If actual flows </a:t>
            </a:r>
            <a:r>
              <a:rPr b="1" lang="en-US" sz="1100" spc="-1" strike="noStrike">
                <a:solidFill>
                  <a:srgbClr val="000000"/>
                </a:solidFill>
                <a:latin typeface="Segoe UI"/>
              </a:rPr>
              <a:t>aren’t shortest‑path‑like</a:t>
            </a:r>
            <a:r>
              <a:rPr b="0" lang="en-US" sz="1100" spc="-1" strike="noStrike">
                <a:solidFill>
                  <a:srgbClr val="000000"/>
                </a:solidFill>
                <a:latin typeface="Segoe UI"/>
              </a:rPr>
              <a:t> (e.g., random exploration, broadcast to all neighbors each step), betweenness centralization may </a:t>
            </a:r>
            <a:r>
              <a:rPr b="1" lang="en-US" sz="1100" spc="-1" strike="noStrike">
                <a:solidFill>
                  <a:srgbClr val="000000"/>
                </a:solidFill>
                <a:latin typeface="Segoe UI"/>
              </a:rPr>
              <a:t>misrepresent</a:t>
            </a:r>
            <a:r>
              <a:rPr b="0" lang="en-US" sz="1100" spc="-1" strike="noStrike">
                <a:solidFill>
                  <a:srgbClr val="000000"/>
                </a:solidFill>
                <a:latin typeface="Segoe UI"/>
              </a:rPr>
              <a:t> control.</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43"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44" name="PlaceHolder 4"/>
          <p:cNvSpPr>
            <a:spLocks noGrp="1"/>
          </p:cNvSpPr>
          <p:nvPr>
            <p:ph type="sldNum" idx="14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3EFA9E4C-D020-4E2F-9003-78CA271DC515}" type="slidenum">
              <a:rPr b="0" lang="en-US" sz="1200" spc="-1" strike="noStrike">
                <a:solidFill>
                  <a:srgbClr val="787878"/>
                </a:solidFill>
                <a:latin typeface="Aptos"/>
              </a:rPr>
              <a:t>57</a:t>
            </a:fld>
            <a:endParaRPr b="0" lang="en-US" sz="1200" spc="-1" strike="noStrike">
              <a:solidFill>
                <a:srgbClr val="000000"/>
              </a:solidFill>
              <a:latin typeface="Times New Roman"/>
            </a:endParaRPr>
          </a:p>
        </p:txBody>
      </p:sp>
    </p:spTree>
  </p:cSld>
  <p:transition>
    <p:fade/>
  </p:transition>
  <p:timing>
    <p:tnLst>
      <p:par>
        <p:cTn id="381" dur="indefinite" restart="never" nodeType="tmRoot">
          <p:childTnLst>
            <p:seq>
              <p:cTn id="382" dur="indefinite" nodeType="mainSeq">
                <p:childTnLst>
                  <p:par>
                    <p:cTn id="383" fill="hold">
                      <p:stCondLst>
                        <p:cond delay="0"/>
                      </p:stCondLst>
                      <p:childTnLst>
                        <p:par>
                          <p:cTn id="384" fill="hold">
                            <p:stCondLst>
                              <p:cond delay="0"/>
                            </p:stCondLst>
                            <p:childTnLst>
                              <p:par>
                                <p:cTn id="385" nodeType="withEffect" fill="hold" presetClass="entr" presetID="10">
                                  <p:stCondLst>
                                    <p:cond delay="250"/>
                                  </p:stCondLst>
                                  <p:iterate type="el">
                                    <p:tmAbs val="100"/>
                                  </p:iterate>
                                  <p:childTnLst>
                                    <p:set>
                                      <p:cBhvr>
                                        <p:cTn id="386" dur="1" fill="hold">
                                          <p:stCondLst>
                                            <p:cond delay="0"/>
                                          </p:stCondLst>
                                        </p:cTn>
                                        <p:tgtEl>
                                          <p:spTgt spid="742"/>
                                        </p:tgtEl>
                                        <p:attrNameLst>
                                          <p:attrName>style.visibility</p:attrName>
                                        </p:attrNameLst>
                                      </p:cBhvr>
                                      <p:to>
                                        <p:strVal val="visible"/>
                                      </p:to>
                                    </p:set>
                                    <p:animEffect filter="fade" transition="in">
                                      <p:cBhvr additive="repl">
                                        <p:cTn id="387" dur="500"/>
                                        <p:tgtEl>
                                          <p:spTgt spid="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5" name="PlaceHolder 1"/>
          <p:cNvSpPr>
            <a:spLocks noGrp="1"/>
          </p:cNvSpPr>
          <p:nvPr>
            <p:ph type="title"/>
          </p:nvPr>
        </p:nvSpPr>
        <p:spPr>
          <a:xfrm>
            <a:off x="841680" y="389880"/>
            <a:ext cx="7771680" cy="52704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Betweenness Centralization</a:t>
            </a:r>
            <a:endParaRPr b="0" lang="en-US" sz="3000" spc="-1" strike="noStrike">
              <a:solidFill>
                <a:srgbClr val="000000"/>
              </a:solidFill>
              <a:latin typeface="Arial"/>
            </a:endParaRPr>
          </a:p>
        </p:txBody>
      </p:sp>
      <p:sp>
        <p:nvSpPr>
          <p:cNvPr id="746" name="PlaceHolder 2"/>
          <p:cNvSpPr>
            <a:spLocks noGrp="1"/>
          </p:cNvSpPr>
          <p:nvPr>
            <p:ph type="ftr" idx="14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47" name="PlaceHolder 3"/>
          <p:cNvSpPr>
            <a:spLocks noGrp="1"/>
          </p:cNvSpPr>
          <p:nvPr>
            <p:ph/>
          </p:nvPr>
        </p:nvSpPr>
        <p:spPr>
          <a:xfrm>
            <a:off x="831240" y="920520"/>
            <a:ext cx="8455320" cy="5519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100" spc="-1" strike="noStrike">
                <a:solidFill>
                  <a:srgbClr val="000000"/>
                </a:solidFill>
                <a:latin typeface="Segoe UI"/>
              </a:rPr>
              <a:t>Connectivity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betweenness centralization often coincides with a </a:t>
            </a:r>
            <a:r>
              <a:rPr b="1" lang="en-US" sz="1100" spc="-1" strike="noStrike">
                <a:solidFill>
                  <a:srgbClr val="000000"/>
                </a:solidFill>
                <a:latin typeface="Segoe UI"/>
              </a:rPr>
              <a:t>bridge‑like backbone</a:t>
            </a:r>
            <a:r>
              <a:rPr b="0" lang="en-US" sz="1100" spc="-1" strike="noStrike">
                <a:solidFill>
                  <a:srgbClr val="000000"/>
                </a:solidFill>
                <a:latin typeface="Segoe UI"/>
              </a:rPr>
              <a:t>: connectivity relies on a few </a:t>
            </a:r>
            <a:r>
              <a:rPr b="1" lang="en-US" sz="1100" spc="-1" strike="noStrike">
                <a:solidFill>
                  <a:srgbClr val="000000"/>
                </a:solidFill>
                <a:latin typeface="Segoe UI"/>
              </a:rPr>
              <a:t>intermediary nodes</a:t>
            </a:r>
            <a:r>
              <a:rPr b="0" lang="en-US" sz="1100" spc="-1" strike="noStrike">
                <a:solidFill>
                  <a:srgbClr val="000000"/>
                </a:solidFill>
                <a:latin typeface="Segoe UI"/>
              </a:rPr>
              <a:t> to link regions.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Such networks are connected, but </a:t>
            </a:r>
            <a:r>
              <a:rPr b="1" lang="en-US" sz="1100" spc="-1" strike="noStrike">
                <a:solidFill>
                  <a:srgbClr val="000000"/>
                </a:solidFill>
                <a:latin typeface="Segoe UI"/>
              </a:rPr>
              <a:t>structurally “pinched”</a:t>
            </a:r>
            <a:r>
              <a:rPr b="0" lang="en-US" sz="1100" spc="-1" strike="noStrike">
                <a:solidFill>
                  <a:srgbClr val="000000"/>
                </a:solidFill>
                <a:latin typeface="Segoe UI"/>
              </a:rPr>
              <a:t>—many shortest routes traverse the same narrow set of mediators.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Robustness (resistance to failure)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Random failures</a:t>
            </a:r>
            <a:r>
              <a:rPr b="0" lang="en-US" sz="1100" spc="-1" strike="noStrike">
                <a:solidFill>
                  <a:srgbClr val="000000"/>
                </a:solidFill>
                <a:latin typeface="Segoe UI"/>
              </a:rPr>
              <a:t>: often moderately robust (random removals tend to hit peripheral, low‑betweenness nodes).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Targeted attacks</a:t>
            </a:r>
            <a:r>
              <a:rPr b="0" lang="en-US" sz="1100" spc="-1" strike="noStrike">
                <a:solidFill>
                  <a:srgbClr val="000000"/>
                </a:solidFill>
                <a:latin typeface="Segoe UI"/>
              </a:rPr>
              <a:t> on high‑betweenness gatekeepers: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Sharp increases</a:t>
            </a:r>
            <a:r>
              <a:rPr b="0" lang="en-US" sz="1100" spc="-1" strike="noStrike">
                <a:solidFill>
                  <a:srgbClr val="000000"/>
                </a:solidFill>
                <a:latin typeface="Segoe UI"/>
              </a:rPr>
              <a:t> in average shortest‑path length and diameter;</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Potential </a:t>
            </a:r>
            <a:r>
              <a:rPr b="1" lang="en-US" sz="1100" spc="-1" strike="noStrike">
                <a:solidFill>
                  <a:srgbClr val="000000"/>
                </a:solidFill>
                <a:latin typeface="Segoe UI"/>
              </a:rPr>
              <a:t>fragmentation</a:t>
            </a:r>
            <a:r>
              <a:rPr b="0" lang="en-US" sz="1100" spc="-1" strike="noStrike">
                <a:solidFill>
                  <a:srgbClr val="000000"/>
                </a:solidFill>
                <a:latin typeface="Segoe UI"/>
              </a:rPr>
              <a:t> (especially if those nodes are also articulation points);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Loss of functional reachability</a:t>
            </a:r>
            <a:r>
              <a:rPr b="0" lang="en-US" sz="1100" spc="-1" strike="noStrike">
                <a:solidFill>
                  <a:srgbClr val="000000"/>
                </a:solidFill>
                <a:latin typeface="Segoe UI"/>
              </a:rPr>
              <a:t> between communities even if the giant component survives.</a:t>
            </a:r>
            <a:endParaRPr b="0" lang="en-US" sz="1100" spc="-1" strike="noStrike">
              <a:solidFill>
                <a:srgbClr val="000000"/>
              </a:solidFill>
              <a:latin typeface="Arial"/>
            </a:endParaRPr>
          </a:p>
          <a:p>
            <a:pPr marL="514440" indent="0">
              <a:lnSpc>
                <a:spcPct val="90000"/>
              </a:lnSpc>
              <a:spcBef>
                <a:spcPts val="499"/>
              </a:spcBef>
              <a:buNone/>
              <a:tabLst>
                <a:tab algn="l" pos="0"/>
              </a:tabLst>
            </a:pPr>
            <a:endParaRPr b="0" lang="en-US" sz="1100" spc="-1" strike="noStrike">
              <a:solidFill>
                <a:srgbClr val="000000"/>
              </a:solidFill>
              <a:latin typeface="Arial"/>
            </a:endParaRPr>
          </a:p>
          <a:p>
            <a:pPr marL="514440" indent="0">
              <a:lnSpc>
                <a:spcPct val="90000"/>
              </a:lnSpc>
              <a:spcBef>
                <a:spcPts val="1001"/>
              </a:spcBef>
              <a:buNone/>
              <a:tabLst>
                <a:tab algn="l" pos="0"/>
              </a:tabLst>
            </a:pPr>
            <a:r>
              <a:rPr b="1" lang="en-US" sz="1100" spc="-1" strike="noStrike">
                <a:solidFill>
                  <a:srgbClr val="000000"/>
                </a:solidFill>
                <a:latin typeface="Segoe UI"/>
              </a:rPr>
              <a:t>Resilience (recovery/continuity under disruption)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betweenness centralization implies </a:t>
            </a:r>
            <a:r>
              <a:rPr b="1" lang="en-US" sz="1100" spc="-1" strike="noStrike">
                <a:solidFill>
                  <a:srgbClr val="000000"/>
                </a:solidFill>
                <a:latin typeface="Segoe UI"/>
              </a:rPr>
              <a:t>slow recovery</a:t>
            </a:r>
            <a:r>
              <a:rPr b="0" lang="en-US" sz="1100" spc="-1" strike="noStrike">
                <a:solidFill>
                  <a:srgbClr val="000000"/>
                </a:solidFill>
                <a:latin typeface="Segoe UI"/>
              </a:rPr>
              <a:t> unless the system can quickly add </a:t>
            </a:r>
            <a:r>
              <a:rPr b="1" lang="en-US" sz="1100" spc="-1" strike="noStrike">
                <a:solidFill>
                  <a:srgbClr val="000000"/>
                </a:solidFill>
                <a:latin typeface="Segoe UI"/>
              </a:rPr>
              <a:t>alternative cross‑links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Low betweenness centralization networks exhibit </a:t>
            </a:r>
            <a:r>
              <a:rPr b="1" lang="en-US" sz="1100" spc="-1" strike="noStrike">
                <a:solidFill>
                  <a:srgbClr val="000000"/>
                </a:solidFill>
                <a:latin typeface="Segoe UI"/>
              </a:rPr>
              <a:t>route diversity</a:t>
            </a:r>
            <a:r>
              <a:rPr b="0" lang="en-US" sz="1100" spc="-1" strike="noStrike">
                <a:solidFill>
                  <a:srgbClr val="000000"/>
                </a:solidFill>
                <a:latin typeface="Segoe UI"/>
              </a:rPr>
              <a:t> and </a:t>
            </a:r>
            <a:r>
              <a:rPr b="1" lang="en-US" sz="1100" spc="-1" strike="noStrike">
                <a:solidFill>
                  <a:srgbClr val="000000"/>
                </a:solidFill>
                <a:latin typeface="Segoe UI"/>
              </a:rPr>
              <a:t>faster functional recovery</a:t>
            </a:r>
            <a:r>
              <a:rPr b="0" lang="en-US" sz="1100" spc="-1" strike="noStrike">
                <a:solidFill>
                  <a:srgbClr val="000000"/>
                </a:solidFill>
                <a:latin typeface="Segoe UI"/>
              </a:rPr>
              <a:t>, as traffic can be rerouted with minimal rewiring.</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4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49" name="PlaceHolder 4"/>
          <p:cNvSpPr>
            <a:spLocks noGrp="1"/>
          </p:cNvSpPr>
          <p:nvPr>
            <p:ph type="sldNum" idx="14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31A13763-09DB-49C3-98ED-2E71BC6F9FEC}" type="slidenum">
              <a:rPr b="0" lang="en-US" sz="1200" spc="-1" strike="noStrike">
                <a:solidFill>
                  <a:srgbClr val="787878"/>
                </a:solidFill>
                <a:latin typeface="Aptos"/>
              </a:rPr>
              <a:t>58</a:t>
            </a:fld>
            <a:endParaRPr b="0" lang="en-US" sz="1200" spc="-1" strike="noStrike">
              <a:solidFill>
                <a:srgbClr val="000000"/>
              </a:solidFill>
              <a:latin typeface="Times New Roman"/>
            </a:endParaRPr>
          </a:p>
        </p:txBody>
      </p:sp>
    </p:spTree>
  </p:cSld>
  <p:transition>
    <p:fade/>
  </p:transition>
  <p:timing>
    <p:tnLst>
      <p:par>
        <p:cTn id="388" dur="indefinite" restart="never" nodeType="tmRoot">
          <p:childTnLst>
            <p:seq>
              <p:cTn id="389" dur="indefinite" nodeType="mainSeq">
                <p:childTnLst>
                  <p:par>
                    <p:cTn id="390" fill="hold">
                      <p:stCondLst>
                        <p:cond delay="0"/>
                      </p:stCondLst>
                      <p:childTnLst>
                        <p:par>
                          <p:cTn id="391" fill="hold">
                            <p:stCondLst>
                              <p:cond delay="0"/>
                            </p:stCondLst>
                            <p:childTnLst>
                              <p:par>
                                <p:cTn id="392" nodeType="withEffect" fill="hold" presetClass="entr" presetID="10">
                                  <p:stCondLst>
                                    <p:cond delay="250"/>
                                  </p:stCondLst>
                                  <p:iterate type="el">
                                    <p:tmAbs val="100"/>
                                  </p:iterate>
                                  <p:childTnLst>
                                    <p:set>
                                      <p:cBhvr>
                                        <p:cTn id="393" dur="1" fill="hold">
                                          <p:stCondLst>
                                            <p:cond delay="0"/>
                                          </p:stCondLst>
                                        </p:cTn>
                                        <p:tgtEl>
                                          <p:spTgt spid="747"/>
                                        </p:tgtEl>
                                        <p:attrNameLst>
                                          <p:attrName>style.visibility</p:attrName>
                                        </p:attrNameLst>
                                      </p:cBhvr>
                                      <p:to>
                                        <p:strVal val="visible"/>
                                      </p:to>
                                    </p:set>
                                    <p:animEffect filter="fade" transition="in">
                                      <p:cBhvr additive="repl">
                                        <p:cTn id="394" dur="500"/>
                                        <p:tgtEl>
                                          <p:spTgt spid="7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0" name="PlaceHolder 1"/>
          <p:cNvSpPr>
            <a:spLocks noGrp="1"/>
          </p:cNvSpPr>
          <p:nvPr>
            <p:ph type="title"/>
          </p:nvPr>
        </p:nvSpPr>
        <p:spPr>
          <a:xfrm>
            <a:off x="841680" y="389880"/>
            <a:ext cx="7771680" cy="52704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Betweenness Centralization</a:t>
            </a:r>
            <a:endParaRPr b="0" lang="en-US" sz="3000" spc="-1" strike="noStrike">
              <a:solidFill>
                <a:srgbClr val="000000"/>
              </a:solidFill>
              <a:latin typeface="Arial"/>
            </a:endParaRPr>
          </a:p>
        </p:txBody>
      </p:sp>
      <p:sp>
        <p:nvSpPr>
          <p:cNvPr id="751" name="PlaceHolder 2"/>
          <p:cNvSpPr>
            <a:spLocks noGrp="1"/>
          </p:cNvSpPr>
          <p:nvPr>
            <p:ph type="ftr" idx="14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52" name="PlaceHolder 3"/>
          <p:cNvSpPr>
            <a:spLocks noGrp="1"/>
          </p:cNvSpPr>
          <p:nvPr>
            <p:ph/>
          </p:nvPr>
        </p:nvSpPr>
        <p:spPr>
          <a:xfrm>
            <a:off x="841680" y="915120"/>
            <a:ext cx="8444880" cy="55249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53"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54" name="PlaceHolder 4"/>
          <p:cNvSpPr>
            <a:spLocks noGrp="1"/>
          </p:cNvSpPr>
          <p:nvPr>
            <p:ph type="sldNum" idx="14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7EAC24C1-5D8E-4C16-93DD-C2E1088B8807}" type="slidenum">
              <a:rPr b="0" lang="en-US" sz="1200" spc="-1" strike="noStrike">
                <a:solidFill>
                  <a:srgbClr val="787878"/>
                </a:solidFill>
                <a:latin typeface="Aptos"/>
              </a:rPr>
              <a:t>59</a:t>
            </a:fld>
            <a:endParaRPr b="0" lang="en-US" sz="1200" spc="-1" strike="noStrike">
              <a:solidFill>
                <a:srgbClr val="000000"/>
              </a:solidFill>
              <a:latin typeface="Times New Roman"/>
            </a:endParaRPr>
          </a:p>
        </p:txBody>
      </p:sp>
    </p:spTree>
  </p:cSld>
  <p:transition>
    <p:fade/>
  </p:transition>
  <p:timing>
    <p:tnLst>
      <p:par>
        <p:cTn id="395" dur="indefinite" restart="never" nodeType="tmRoot">
          <p:childTnLst>
            <p:seq>
              <p:cTn id="396" dur="indefinite" nodeType="mainSeq">
                <p:childTnLst>
                  <p:par>
                    <p:cTn id="397" fill="hold">
                      <p:stCondLst>
                        <p:cond delay="0"/>
                      </p:stCondLst>
                      <p:childTnLst>
                        <p:par>
                          <p:cTn id="398" fill="hold">
                            <p:stCondLst>
                              <p:cond delay="0"/>
                            </p:stCondLst>
                            <p:childTnLst>
                              <p:par>
                                <p:cTn id="399" nodeType="withEffect" fill="hold" presetClass="entr" presetID="10">
                                  <p:stCondLst>
                                    <p:cond delay="250"/>
                                  </p:stCondLst>
                                  <p:iterate type="el">
                                    <p:tmAbs val="100"/>
                                  </p:iterate>
                                  <p:childTnLst>
                                    <p:set>
                                      <p:cBhvr>
                                        <p:cTn id="400" dur="1" fill="hold">
                                          <p:stCondLst>
                                            <p:cond delay="0"/>
                                          </p:stCondLst>
                                        </p:cTn>
                                        <p:tgtEl>
                                          <p:spTgt spid="752"/>
                                        </p:tgtEl>
                                        <p:attrNameLst>
                                          <p:attrName>style.visibility</p:attrName>
                                        </p:attrNameLst>
                                      </p:cBhvr>
                                      <p:to>
                                        <p:strVal val="visible"/>
                                      </p:to>
                                    </p:set>
                                    <p:animEffect filter="fade" transition="in">
                                      <p:cBhvr additive="repl">
                                        <p:cTn id="401" dur="500"/>
                                        <p:tgtEl>
                                          <p:spTgt spid="7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5" name="PlaceHolder 1"/>
          <p:cNvSpPr>
            <a:spLocks noGrp="1"/>
          </p:cNvSpPr>
          <p:nvPr>
            <p:ph type="title"/>
          </p:nvPr>
        </p:nvSpPr>
        <p:spPr>
          <a:xfrm>
            <a:off x="841680" y="389880"/>
            <a:ext cx="7771680" cy="57960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Eigenvector Centralization</a:t>
            </a:r>
            <a:endParaRPr b="0" lang="en-US" sz="3000" spc="-1" strike="noStrike">
              <a:solidFill>
                <a:srgbClr val="000000"/>
              </a:solidFill>
              <a:latin typeface="Arial"/>
            </a:endParaRPr>
          </a:p>
        </p:txBody>
      </p:sp>
      <p:sp>
        <p:nvSpPr>
          <p:cNvPr id="756" name="PlaceHolder 2"/>
          <p:cNvSpPr>
            <a:spLocks noGrp="1"/>
          </p:cNvSpPr>
          <p:nvPr>
            <p:ph type="ftr" idx="14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57" name="PlaceHolder 3"/>
          <p:cNvSpPr>
            <a:spLocks noGrp="1"/>
          </p:cNvSpPr>
          <p:nvPr>
            <p:ph/>
          </p:nvPr>
        </p:nvSpPr>
        <p:spPr>
          <a:xfrm>
            <a:off x="841680" y="857880"/>
            <a:ext cx="8366760" cy="5499720"/>
          </a:xfrm>
          <a:prstGeom prst="rect">
            <a:avLst/>
          </a:prstGeom>
          <a:noFill/>
          <a:ln w="0">
            <a:noFill/>
          </a:ln>
        </p:spPr>
        <p:txBody>
          <a:bodyPr lIns="90000" rIns="90000" tIns="45000" bIns="45000" anchor="t">
            <a:noAutofit/>
          </a:bodyPr>
          <a:p>
            <a:pPr indent="0">
              <a:lnSpc>
                <a:spcPct val="90000"/>
              </a:lnSpc>
              <a:spcBef>
                <a:spcPts val="2500"/>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600" spc="-1" strike="noStrike">
                <a:solidFill>
                  <a:srgbClr val="000000"/>
                </a:solidFill>
                <a:latin typeface="Segoe UI"/>
              </a:rPr>
              <a:t>What It Measures </a:t>
            </a:r>
            <a:br>
              <a:rPr sz="1600"/>
            </a:br>
            <a:r>
              <a:rPr b="1" lang="en-US" sz="1100" spc="-1" strike="noStrike">
                <a:solidFill>
                  <a:srgbClr val="000000"/>
                </a:solidFill>
                <a:latin typeface="Segoe UI"/>
              </a:rPr>
              <a:t>Eigenvector centralization</a:t>
            </a:r>
            <a:r>
              <a:rPr b="0" lang="en-US" sz="1100" spc="-1" strike="noStrike">
                <a:solidFill>
                  <a:srgbClr val="000000"/>
                </a:solidFill>
                <a:latin typeface="Segoe UI"/>
              </a:rPr>
              <a:t> assesses </a:t>
            </a:r>
            <a:r>
              <a:rPr b="1" lang="en-US" sz="1100" spc="-1" strike="noStrike">
                <a:solidFill>
                  <a:srgbClr val="000000"/>
                </a:solidFill>
                <a:latin typeface="Segoe UI"/>
              </a:rPr>
              <a:t>inequality in eigenvector centrality across all nodes</a:t>
            </a:r>
            <a:r>
              <a:rPr b="0" lang="en-US" sz="1100" spc="-1" strike="noStrike">
                <a:solidFill>
                  <a:srgbClr val="000000"/>
                </a:solidFill>
                <a:latin typeface="Segoe UI"/>
              </a:rPr>
              <a:t> in the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describes how strongly influence, visibility, or systemic importance is </a:t>
            </a:r>
            <a:r>
              <a:rPr b="1" lang="en-US" sz="1100" spc="-1" strike="noStrike">
                <a:solidFill>
                  <a:srgbClr val="000000"/>
                </a:solidFill>
                <a:latin typeface="Segoe UI"/>
              </a:rPr>
              <a:t>concentrated in a structurally privileged core</a:t>
            </a:r>
            <a:r>
              <a:rPr b="0" lang="en-US" sz="1100" spc="-1" strike="noStrike">
                <a:solidFill>
                  <a:srgbClr val="000000"/>
                </a:solidFill>
                <a:latin typeface="Segoe UI"/>
              </a:rPr>
              <a:t>, where eigenvector centrality recursively amplifies influence via connections to other influential nodes.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eigenvector centralization means the network’s </a:t>
            </a:r>
            <a:r>
              <a:rPr b="1" lang="en-US" sz="1100" spc="-1" strike="noStrike">
                <a:solidFill>
                  <a:srgbClr val="000000"/>
                </a:solidFill>
                <a:latin typeface="Segoe UI"/>
              </a:rPr>
              <a:t>spectral structure</a:t>
            </a:r>
            <a:r>
              <a:rPr b="0" lang="en-US" sz="1100" spc="-1" strike="noStrike">
                <a:solidFill>
                  <a:srgbClr val="000000"/>
                </a:solidFill>
                <a:latin typeface="Segoe UI"/>
              </a:rPr>
              <a:t> (dominant eigenvector of the adjacency matrix) is </a:t>
            </a:r>
            <a:r>
              <a:rPr b="1" lang="en-US" sz="1100" spc="-1" strike="noStrike">
                <a:solidFill>
                  <a:srgbClr val="000000"/>
                </a:solidFill>
                <a:latin typeface="Segoe UI"/>
              </a:rPr>
              <a:t>sharply peaked</a:t>
            </a:r>
            <a:r>
              <a:rPr b="0" lang="en-US" sz="1100" spc="-1" strike="noStrike">
                <a:solidFill>
                  <a:srgbClr val="000000"/>
                </a:solidFill>
                <a:latin typeface="Segoe UI"/>
              </a:rPr>
              <a:t>, meaning influence is not spread out but focused in a narrow subset of actors.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This is not simply “who is well-connected,” but “whose neighbors are themselves influential,” creating a feedback loop of structural advantage.</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600" spc="-1" strike="noStrike">
                <a:solidFill>
                  <a:srgbClr val="000000"/>
                </a:solidFill>
                <a:latin typeface="Segoe UI"/>
              </a:rPr>
              <a:t>Why It Matters</a:t>
            </a:r>
            <a:endParaRPr b="0" lang="en-US" sz="16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Eigenvector centrality inherently captures </a:t>
            </a:r>
            <a:r>
              <a:rPr b="1" lang="en-US" sz="1100" spc="-1" strike="noStrike">
                <a:solidFill>
                  <a:srgbClr val="000000"/>
                </a:solidFill>
                <a:latin typeface="Segoe UI"/>
              </a:rPr>
              <a:t>recursive influence</a:t>
            </a:r>
            <a:r>
              <a:rPr b="0" lang="en-US" sz="1100" spc="-1" strike="noStrike">
                <a:solidFill>
                  <a:srgbClr val="000000"/>
                </a:solidFill>
                <a:latin typeface="Segoe UI"/>
              </a:rPr>
              <a:t>: a node is important if it is connected to important neighbors.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 presence of </a:t>
            </a:r>
            <a:r>
              <a:rPr b="1" lang="en-US" sz="1100" spc="-1" strike="noStrike">
                <a:solidFill>
                  <a:srgbClr val="000000"/>
                </a:solidFill>
                <a:latin typeface="Segoe UI"/>
              </a:rPr>
              <a:t>core–periphery structure</a:t>
            </a:r>
            <a:r>
              <a:rPr b="0" lang="en-US" sz="1100" spc="-1" strike="noStrike">
                <a:solidFill>
                  <a:srgbClr val="000000"/>
                </a:solidFill>
                <a:latin typeface="Segoe UI"/>
              </a:rPr>
              <a:t>, even when degree distribution is misleadingly flat.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How the </a:t>
            </a:r>
            <a:r>
              <a:rPr b="1" lang="en-US" sz="1100" spc="-1" strike="noStrike">
                <a:solidFill>
                  <a:srgbClr val="000000"/>
                </a:solidFill>
                <a:latin typeface="Segoe UI"/>
              </a:rPr>
              <a:t>network’s topology biases global information aggregation</a:t>
            </a:r>
            <a:r>
              <a:rPr b="0" lang="en-US" sz="1100" spc="-1" strike="noStrike">
                <a:solidFill>
                  <a:srgbClr val="000000"/>
                </a:solidFill>
                <a:latin typeface="Segoe UI"/>
              </a:rPr>
              <a:t>, privileging signals originating from the core.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Whether the network is structurally predisposed to </a:t>
            </a:r>
            <a:r>
              <a:rPr b="1" lang="en-US" sz="1100" spc="-1" strike="noStrike">
                <a:solidFill>
                  <a:srgbClr val="000000"/>
                </a:solidFill>
                <a:latin typeface="Segoe UI"/>
              </a:rPr>
              <a:t>elite dominance</a:t>
            </a:r>
            <a:r>
              <a:rPr b="0" lang="en-US" sz="1100" spc="-1" strike="noStrike">
                <a:solidFill>
                  <a:srgbClr val="000000"/>
                </a:solidFill>
                <a:latin typeface="Segoe UI"/>
              </a:rPr>
              <a:t>, algorithmic amplification, or persistent inequality.</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600" spc="-1" strike="noStrike">
                <a:solidFill>
                  <a:srgbClr val="000000"/>
                </a:solidFill>
                <a:latin typeface="Segoe UI"/>
              </a:rPr>
              <a:t>When It Is Appropriate</a:t>
            </a:r>
            <a:endParaRPr b="0" lang="en-US" sz="16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Social influence</a:t>
            </a:r>
            <a:r>
              <a:rPr b="0" lang="en-US" sz="1100" spc="-1" strike="noStrike">
                <a:solidFill>
                  <a:srgbClr val="000000"/>
                </a:solidFill>
                <a:latin typeface="Segoe UI"/>
              </a:rPr>
              <a:t> structures where prestige or authority is self‑reinforcing</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Citation networks</a:t>
            </a:r>
            <a:r>
              <a:rPr b="0" lang="en-US" sz="1100" spc="-1" strike="noStrike">
                <a:solidFill>
                  <a:srgbClr val="000000"/>
                </a:solidFill>
                <a:latin typeface="Segoe UI"/>
              </a:rPr>
              <a:t>, academic or intellectual lineage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Organizational networks</a:t>
            </a:r>
            <a:r>
              <a:rPr b="0" lang="en-US" sz="1100" spc="-1" strike="noStrike">
                <a:solidFill>
                  <a:srgbClr val="000000"/>
                </a:solidFill>
                <a:latin typeface="Segoe UI"/>
              </a:rPr>
              <a:t> where power is not just about connections but </a:t>
            </a:r>
            <a:r>
              <a:rPr b="0" i="1" lang="en-US" sz="1100" spc="-1" strike="noStrike">
                <a:solidFill>
                  <a:srgbClr val="000000"/>
                </a:solidFill>
                <a:latin typeface="Segoe UI"/>
              </a:rPr>
              <a:t>who</a:t>
            </a:r>
            <a:r>
              <a:rPr b="0" lang="en-US" sz="1100" spc="-1" strike="noStrike">
                <a:solidFill>
                  <a:srgbClr val="000000"/>
                </a:solidFill>
                <a:latin typeface="Segoe UI"/>
              </a:rPr>
              <a:t> you are connected to</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Core–periphery analysis</a:t>
            </a:r>
            <a:r>
              <a:rPr b="0" lang="en-US" sz="1100" spc="-1" strike="noStrike">
                <a:solidFill>
                  <a:srgbClr val="000000"/>
                </a:solidFill>
                <a:latin typeface="Segoe UI"/>
              </a:rPr>
              <a:t>, particularly when community structure is ambiguous or overlapping</a:t>
            </a:r>
            <a:endParaRPr b="0" lang="en-US" sz="1100" spc="-1" strike="noStrike">
              <a:solidFill>
                <a:srgbClr val="000000"/>
              </a:solidFill>
              <a:latin typeface="Arial"/>
            </a:endParaRPr>
          </a:p>
        </p:txBody>
      </p:sp>
      <p:pic>
        <p:nvPicPr>
          <p:cNvPr id="75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59" name="PlaceHolder 4"/>
          <p:cNvSpPr>
            <a:spLocks noGrp="1"/>
          </p:cNvSpPr>
          <p:nvPr>
            <p:ph type="sldNum" idx="14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23D0F48E-4FB2-4B0B-AD87-7E970FC773C9}" type="slidenum">
              <a:rPr b="0" lang="en-US" sz="1200" spc="-1" strike="noStrike">
                <a:solidFill>
                  <a:srgbClr val="787878"/>
                </a:solidFill>
                <a:latin typeface="Aptos"/>
              </a:rPr>
              <a:t>60</a:t>
            </a:fld>
            <a:endParaRPr b="0" lang="en-US" sz="1200" spc="-1" strike="noStrike">
              <a:solidFill>
                <a:srgbClr val="000000"/>
              </a:solidFill>
              <a:latin typeface="Times New Roman"/>
            </a:endParaRPr>
          </a:p>
        </p:txBody>
      </p:sp>
    </p:spTree>
  </p:cSld>
  <p:transition>
    <p:fade/>
  </p:transition>
  <p:timing>
    <p:tnLst>
      <p:par>
        <p:cTn id="402" dur="indefinite" restart="never" nodeType="tmRoot">
          <p:childTnLst>
            <p:seq>
              <p:cTn id="403" dur="indefinite" nodeType="mainSeq">
                <p:childTnLst>
                  <p:par>
                    <p:cTn id="404" fill="hold">
                      <p:stCondLst>
                        <p:cond delay="0"/>
                      </p:stCondLst>
                      <p:childTnLst>
                        <p:par>
                          <p:cTn id="405" fill="hold">
                            <p:stCondLst>
                              <p:cond delay="0"/>
                            </p:stCondLst>
                            <p:childTnLst>
                              <p:par>
                                <p:cTn id="406" nodeType="withEffect" fill="hold" presetClass="entr" presetID="10">
                                  <p:stCondLst>
                                    <p:cond delay="250"/>
                                  </p:stCondLst>
                                  <p:iterate type="el">
                                    <p:tmAbs val="100"/>
                                  </p:iterate>
                                  <p:childTnLst>
                                    <p:set>
                                      <p:cBhvr>
                                        <p:cTn id="407" dur="1" fill="hold">
                                          <p:stCondLst>
                                            <p:cond delay="0"/>
                                          </p:stCondLst>
                                        </p:cTn>
                                        <p:tgtEl>
                                          <p:spTgt spid="757"/>
                                        </p:tgtEl>
                                        <p:attrNameLst>
                                          <p:attrName>style.visibility</p:attrName>
                                        </p:attrNameLst>
                                      </p:cBhvr>
                                      <p:to>
                                        <p:strVal val="visible"/>
                                      </p:to>
                                    </p:set>
                                    <p:animEffect filter="fade" transition="in">
                                      <p:cBhvr additive="repl">
                                        <p:cTn id="408" dur="500"/>
                                        <p:tgtEl>
                                          <p:spTgt spid="7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0"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Eigenvector Centralization</a:t>
            </a:r>
            <a:endParaRPr b="0" lang="en-US" sz="3000" spc="-1" strike="noStrike">
              <a:solidFill>
                <a:srgbClr val="000000"/>
              </a:solidFill>
              <a:latin typeface="Arial"/>
            </a:endParaRPr>
          </a:p>
        </p:txBody>
      </p:sp>
      <p:sp>
        <p:nvSpPr>
          <p:cNvPr id="761" name="PlaceHolder 2"/>
          <p:cNvSpPr>
            <a:spLocks noGrp="1"/>
          </p:cNvSpPr>
          <p:nvPr>
            <p:ph type="ftr" idx="14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62" name="PlaceHolder 3"/>
          <p:cNvSpPr>
            <a:spLocks noGrp="1"/>
          </p:cNvSpPr>
          <p:nvPr>
            <p:ph/>
          </p:nvPr>
        </p:nvSpPr>
        <p:spPr>
          <a:xfrm>
            <a:off x="841680" y="1014480"/>
            <a:ext cx="7771680" cy="45187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High Eigenvector Centralization</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Influence is </a:t>
            </a:r>
            <a:r>
              <a:rPr b="1" lang="en-US" sz="1100" spc="-1" strike="noStrike">
                <a:solidFill>
                  <a:srgbClr val="000000"/>
                </a:solidFill>
                <a:latin typeface="Segoe UI"/>
              </a:rPr>
              <a:t>highly unequal</a:t>
            </a:r>
            <a:r>
              <a:rPr b="0" lang="en-US" sz="1100" spc="-1" strike="noStrike">
                <a:solidFill>
                  <a:srgbClr val="000000"/>
                </a:solidFill>
                <a:latin typeface="Segoe UI"/>
              </a:rPr>
              <a:t>, dominated by a small, interconnected core.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 network exhibits a </a:t>
            </a:r>
            <a:r>
              <a:rPr b="1" lang="en-US" sz="1100" spc="-1" strike="noStrike">
                <a:solidFill>
                  <a:srgbClr val="000000"/>
                </a:solidFill>
                <a:latin typeface="Segoe UI"/>
              </a:rPr>
              <a:t>strong spectral core–periphery structure</a:t>
            </a:r>
            <a:r>
              <a:rPr b="0" lang="en-US" sz="1100" spc="-1" strike="noStrike">
                <a:solidFill>
                  <a:srgbClr val="000000"/>
                </a:solidFill>
                <a:latin typeface="Segoe UI"/>
              </a:rPr>
              <a:t>, where the core amplifies itself via mutual reinforcement.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 system behaves like a </a:t>
            </a:r>
            <a:r>
              <a:rPr b="1" lang="en-US" sz="1100" spc="-1" strike="noStrike">
                <a:solidFill>
                  <a:srgbClr val="000000"/>
                </a:solidFill>
                <a:latin typeface="Segoe UI"/>
              </a:rPr>
              <a:t>feedback amplifier</a:t>
            </a:r>
            <a:r>
              <a:rPr b="0" lang="en-US" sz="1100" spc="-1" strike="noStrike">
                <a:solidFill>
                  <a:srgbClr val="000000"/>
                </a:solidFill>
                <a:latin typeface="Segoe UI"/>
              </a:rPr>
              <a:t>: small changes or noise in the core propagate disproportionately to the entire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Information, norms, or errors originating in the core exert </a:t>
            </a:r>
            <a:r>
              <a:rPr b="1" lang="en-US" sz="1100" spc="-1" strike="noStrike">
                <a:solidFill>
                  <a:srgbClr val="000000"/>
                </a:solidFill>
                <a:latin typeface="Segoe UI"/>
              </a:rPr>
              <a:t>outsized systemic impact</a:t>
            </a:r>
            <a:r>
              <a:rPr b="0" lang="en-US" sz="1100" spc="-1" strike="noStrike">
                <a:solidFill>
                  <a:srgbClr val="000000"/>
                </a:solidFill>
                <a:latin typeface="Segoe UI"/>
              </a:rPr>
              <a:t>, even when peripheral nodes are more numerous</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Key Subtleties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degree centralization does </a:t>
            </a:r>
            <a:r>
              <a:rPr b="1" lang="en-US" sz="1100" spc="-1" strike="noStrike">
                <a:solidFill>
                  <a:srgbClr val="000000"/>
                </a:solidFill>
                <a:latin typeface="Segoe UI"/>
              </a:rPr>
              <a:t>not necessarily</a:t>
            </a:r>
            <a:r>
              <a:rPr b="0" lang="en-US" sz="1100" spc="-1" strike="noStrike">
                <a:solidFill>
                  <a:srgbClr val="000000"/>
                </a:solidFill>
                <a:latin typeface="Segoe UI"/>
              </a:rPr>
              <a:t> imply high eigenvector centralization (e.g., a star vs a dense bicore).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eigenvector centralization can occur </a:t>
            </a:r>
            <a:r>
              <a:rPr b="1" lang="en-US" sz="1100" spc="-1" strike="noStrike">
                <a:solidFill>
                  <a:srgbClr val="000000"/>
                </a:solidFill>
                <a:latin typeface="Segoe UI"/>
              </a:rPr>
              <a:t>without high degree inequality</a:t>
            </a:r>
            <a:r>
              <a:rPr b="0" lang="en-US" sz="1100" spc="-1" strike="noStrike">
                <a:solidFill>
                  <a:srgbClr val="000000"/>
                </a:solidFill>
                <a:latin typeface="Segoe UI"/>
              </a:rPr>
              <a:t> if a structurally dense core is embedded in a sparse periphery.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Because eigenvector values depend on recursive weighting, </a:t>
            </a:r>
            <a:r>
              <a:rPr b="1" lang="en-US" sz="1100" spc="-1" strike="noStrike">
                <a:solidFill>
                  <a:srgbClr val="000000"/>
                </a:solidFill>
                <a:latin typeface="Segoe UI"/>
              </a:rPr>
              <a:t>peripheral nodes inherit low visibility</a:t>
            </a:r>
            <a:r>
              <a:rPr b="0" lang="en-US" sz="1100" spc="-1" strike="noStrike">
                <a:solidFill>
                  <a:srgbClr val="000000"/>
                </a:solidFill>
                <a:latin typeface="Segoe UI"/>
              </a:rPr>
              <a:t> even when they are numerous.</a:t>
            </a: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63"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64" name="PlaceHolder 4"/>
          <p:cNvSpPr>
            <a:spLocks noGrp="1"/>
          </p:cNvSpPr>
          <p:nvPr>
            <p:ph type="sldNum" idx="14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2AD9C7AA-C892-407E-90A6-77C647CD300B}" type="slidenum">
              <a:rPr b="0" lang="en-US" sz="1200" spc="-1" strike="noStrike">
                <a:solidFill>
                  <a:srgbClr val="787878"/>
                </a:solidFill>
                <a:latin typeface="Aptos"/>
              </a:rPr>
              <a:t>61</a:t>
            </a:fld>
            <a:endParaRPr b="0" lang="en-US" sz="1200" spc="-1" strike="noStrike">
              <a:solidFill>
                <a:srgbClr val="000000"/>
              </a:solidFill>
              <a:latin typeface="Times New Roman"/>
            </a:endParaRPr>
          </a:p>
        </p:txBody>
      </p:sp>
    </p:spTree>
  </p:cSld>
  <p:transition>
    <p:fade/>
  </p:transition>
  <p:timing>
    <p:tnLst>
      <p:par>
        <p:cTn id="409" dur="indefinite" restart="never" nodeType="tmRoot">
          <p:childTnLst>
            <p:seq>
              <p:cTn id="410" dur="indefinite" nodeType="mainSeq">
                <p:childTnLst>
                  <p:par>
                    <p:cTn id="411" fill="hold">
                      <p:stCondLst>
                        <p:cond delay="0"/>
                      </p:stCondLst>
                      <p:childTnLst>
                        <p:par>
                          <p:cTn id="412" fill="hold">
                            <p:stCondLst>
                              <p:cond delay="0"/>
                            </p:stCondLst>
                            <p:childTnLst>
                              <p:par>
                                <p:cTn id="413" nodeType="withEffect" fill="hold" presetClass="entr" presetID="10">
                                  <p:stCondLst>
                                    <p:cond delay="250"/>
                                  </p:stCondLst>
                                  <p:iterate type="el">
                                    <p:tmAbs val="100"/>
                                  </p:iterate>
                                  <p:childTnLst>
                                    <p:set>
                                      <p:cBhvr>
                                        <p:cTn id="414" dur="1" fill="hold">
                                          <p:stCondLst>
                                            <p:cond delay="0"/>
                                          </p:stCondLst>
                                        </p:cTn>
                                        <p:tgtEl>
                                          <p:spTgt spid="762"/>
                                        </p:tgtEl>
                                        <p:attrNameLst>
                                          <p:attrName>style.visibility</p:attrName>
                                        </p:attrNameLst>
                                      </p:cBhvr>
                                      <p:to>
                                        <p:strVal val="visible"/>
                                      </p:to>
                                    </p:set>
                                    <p:animEffect filter="fade" transition="in">
                                      <p:cBhvr additive="repl">
                                        <p:cTn id="415" dur="500"/>
                                        <p:tgtEl>
                                          <p:spTgt spid="7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5"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Eigenvector Centralization</a:t>
            </a:r>
            <a:endParaRPr b="0" lang="en-US" sz="3000" spc="-1" strike="noStrike">
              <a:solidFill>
                <a:srgbClr val="000000"/>
              </a:solidFill>
              <a:latin typeface="Arial"/>
            </a:endParaRPr>
          </a:p>
        </p:txBody>
      </p:sp>
      <p:sp>
        <p:nvSpPr>
          <p:cNvPr id="766" name="PlaceHolder 2"/>
          <p:cNvSpPr>
            <a:spLocks noGrp="1"/>
          </p:cNvSpPr>
          <p:nvPr>
            <p:ph type="ftr" idx="15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67" name="PlaceHolder 3"/>
          <p:cNvSpPr>
            <a:spLocks noGrp="1"/>
          </p:cNvSpPr>
          <p:nvPr>
            <p:ph/>
          </p:nvPr>
        </p:nvSpPr>
        <p:spPr>
          <a:xfrm>
            <a:off x="841680" y="1014480"/>
            <a:ext cx="8434440" cy="544644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Eigenvector centralization reflects not just whether the network is connected, but </a:t>
            </a:r>
            <a:r>
              <a:rPr b="1" lang="en-US" sz="1100" spc="-1" strike="noStrike">
                <a:solidFill>
                  <a:srgbClr val="000000"/>
                </a:solidFill>
                <a:latin typeface="Segoe UI"/>
              </a:rPr>
              <a:t>how connectivity is arranged</a:t>
            </a:r>
            <a:r>
              <a:rPr b="0" lang="en-US" sz="1100" spc="-1" strike="noStrike">
                <a:solidFill>
                  <a:srgbClr val="000000"/>
                </a:solidFill>
                <a:latin typeface="Segoe UI"/>
              </a:rPr>
              <a:t> (i.e., whether influence bottlenecks into a core).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 central spectral core may serve as the </a:t>
            </a:r>
            <a:r>
              <a:rPr b="1" lang="en-US" sz="1100" spc="-1" strike="noStrike">
                <a:solidFill>
                  <a:srgbClr val="000000"/>
                </a:solidFill>
                <a:latin typeface="Segoe UI"/>
              </a:rPr>
              <a:t>structural backbone</a:t>
            </a:r>
            <a:r>
              <a:rPr b="0" lang="en-US" sz="1100" spc="-1" strike="noStrike">
                <a:solidFill>
                  <a:srgbClr val="000000"/>
                </a:solidFill>
                <a:latin typeface="Segoe UI"/>
              </a:rPr>
              <a:t> of connectivity.</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eigenvector centralization networks are </a:t>
            </a:r>
            <a:r>
              <a:rPr b="1" lang="en-US" sz="1100" spc="-1" strike="noStrike">
                <a:solidFill>
                  <a:srgbClr val="000000"/>
                </a:solidFill>
                <a:latin typeface="Segoe UI"/>
              </a:rPr>
              <a:t>robust to random failures</a:t>
            </a:r>
            <a:r>
              <a:rPr b="0" lang="en-US" sz="1100" spc="-1" strike="noStrike">
                <a:solidFill>
                  <a:srgbClr val="000000"/>
                </a:solidFill>
                <a:latin typeface="Segoe UI"/>
              </a:rPr>
              <a:t> of peripheral nodes (most have low eigenvector weight).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They are </a:t>
            </a:r>
            <a:r>
              <a:rPr b="1" lang="en-US" sz="1100" spc="-1" strike="noStrike">
                <a:solidFill>
                  <a:srgbClr val="000000"/>
                </a:solidFill>
                <a:latin typeface="Segoe UI"/>
              </a:rPr>
              <a:t>extremely non‑robust</a:t>
            </a:r>
            <a:r>
              <a:rPr b="0" lang="en-US" sz="1100" spc="-1" strike="noStrike">
                <a:solidFill>
                  <a:srgbClr val="000000"/>
                </a:solidFill>
                <a:latin typeface="Segoe UI"/>
              </a:rPr>
              <a:t> to targeted failures of core nodes: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Removal of a core actor dramatically alters the leading eigenvector.</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Influence pathways collapse or reroute inefficiently.</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The network may remain physically connected but becomes </a:t>
            </a:r>
            <a:r>
              <a:rPr b="1" lang="en-US" sz="1100" spc="-1" strike="noStrike">
                <a:solidFill>
                  <a:srgbClr val="000000"/>
                </a:solidFill>
                <a:latin typeface="Segoe UI"/>
              </a:rPr>
              <a:t>spectrally fragmented</a:t>
            </a:r>
            <a:r>
              <a:rPr b="0" lang="en-US" sz="1100" spc="-1" strike="noStrike">
                <a:solidFill>
                  <a:srgbClr val="000000"/>
                </a:solidFill>
                <a:latin typeface="Segoe UI"/>
              </a:rPr>
              <a:t>, losing coherent influence propagation.</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Resilience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Resilience requires that the network maintain or restore </a:t>
            </a:r>
            <a:r>
              <a:rPr b="1" lang="en-US" sz="1100" spc="-1" strike="noStrike">
                <a:solidFill>
                  <a:srgbClr val="000000"/>
                </a:solidFill>
                <a:latin typeface="Segoe UI"/>
              </a:rPr>
              <a:t>functional influence distribution</a:t>
            </a:r>
            <a:r>
              <a:rPr b="0" lang="en-US" sz="1100" spc="-1" strike="noStrike">
                <a:solidFill>
                  <a:srgbClr val="000000"/>
                </a:solidFill>
                <a:latin typeface="Segoe UI"/>
              </a:rPr>
              <a:t> after shocks.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eigenvector centralization networks are </a:t>
            </a:r>
            <a:r>
              <a:rPr b="1" lang="en-US" sz="1100" spc="-1" strike="noStrike">
                <a:solidFill>
                  <a:srgbClr val="000000"/>
                </a:solidFill>
                <a:latin typeface="Segoe UI"/>
              </a:rPr>
              <a:t>resilient only if the core remains intact</a:t>
            </a:r>
            <a:r>
              <a:rPr b="0" lang="en-US" sz="1100" spc="-1" strike="noStrike">
                <a:solidFill>
                  <a:srgbClr val="000000"/>
                </a:solidFill>
                <a:latin typeface="Segoe UI"/>
              </a:rPr>
              <a:t>; otherwise, recovery requires: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Rebuilding ties within the core</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Re‑establishing spectral dominance</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Significant structural reorganization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Low eigenvector centralization networks maintain influence diversity; when one region fails, </a:t>
            </a:r>
            <a:r>
              <a:rPr b="1" lang="en-US" sz="1100" spc="-1" strike="noStrike">
                <a:solidFill>
                  <a:srgbClr val="000000"/>
                </a:solidFill>
                <a:latin typeface="Segoe UI"/>
              </a:rPr>
              <a:t>influence rebalances naturally</a:t>
            </a:r>
            <a:r>
              <a:rPr b="0" lang="en-US" sz="1100" spc="-1" strike="noStrike">
                <a:solidFill>
                  <a:srgbClr val="000000"/>
                </a:solidFill>
                <a:latin typeface="Segoe UI"/>
              </a:rPr>
              <a:t>, enabling faster functional recovery.</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6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69" name="PlaceHolder 4"/>
          <p:cNvSpPr>
            <a:spLocks noGrp="1"/>
          </p:cNvSpPr>
          <p:nvPr>
            <p:ph type="sldNum" idx="15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256A1A57-2C85-4B0B-8728-43261446CFA4}" type="slidenum">
              <a:rPr b="0" lang="en-US" sz="1200" spc="-1" strike="noStrike">
                <a:solidFill>
                  <a:srgbClr val="787878"/>
                </a:solidFill>
                <a:latin typeface="Aptos"/>
              </a:rPr>
              <a:t>62</a:t>
            </a:fld>
            <a:endParaRPr b="0" lang="en-US" sz="1200" spc="-1" strike="noStrike">
              <a:solidFill>
                <a:srgbClr val="000000"/>
              </a:solidFill>
              <a:latin typeface="Times New Roman"/>
            </a:endParaRPr>
          </a:p>
        </p:txBody>
      </p:sp>
    </p:spTree>
  </p:cSld>
  <p:transition>
    <p:fade/>
  </p:transition>
  <p:timing>
    <p:tnLst>
      <p:par>
        <p:cTn id="416" dur="indefinite" restart="never" nodeType="tmRoot">
          <p:childTnLst>
            <p:seq>
              <p:cTn id="417" dur="indefinite" nodeType="mainSeq">
                <p:childTnLst>
                  <p:par>
                    <p:cTn id="418" fill="hold">
                      <p:stCondLst>
                        <p:cond delay="0"/>
                      </p:stCondLst>
                      <p:childTnLst>
                        <p:par>
                          <p:cTn id="419" fill="hold">
                            <p:stCondLst>
                              <p:cond delay="0"/>
                            </p:stCondLst>
                            <p:childTnLst>
                              <p:par>
                                <p:cTn id="420" nodeType="withEffect" fill="hold" presetClass="entr" presetID="10">
                                  <p:stCondLst>
                                    <p:cond delay="250"/>
                                  </p:stCondLst>
                                  <p:iterate type="el">
                                    <p:tmAbs val="100"/>
                                  </p:iterate>
                                  <p:childTnLst>
                                    <p:set>
                                      <p:cBhvr>
                                        <p:cTn id="421" dur="1" fill="hold">
                                          <p:stCondLst>
                                            <p:cond delay="0"/>
                                          </p:stCondLst>
                                        </p:cTn>
                                        <p:tgtEl>
                                          <p:spTgt spid="767"/>
                                        </p:tgtEl>
                                        <p:attrNameLst>
                                          <p:attrName>style.visibility</p:attrName>
                                        </p:attrNameLst>
                                      </p:cBhvr>
                                      <p:to>
                                        <p:strVal val="visible"/>
                                      </p:to>
                                    </p:set>
                                    <p:animEffect filter="fade" transition="in">
                                      <p:cBhvr additive="repl">
                                        <p:cTn id="422" dur="500"/>
                                        <p:tgtEl>
                                          <p:spTgt spid="7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0" name="PlaceHolder 1"/>
          <p:cNvSpPr>
            <a:spLocks noGrp="1"/>
          </p:cNvSpPr>
          <p:nvPr>
            <p:ph type="title"/>
          </p:nvPr>
        </p:nvSpPr>
        <p:spPr>
          <a:xfrm>
            <a:off x="841680" y="389880"/>
            <a:ext cx="7771680" cy="48564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Eigenvector Centralization</a:t>
            </a:r>
            <a:endParaRPr b="0" lang="en-US" sz="3000" spc="-1" strike="noStrike">
              <a:solidFill>
                <a:srgbClr val="000000"/>
              </a:solidFill>
              <a:latin typeface="Arial"/>
            </a:endParaRPr>
          </a:p>
        </p:txBody>
      </p:sp>
      <p:sp>
        <p:nvSpPr>
          <p:cNvPr id="771" name="PlaceHolder 2"/>
          <p:cNvSpPr>
            <a:spLocks noGrp="1"/>
          </p:cNvSpPr>
          <p:nvPr>
            <p:ph type="ftr" idx="15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72" name="PlaceHolder 3"/>
          <p:cNvSpPr>
            <a:spLocks noGrp="1"/>
          </p:cNvSpPr>
          <p:nvPr>
            <p:ph/>
          </p:nvPr>
        </p:nvSpPr>
        <p:spPr>
          <a:xfrm>
            <a:off x="841680" y="878760"/>
            <a:ext cx="7771680" cy="465444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73"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74" name="PlaceHolder 4"/>
          <p:cNvSpPr>
            <a:spLocks noGrp="1"/>
          </p:cNvSpPr>
          <p:nvPr>
            <p:ph type="sldNum" idx="15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2591262A-5B8B-4E6C-B51B-1C238CD730D9}" type="slidenum">
              <a:rPr b="0" lang="en-US" sz="1200" spc="-1" strike="noStrike">
                <a:solidFill>
                  <a:srgbClr val="787878"/>
                </a:solidFill>
                <a:latin typeface="Aptos"/>
              </a:rPr>
              <a:t>63</a:t>
            </a:fld>
            <a:endParaRPr b="0" lang="en-US" sz="1200" spc="-1" strike="noStrike">
              <a:solidFill>
                <a:srgbClr val="000000"/>
              </a:solidFill>
              <a:latin typeface="Times New Roman"/>
            </a:endParaRPr>
          </a:p>
        </p:txBody>
      </p:sp>
    </p:spTree>
  </p:cSld>
  <p:transition>
    <p:fade/>
  </p:transition>
  <p:timing>
    <p:tnLst>
      <p:par>
        <p:cTn id="423" dur="indefinite" restart="never" nodeType="tmRoot">
          <p:childTnLst>
            <p:seq>
              <p:cTn id="424" dur="indefinite" nodeType="mainSeq">
                <p:childTnLst>
                  <p:par>
                    <p:cTn id="425" fill="hold">
                      <p:stCondLst>
                        <p:cond delay="0"/>
                      </p:stCondLst>
                      <p:childTnLst>
                        <p:par>
                          <p:cTn id="426" fill="hold">
                            <p:stCondLst>
                              <p:cond delay="0"/>
                            </p:stCondLst>
                            <p:childTnLst>
                              <p:par>
                                <p:cTn id="427" nodeType="withEffect" fill="hold" presetClass="entr" presetID="10">
                                  <p:stCondLst>
                                    <p:cond delay="250"/>
                                  </p:stCondLst>
                                  <p:iterate type="el">
                                    <p:tmAbs val="100"/>
                                  </p:iterate>
                                  <p:childTnLst>
                                    <p:set>
                                      <p:cBhvr>
                                        <p:cTn id="428" dur="1" fill="hold">
                                          <p:stCondLst>
                                            <p:cond delay="0"/>
                                          </p:stCondLst>
                                        </p:cTn>
                                        <p:tgtEl>
                                          <p:spTgt spid="772"/>
                                        </p:tgtEl>
                                        <p:attrNameLst>
                                          <p:attrName>style.visibility</p:attrName>
                                        </p:attrNameLst>
                                      </p:cBhvr>
                                      <p:to>
                                        <p:strVal val="visible"/>
                                      </p:to>
                                    </p:set>
                                    <p:animEffect filter="fade" transition="in">
                                      <p:cBhvr additive="repl">
                                        <p:cTn id="429" dur="500"/>
                                        <p:tgtEl>
                                          <p:spTgt spid="7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5" name="PlaceHolder 1"/>
          <p:cNvSpPr>
            <a:spLocks noGrp="1"/>
          </p:cNvSpPr>
          <p:nvPr>
            <p:ph type="title"/>
          </p:nvPr>
        </p:nvSpPr>
        <p:spPr>
          <a:xfrm>
            <a:off x="838080" y="114480"/>
            <a:ext cx="10514880" cy="635760"/>
          </a:xfrm>
          <a:prstGeom prst="rect">
            <a:avLst/>
          </a:prstGeom>
          <a:noFill/>
          <a:ln w="0">
            <a:noFill/>
          </a:ln>
        </p:spPr>
        <p:txBody>
          <a:bodyPr lIns="0" rIns="0" tIns="0" bIns="0" anchor="ctr">
            <a:normAutofit fontScale="72000"/>
          </a:bodyPr>
          <a:p>
            <a:pPr indent="0">
              <a:lnSpc>
                <a:spcPct val="90000"/>
              </a:lnSpc>
              <a:buNone/>
              <a:tabLst>
                <a:tab algn="l" pos="0"/>
              </a:tabLst>
            </a:pPr>
            <a:r>
              <a:rPr b="0" lang="en-US" sz="4400" spc="-1" strike="noStrike">
                <a:solidFill>
                  <a:srgbClr val="000000"/>
                </a:solidFill>
                <a:latin typeface="Aptos Display"/>
              </a:rPr>
              <a:t>A note: Fiedler's λ₂ vs. Eigenvector Centrality</a:t>
            </a:r>
            <a:endParaRPr b="0" lang="en-US" sz="4400" spc="-1" strike="noStrike">
              <a:solidFill>
                <a:srgbClr val="000000"/>
              </a:solidFill>
              <a:latin typeface="Arial"/>
            </a:endParaRPr>
          </a:p>
        </p:txBody>
      </p:sp>
      <p:sp>
        <p:nvSpPr>
          <p:cNvPr id="776" name="PlaceHolder 2"/>
          <p:cNvSpPr>
            <a:spLocks noGrp="1"/>
          </p:cNvSpPr>
          <p:nvPr>
            <p:ph/>
          </p:nvPr>
        </p:nvSpPr>
        <p:spPr>
          <a:xfrm>
            <a:off x="397440" y="829080"/>
            <a:ext cx="11569320" cy="4997880"/>
          </a:xfrm>
          <a:prstGeom prst="rect">
            <a:avLst/>
          </a:prstGeom>
          <a:noFill/>
          <a:ln w="0">
            <a:noFill/>
          </a:ln>
        </p:spPr>
        <p:txBody>
          <a:bodyPr lIns="0" rIns="0" tIns="0" bIns="0" anchor="t">
            <a:noAutofit/>
          </a:bodyPr>
          <a:p>
            <a:pPr indent="0">
              <a:lnSpc>
                <a:spcPct val="90000"/>
              </a:lnSpc>
              <a:spcBef>
                <a:spcPts val="2500"/>
              </a:spcBef>
              <a:buNone/>
              <a:tabLst>
                <a:tab algn="l" pos="0"/>
              </a:tabLst>
            </a:pPr>
            <a:r>
              <a:rPr b="1" lang="en-US" sz="2400" spc="-1" strike="noStrike">
                <a:solidFill>
                  <a:srgbClr val="000000"/>
                </a:solidFill>
                <a:latin typeface="Aptos"/>
              </a:rPr>
              <a:t>Fiedler's </a:t>
            </a:r>
            <a:r>
              <a:rPr b="1" lang="el-GR" sz="2400" spc="-1" strike="noStrike">
                <a:solidFill>
                  <a:srgbClr val="000000"/>
                </a:solidFill>
                <a:latin typeface="Aptos"/>
              </a:rPr>
              <a:t>λ₂ </a:t>
            </a:r>
            <a:r>
              <a:rPr b="1" lang="en-US" sz="2400" spc="-1" strike="noStrike">
                <a:solidFill>
                  <a:srgbClr val="000000"/>
                </a:solidFill>
                <a:latin typeface="Aptos"/>
              </a:rPr>
              <a:t>and Cohesion</a:t>
            </a:r>
            <a:endParaRPr b="0" lang="en-US" sz="2400" spc="-1" strike="noStrike">
              <a:solidFill>
                <a:srgbClr val="000000"/>
              </a:solidFill>
              <a:latin typeface="Arial"/>
            </a:endParaRPr>
          </a:p>
          <a:p>
            <a:pPr indent="0">
              <a:lnSpc>
                <a:spcPct val="90000"/>
              </a:lnSpc>
              <a:spcBef>
                <a:spcPts val="499"/>
              </a:spcBef>
              <a:buNone/>
              <a:tabLst>
                <a:tab algn="l" pos="0"/>
              </a:tabLst>
            </a:pPr>
            <a:r>
              <a:rPr b="0" lang="en-US" sz="2400" spc="-1" strike="noStrike">
                <a:solidFill>
                  <a:srgbClr val="000000"/>
                </a:solidFill>
                <a:latin typeface="Aptos"/>
              </a:rPr>
              <a:t>Fiedler's </a:t>
            </a:r>
            <a:r>
              <a:rPr b="0" lang="el-GR" sz="2400" spc="-1" strike="noStrike">
                <a:solidFill>
                  <a:srgbClr val="000000"/>
                </a:solidFill>
                <a:latin typeface="Aptos"/>
              </a:rPr>
              <a:t>λ₂ is derived </a:t>
            </a:r>
            <a:r>
              <a:rPr b="0" lang="en-US" sz="2400" spc="-1" strike="noStrike">
                <a:solidFill>
                  <a:srgbClr val="000000"/>
                </a:solidFill>
                <a:latin typeface="Aptos"/>
              </a:rPr>
              <a:t>from the Laplacian matrix L = D – A where D is the diagonal matrix representing the degree (or value) of each node and A is the adjacency matrix.  This matrix provides a representation of difference and its spectral properties reflects a network's overall cohesion, connectivity, and potential for partitioning.</a:t>
            </a:r>
            <a:endParaRPr b="0" lang="en-US" sz="2400" spc="-1" strike="noStrike">
              <a:solidFill>
                <a:srgbClr val="000000"/>
              </a:solidFill>
              <a:latin typeface="Arial"/>
            </a:endParaRPr>
          </a:p>
          <a:p>
            <a:pPr indent="0">
              <a:lnSpc>
                <a:spcPct val="90000"/>
              </a:lnSpc>
              <a:spcBef>
                <a:spcPts val="499"/>
              </a:spcBef>
              <a:buNone/>
              <a:tabLst>
                <a:tab algn="l" pos="0"/>
              </a:tabLst>
            </a:pPr>
            <a:br>
              <a:rPr sz="2400"/>
            </a:br>
            <a:r>
              <a:rPr b="1" lang="en-US" sz="2400" spc="-1" strike="noStrike">
                <a:solidFill>
                  <a:srgbClr val="000000"/>
                </a:solidFill>
                <a:latin typeface="Aptos"/>
              </a:rPr>
              <a:t>Eigenvector Centrality Influence</a:t>
            </a:r>
            <a:endParaRPr b="0" lang="en-US" sz="2400" spc="-1" strike="noStrike">
              <a:solidFill>
                <a:srgbClr val="000000"/>
              </a:solidFill>
              <a:latin typeface="Arial"/>
            </a:endParaRPr>
          </a:p>
          <a:p>
            <a:pPr indent="0">
              <a:lnSpc>
                <a:spcPct val="90000"/>
              </a:lnSpc>
              <a:spcBef>
                <a:spcPts val="499"/>
              </a:spcBef>
              <a:buNone/>
              <a:tabLst>
                <a:tab algn="l" pos="0"/>
              </a:tabLst>
            </a:pPr>
            <a:r>
              <a:rPr b="0" lang="en-US" sz="2400" spc="-1" strike="noStrike">
                <a:solidFill>
                  <a:srgbClr val="000000"/>
                </a:solidFill>
                <a:latin typeface="Aptos"/>
              </a:rPr>
              <a:t>Eigenvector Centrality uses the spectral properties of the Adjacency matrix which reflect walk counts and influence highlighting hubs and core-periphery patterns.  Hence, this is a measure about influence propagation.</a:t>
            </a:r>
            <a:endParaRPr b="0" lang="en-US" sz="2400" spc="-1" strike="noStrike">
              <a:solidFill>
                <a:srgbClr val="000000"/>
              </a:solidFill>
              <a:latin typeface="Arial"/>
            </a:endParaRPr>
          </a:p>
          <a:p>
            <a:pPr indent="0">
              <a:lnSpc>
                <a:spcPct val="90000"/>
              </a:lnSpc>
              <a:spcBef>
                <a:spcPts val="499"/>
              </a:spcBef>
              <a:buNone/>
              <a:tabLst>
                <a:tab algn="l" pos="0"/>
              </a:tabLst>
            </a:pPr>
            <a:br>
              <a:rPr sz="2400"/>
            </a:br>
            <a:r>
              <a:rPr b="1" lang="en-US" sz="2400" spc="-1" strike="noStrike">
                <a:solidFill>
                  <a:srgbClr val="000000"/>
                </a:solidFill>
                <a:latin typeface="Aptos"/>
              </a:rPr>
              <a:t>Structural Glue vs. Influence</a:t>
            </a:r>
            <a:endParaRPr b="0" lang="en-US" sz="2400" spc="-1" strike="noStrike">
              <a:solidFill>
                <a:srgbClr val="000000"/>
              </a:solidFill>
              <a:latin typeface="Arial"/>
            </a:endParaRPr>
          </a:p>
          <a:p>
            <a:pPr indent="0">
              <a:lnSpc>
                <a:spcPct val="90000"/>
              </a:lnSpc>
              <a:spcBef>
                <a:spcPts val="499"/>
              </a:spcBef>
              <a:buNone/>
              <a:tabLst>
                <a:tab algn="l" pos="0"/>
              </a:tabLst>
            </a:pPr>
            <a:r>
              <a:rPr b="0" lang="el-GR" sz="2400" spc="-1" strike="noStrike">
                <a:solidFill>
                  <a:srgbClr val="000000"/>
                </a:solidFill>
                <a:latin typeface="Aptos"/>
              </a:rPr>
              <a:t>λ₂ is a measure of</a:t>
            </a:r>
            <a:r>
              <a:rPr b="0" lang="en-US" sz="2400" spc="-1" strike="noStrike">
                <a:solidFill>
                  <a:srgbClr val="000000"/>
                </a:solidFill>
                <a:latin typeface="Aptos"/>
              </a:rPr>
              <a:t> structural glue, while Eigenvector Centrality quantifies how influence spreads among network node.</a:t>
            </a:r>
            <a:endParaRPr b="0" lang="en-US" sz="2400" spc="-1" strike="noStrike">
              <a:solidFill>
                <a:srgbClr val="000000"/>
              </a:solidFill>
              <a:latin typeface="Arial"/>
            </a:endParaRPr>
          </a:p>
        </p:txBody>
      </p:sp>
    </p:spTree>
  </p:cSld>
  <p:transition>
    <p:fade/>
  </p:transition>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title"/>
          </p:nvPr>
        </p:nvSpPr>
        <p:spPr>
          <a:xfrm>
            <a:off x="4129920" y="1645920"/>
            <a:ext cx="3931200" cy="3565440"/>
          </a:xfrm>
          <a:prstGeom prst="rect">
            <a:avLst/>
          </a:prstGeom>
          <a:noFill/>
          <a:ln w="0">
            <a:noFill/>
          </a:ln>
        </p:spPr>
        <p:txBody>
          <a:bodyPr lIns="90000" rIns="90000" tIns="45000" bIns="45000" anchor="ctr">
            <a:normAutofit/>
          </a:bodyPr>
          <a:p>
            <a:pPr indent="0" algn="ctr">
              <a:lnSpc>
                <a:spcPct val="90000"/>
              </a:lnSpc>
              <a:buNone/>
              <a:tabLst>
                <a:tab algn="l" pos="0"/>
              </a:tabLst>
            </a:pPr>
            <a:r>
              <a:rPr b="0" lang="en-US" sz="4600" spc="-1" strike="noStrike">
                <a:solidFill>
                  <a:srgbClr val="000000"/>
                </a:solidFill>
                <a:latin typeface="Aptos Display"/>
              </a:rPr>
              <a:t>Efficiency </a:t>
            </a:r>
            <a:endParaRPr b="0" lang="en-US" sz="4600" spc="-1" strike="noStrike">
              <a:solidFill>
                <a:srgbClr val="000000"/>
              </a:solidFill>
              <a:latin typeface="Arial"/>
            </a:endParaRPr>
          </a:p>
        </p:txBody>
      </p:sp>
      <p:sp>
        <p:nvSpPr>
          <p:cNvPr id="778" name="PlaceHolder 2"/>
          <p:cNvSpPr>
            <a:spLocks noGrp="1"/>
          </p:cNvSpPr>
          <p:nvPr>
            <p:ph type="ftr" idx="15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79" name="PlaceHolder 3"/>
          <p:cNvSpPr>
            <a:spLocks noGrp="1"/>
          </p:cNvSpPr>
          <p:nvPr>
            <p:ph type="sldNum" idx="15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0B969E15-351C-4690-852F-85FDB54EBB52}" type="slidenum">
              <a:rPr b="0" lang="en-US" sz="1200" spc="-1" strike="noStrike">
                <a:solidFill>
                  <a:srgbClr val="787878"/>
                </a:solidFill>
                <a:latin typeface="Aptos"/>
              </a:rPr>
              <a:t>65</a:t>
            </a:fld>
            <a:endParaRPr b="0" lang="en-US" sz="1200" spc="-1" strike="noStrike">
              <a:solidFill>
                <a:srgbClr val="000000"/>
              </a:solidFill>
              <a:latin typeface="Times New Roman"/>
            </a:endParaRPr>
          </a:p>
        </p:txBody>
      </p:sp>
    </p:spTree>
  </p:cSld>
  <p:transition>
    <p:fade/>
  </p:transition>
  <p:timing>
    <p:tnLst>
      <p:par>
        <p:cTn id="430" dur="indefinite" restart="never" nodeType="tmRoot">
          <p:childTnLst>
            <p:seq>
              <p:cTn id="431" dur="indefinite" nodeType="mainSeq">
                <p:childTnLst>
                  <p:par>
                    <p:cTn id="432" fill="hold">
                      <p:stCondLst>
                        <p:cond delay="0"/>
                      </p:stCondLst>
                      <p:childTnLst>
                        <p:par>
                          <p:cTn id="433" fill="hold">
                            <p:stCondLst>
                              <p:cond delay="0"/>
                            </p:stCondLst>
                            <p:childTnLst>
                              <p:par>
                                <p:cTn id="434" nodeType="withEffect" fill="hold" presetClass="entr" presetID="10">
                                  <p:stCondLst>
                                    <p:cond delay="500"/>
                                  </p:stCondLst>
                                  <p:iterate type="el">
                                    <p:tmAbs val="100"/>
                                  </p:iterate>
                                  <p:childTnLst>
                                    <p:set>
                                      <p:cBhvr>
                                        <p:cTn id="435" dur="1" fill="hold">
                                          <p:stCondLst>
                                            <p:cond delay="0"/>
                                          </p:stCondLst>
                                        </p:cTn>
                                        <p:tgtEl>
                                          <p:spTgt spid="777"/>
                                        </p:tgtEl>
                                        <p:attrNameLst>
                                          <p:attrName>style.visibility</p:attrName>
                                        </p:attrNameLst>
                                      </p:cBhvr>
                                      <p:to>
                                        <p:strVal val="visible"/>
                                      </p:to>
                                    </p:set>
                                    <p:animEffect filter="fade" transition="in">
                                      <p:cBhvr additive="repl">
                                        <p:cTn id="436" dur="700"/>
                                        <p:tgtEl>
                                          <p:spTgt spid="7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0" name="PlaceHolder 1"/>
          <p:cNvSpPr>
            <a:spLocks noGrp="1"/>
          </p:cNvSpPr>
          <p:nvPr>
            <p:ph type="title"/>
          </p:nvPr>
        </p:nvSpPr>
        <p:spPr>
          <a:xfrm>
            <a:off x="1060560" y="603360"/>
            <a:ext cx="10057680" cy="1131480"/>
          </a:xfrm>
          <a:prstGeom prst="rect">
            <a:avLst/>
          </a:prstGeom>
          <a:noFill/>
          <a:ln w="0">
            <a:noFill/>
          </a:ln>
        </p:spPr>
        <p:txBody>
          <a:bodyPr lIns="90000" rIns="90000" tIns="45000" bIns="45000" anchor="t">
            <a:normAutofit/>
          </a:bodyPr>
          <a:p>
            <a:pPr indent="0">
              <a:lnSpc>
                <a:spcPct val="90000"/>
              </a:lnSpc>
              <a:buNone/>
              <a:tabLst>
                <a:tab algn="l" pos="0"/>
              </a:tabLst>
            </a:pPr>
            <a:r>
              <a:rPr b="0" lang="en-US" sz="4400" spc="-1" strike="noStrike">
                <a:solidFill>
                  <a:srgbClr val="000000"/>
                </a:solidFill>
                <a:latin typeface="Aptos Display"/>
              </a:rPr>
              <a:t>Global and Local Efficiency</a:t>
            </a:r>
            <a:endParaRPr b="0" lang="en-US" sz="4400" spc="-1" strike="noStrike">
              <a:solidFill>
                <a:srgbClr val="000000"/>
              </a:solidFill>
              <a:latin typeface="Arial"/>
            </a:endParaRPr>
          </a:p>
        </p:txBody>
      </p:sp>
      <p:sp>
        <p:nvSpPr>
          <p:cNvPr id="781" name="PlaceHolder 2"/>
          <p:cNvSpPr>
            <a:spLocks noGrp="1"/>
          </p:cNvSpPr>
          <p:nvPr>
            <p:ph type="ftr" idx="15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pic>
        <p:nvPicPr>
          <p:cNvPr id="782" name="Content Placeholder 6" descr="Abstract Technology Background"/>
          <p:cNvPicPr/>
          <p:nvPr/>
        </p:nvPicPr>
        <p:blipFill>
          <a:blip r:embed="rId1"/>
          <a:stretch/>
        </p:blipFill>
        <p:spPr>
          <a:xfrm>
            <a:off x="1060560" y="2656080"/>
            <a:ext cx="4768200" cy="2695680"/>
          </a:xfrm>
          <a:prstGeom prst="rect">
            <a:avLst/>
          </a:prstGeom>
          <a:ln w="0">
            <a:noFill/>
          </a:ln>
        </p:spPr>
      </p:pic>
      <p:sp>
        <p:nvSpPr>
          <p:cNvPr id="783" name="PlaceHolder 3"/>
          <p:cNvSpPr>
            <a:spLocks noGrp="1"/>
          </p:cNvSpPr>
          <p:nvPr>
            <p:ph/>
          </p:nvPr>
        </p:nvSpPr>
        <p:spPr>
          <a:xfrm>
            <a:off x="6363360" y="1828800"/>
            <a:ext cx="4754880" cy="435060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r>
              <a:rPr b="1" lang="en-US" sz="1400" spc="-1" strike="noStrike">
                <a:solidFill>
                  <a:srgbClr val="000000"/>
                </a:solidFill>
                <a:latin typeface="Aptos"/>
              </a:rPr>
              <a:t>Global Efficiency Concept</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Measures average inverse shortest-path distance, reflecting overall network performance in spreading information.</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Average Local Efficiency Concept</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Evaluates connectivity of neighbors after node removal, indicating resilience to localized failures.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Trade-offs in Network Design</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Balancing global reach and local resilience is essential for optimized network performance and reliability.</a:t>
            </a:r>
            <a:endParaRPr b="0" lang="en-US" sz="1400" spc="-1" strike="noStrike">
              <a:solidFill>
                <a:srgbClr val="000000"/>
              </a:solidFill>
              <a:latin typeface="Arial"/>
            </a:endParaRPr>
          </a:p>
        </p:txBody>
      </p:sp>
      <p:sp>
        <p:nvSpPr>
          <p:cNvPr id="784" name="PlaceHolder 4"/>
          <p:cNvSpPr>
            <a:spLocks noGrp="1"/>
          </p:cNvSpPr>
          <p:nvPr>
            <p:ph type="sldNum" idx="15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EECFBAD4-AA33-46BC-8521-FC6F4726EB27}" type="slidenum">
              <a:rPr b="0" lang="en-US" sz="1200" spc="-1" strike="noStrike">
                <a:solidFill>
                  <a:srgbClr val="787878"/>
                </a:solidFill>
                <a:latin typeface="Aptos"/>
              </a:rPr>
              <a:t>66</a:t>
            </a:fld>
            <a:endParaRPr b="0" lang="en-US" sz="1200" spc="-1" strike="noStrike">
              <a:solidFill>
                <a:srgbClr val="000000"/>
              </a:solidFill>
              <a:latin typeface="Times New Roman"/>
            </a:endParaRPr>
          </a:p>
        </p:txBody>
      </p:sp>
    </p:spTree>
  </p:cSld>
  <p:transition>
    <p:fade/>
  </p:transition>
  <p:timing>
    <p:tnLst>
      <p:par>
        <p:cTn id="437" dur="indefinite" restart="never" nodeType="tmRoot">
          <p:childTnLst>
            <p:seq>
              <p:cTn id="438" dur="indefinite" nodeType="mainSeq">
                <p:childTnLst>
                  <p:par>
                    <p:cTn id="439" fill="hold">
                      <p:stCondLst>
                        <p:cond delay="0"/>
                      </p:stCondLst>
                      <p:childTnLst>
                        <p:par>
                          <p:cTn id="440" fill="hold">
                            <p:stCondLst>
                              <p:cond delay="0"/>
                            </p:stCondLst>
                            <p:childTnLst>
                              <p:par>
                                <p:cTn id="441" nodeType="withEffect" fill="hold" presetClass="entr" presetID="10">
                                  <p:stCondLst>
                                    <p:cond delay="250"/>
                                  </p:stCondLst>
                                  <p:iterate type="el">
                                    <p:tmAbs val="100"/>
                                  </p:iterate>
                                  <p:childTnLst>
                                    <p:set>
                                      <p:cBhvr>
                                        <p:cTn id="442" dur="1" fill="hold">
                                          <p:stCondLst>
                                            <p:cond delay="0"/>
                                          </p:stCondLst>
                                        </p:cTn>
                                        <p:tgtEl>
                                          <p:spTgt spid="783"/>
                                        </p:tgtEl>
                                        <p:attrNameLst>
                                          <p:attrName>style.visibility</p:attrName>
                                        </p:attrNameLst>
                                      </p:cBhvr>
                                      <p:to>
                                        <p:strVal val="visible"/>
                                      </p:to>
                                    </p:set>
                                    <p:animEffect filter="fade" transition="in">
                                      <p:cBhvr additive="repl">
                                        <p:cTn id="443" dur="500"/>
                                        <p:tgtEl>
                                          <p:spTgt spid="7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5"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fontScale="88000"/>
          </a:bodyPr>
          <a:p>
            <a:pPr indent="0">
              <a:lnSpc>
                <a:spcPct val="90000"/>
              </a:lnSpc>
              <a:buNone/>
              <a:tabLst>
                <a:tab algn="l" pos="0"/>
              </a:tabLst>
            </a:pPr>
            <a:r>
              <a:rPr b="0" lang="en-US" sz="3000" spc="-1" strike="noStrike">
                <a:solidFill>
                  <a:srgbClr val="000000"/>
                </a:solidFill>
                <a:latin typeface="Aptos Display"/>
              </a:rPr>
              <a:t>Global  Efficiency (Harmonic Compactness)</a:t>
            </a:r>
            <a:endParaRPr b="0" lang="en-US" sz="3000" spc="-1" strike="noStrike">
              <a:solidFill>
                <a:srgbClr val="000000"/>
              </a:solidFill>
              <a:latin typeface="Arial"/>
            </a:endParaRPr>
          </a:p>
        </p:txBody>
      </p:sp>
      <p:sp>
        <p:nvSpPr>
          <p:cNvPr id="786" name="PlaceHolder 2"/>
          <p:cNvSpPr>
            <a:spLocks noGrp="1"/>
          </p:cNvSpPr>
          <p:nvPr>
            <p:ph type="ftr" idx="15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87"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WHAT it Measures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Global efficiency</a:t>
            </a:r>
            <a:r>
              <a:rPr b="0" lang="en-US" sz="1100" spc="-1" strike="noStrike">
                <a:solidFill>
                  <a:srgbClr val="000000"/>
                </a:solidFill>
                <a:latin typeface="Segoe UI"/>
              </a:rPr>
              <a:t> quantifies </a:t>
            </a:r>
            <a:r>
              <a:rPr b="0" i="1" lang="en-US" sz="1100" spc="-1" strike="noStrike">
                <a:solidFill>
                  <a:srgbClr val="000000"/>
                </a:solidFill>
                <a:latin typeface="Segoe UI"/>
              </a:rPr>
              <a:t>how efficiently information or influence propagates across the entire network</a:t>
            </a:r>
            <a:r>
              <a:rPr b="0" lang="en-US" sz="1100" spc="-1" strike="noStrike">
                <a:solidFill>
                  <a:srgbClr val="000000"/>
                </a:solidFill>
                <a:latin typeface="Segoe UI"/>
              </a:rPr>
              <a:t>, assuming interaction follows shortest paths but allows for </a:t>
            </a:r>
            <a:r>
              <a:rPr b="1" lang="en-US" sz="1100" spc="-1" strike="noStrike">
                <a:solidFill>
                  <a:srgbClr val="000000"/>
                </a:solidFill>
                <a:latin typeface="Segoe UI"/>
              </a:rPr>
              <a:t>partial connectivity</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Formally, it measures the </a:t>
            </a:r>
            <a:r>
              <a:rPr b="1" lang="en-US" sz="1100" spc="-1" strike="noStrike">
                <a:solidFill>
                  <a:srgbClr val="000000"/>
                </a:solidFill>
                <a:latin typeface="Segoe UI"/>
              </a:rPr>
              <a:t>average inverse shortest‑path distance</a:t>
            </a:r>
            <a:r>
              <a:rPr b="0" lang="en-US" sz="1100" spc="-1" strike="noStrike">
                <a:solidFill>
                  <a:srgbClr val="000000"/>
                </a:solidFill>
                <a:latin typeface="Segoe UI"/>
              </a:rPr>
              <a:t> between all ordered pairs of nodes.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Unlike average path length, global efficiency does </a:t>
            </a:r>
            <a:r>
              <a:rPr b="1" lang="en-US" sz="1100" spc="-1" strike="noStrike">
                <a:solidFill>
                  <a:srgbClr val="000000"/>
                </a:solidFill>
                <a:latin typeface="Segoe UI"/>
              </a:rPr>
              <a:t>not require all nodes to be reachable</a:t>
            </a:r>
            <a:r>
              <a:rPr b="0" lang="en-US" sz="1100" spc="-1" strike="noStrike">
                <a:solidFill>
                  <a:srgbClr val="000000"/>
                </a:solidFill>
                <a:latin typeface="Segoe UI"/>
              </a:rPr>
              <a:t>. If two nodes are disconnected, their contribution is 0 rather than infinite—making this metric well‑defined even for fragmented networks.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it Matters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Global efficiency reveals how </a:t>
            </a:r>
            <a:r>
              <a:rPr b="1" lang="en-US" sz="1100" spc="-1" strike="noStrike">
                <a:solidFill>
                  <a:srgbClr val="000000"/>
                </a:solidFill>
                <a:latin typeface="Segoe UI"/>
              </a:rPr>
              <a:t>topological structure translates into system‑level performance</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Because the metric is based on </a:t>
            </a:r>
            <a:r>
              <a:rPr b="1" lang="en-US" sz="1100" spc="-1" strike="noStrike">
                <a:solidFill>
                  <a:srgbClr val="000000"/>
                </a:solidFill>
                <a:latin typeface="Segoe UI"/>
              </a:rPr>
              <a:t>inverse distances</a:t>
            </a:r>
            <a:r>
              <a:rPr b="0" lang="en-US" sz="1100" spc="-1" strike="noStrike">
                <a:solidFill>
                  <a:srgbClr val="000000"/>
                </a:solidFill>
                <a:latin typeface="Segoe UI"/>
              </a:rPr>
              <a:t>, it strongly rewards: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Many </a:t>
            </a:r>
            <a:r>
              <a:rPr b="1" lang="en-US" sz="1100" spc="-1" strike="noStrike">
                <a:solidFill>
                  <a:srgbClr val="000000"/>
                </a:solidFill>
                <a:latin typeface="Segoe UI"/>
              </a:rPr>
              <a:t>short paths</a:t>
            </a:r>
            <a:r>
              <a:rPr b="0" lang="en-US" sz="1100" spc="-1" strike="noStrike">
                <a:solidFill>
                  <a:srgbClr val="000000"/>
                </a:solidFill>
                <a:latin typeface="Segoe UI"/>
              </a:rPr>
              <a:t>,</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A well‑connected core, and</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High embeddedness of local neighborhoods.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penalizes: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Long routes that dominate in lattice‑like or chain‑like structures,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Fragmentation that limits reachability,</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Excessive dependency on sparse articulation points.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is one of the metrics that best reflects the </a:t>
            </a:r>
            <a:r>
              <a:rPr b="1" lang="en-US" sz="1100" spc="-1" strike="noStrike">
                <a:solidFill>
                  <a:srgbClr val="000000"/>
                </a:solidFill>
                <a:latin typeface="Segoe UI"/>
              </a:rPr>
              <a:t>functional capacity</a:t>
            </a:r>
            <a:r>
              <a:rPr b="0" lang="en-US" sz="1100" spc="-1" strike="noStrike">
                <a:solidFill>
                  <a:srgbClr val="000000"/>
                </a:solidFill>
                <a:latin typeface="Segoe UI"/>
              </a:rPr>
              <a:t> of a network rather than raw connectivity (e.g., density, degree).</a:t>
            </a: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8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89" name="PlaceHolder 4"/>
          <p:cNvSpPr>
            <a:spLocks noGrp="1"/>
          </p:cNvSpPr>
          <p:nvPr>
            <p:ph type="sldNum" idx="15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558A1363-3354-4785-8E84-7E7AD97CD4E3}" type="slidenum">
              <a:rPr b="0" lang="en-US" sz="1200" spc="-1" strike="noStrike">
                <a:solidFill>
                  <a:srgbClr val="787878"/>
                </a:solidFill>
                <a:latin typeface="Aptos"/>
              </a:rPr>
              <a:t>67</a:t>
            </a:fld>
            <a:endParaRPr b="0" lang="en-US" sz="1200" spc="-1" strike="noStrike">
              <a:solidFill>
                <a:srgbClr val="000000"/>
              </a:solidFill>
              <a:latin typeface="Times New Roman"/>
            </a:endParaRPr>
          </a:p>
        </p:txBody>
      </p:sp>
    </p:spTree>
  </p:cSld>
  <p:transition>
    <p:fade/>
  </p:transition>
  <p:timing>
    <p:tnLst>
      <p:par>
        <p:cTn id="444" dur="indefinite" restart="never" nodeType="tmRoot">
          <p:childTnLst>
            <p:seq>
              <p:cTn id="445" dur="indefinite" nodeType="mainSeq">
                <p:childTnLst>
                  <p:par>
                    <p:cTn id="446" fill="hold">
                      <p:stCondLst>
                        <p:cond delay="0"/>
                      </p:stCondLst>
                      <p:childTnLst>
                        <p:par>
                          <p:cTn id="447" fill="hold">
                            <p:stCondLst>
                              <p:cond delay="0"/>
                            </p:stCondLst>
                            <p:childTnLst>
                              <p:par>
                                <p:cTn id="448" nodeType="withEffect" fill="hold" presetClass="entr" presetID="10">
                                  <p:stCondLst>
                                    <p:cond delay="250"/>
                                  </p:stCondLst>
                                  <p:iterate type="el">
                                    <p:tmAbs val="100"/>
                                  </p:iterate>
                                  <p:childTnLst>
                                    <p:set>
                                      <p:cBhvr>
                                        <p:cTn id="449" dur="1" fill="hold">
                                          <p:stCondLst>
                                            <p:cond delay="0"/>
                                          </p:stCondLst>
                                        </p:cTn>
                                        <p:tgtEl>
                                          <p:spTgt spid="787"/>
                                        </p:tgtEl>
                                        <p:attrNameLst>
                                          <p:attrName>style.visibility</p:attrName>
                                        </p:attrNameLst>
                                      </p:cBhvr>
                                      <p:to>
                                        <p:strVal val="visible"/>
                                      </p:to>
                                    </p:set>
                                    <p:animEffect filter="fade" transition="in">
                                      <p:cBhvr additive="repl">
                                        <p:cTn id="450" dur="500"/>
                                        <p:tgtEl>
                                          <p:spTgt spid="7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0"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fontScale="88000"/>
          </a:bodyPr>
          <a:p>
            <a:pPr indent="0">
              <a:lnSpc>
                <a:spcPct val="90000"/>
              </a:lnSpc>
              <a:buNone/>
              <a:tabLst>
                <a:tab algn="l" pos="0"/>
              </a:tabLst>
            </a:pPr>
            <a:r>
              <a:rPr b="0" lang="en-US" sz="3000" spc="-1" strike="noStrike">
                <a:solidFill>
                  <a:srgbClr val="000000"/>
                </a:solidFill>
                <a:latin typeface="Aptos Display"/>
              </a:rPr>
              <a:t>Global  Efficiency (Harmonic Compactness)</a:t>
            </a:r>
            <a:endParaRPr b="0" lang="en-US" sz="3000" spc="-1" strike="noStrike">
              <a:solidFill>
                <a:srgbClr val="000000"/>
              </a:solidFill>
              <a:latin typeface="Arial"/>
            </a:endParaRPr>
          </a:p>
        </p:txBody>
      </p:sp>
      <p:sp>
        <p:nvSpPr>
          <p:cNvPr id="791" name="PlaceHolder 2"/>
          <p:cNvSpPr>
            <a:spLocks noGrp="1"/>
          </p:cNvSpPr>
          <p:nvPr>
            <p:ph type="ftr" idx="16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92"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WHEN Global Efficiency Is Appropriate</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Use global efficiency when: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You want to assess </a:t>
            </a:r>
            <a:r>
              <a:rPr b="1" lang="en-US" sz="1100" spc="-1" strike="noStrike">
                <a:solidFill>
                  <a:srgbClr val="000000"/>
                </a:solidFill>
                <a:latin typeface="Segoe UI"/>
              </a:rPr>
              <a:t>communication performance</a:t>
            </a:r>
            <a:r>
              <a:rPr b="0" lang="en-US" sz="1100" spc="-1" strike="noStrike">
                <a:solidFill>
                  <a:srgbClr val="000000"/>
                </a:solidFill>
                <a:latin typeface="Segoe UI"/>
              </a:rPr>
              <a:t> or </a:t>
            </a:r>
            <a:r>
              <a:rPr b="1" lang="en-US" sz="1100" spc="-1" strike="noStrike">
                <a:solidFill>
                  <a:srgbClr val="000000"/>
                </a:solidFill>
                <a:latin typeface="Segoe UI"/>
              </a:rPr>
              <a:t>information diffusion capacity</a:t>
            </a:r>
            <a:r>
              <a:rPr b="0" lang="en-US" sz="1100" spc="-1" strike="noStrike">
                <a:solidFill>
                  <a:srgbClr val="000000"/>
                </a:solidFill>
                <a:latin typeface="Segoe UI"/>
              </a:rPr>
              <a:t> across the entire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 system experiences </a:t>
            </a:r>
            <a:r>
              <a:rPr b="1" lang="en-US" sz="1100" spc="-1" strike="noStrike">
                <a:solidFill>
                  <a:srgbClr val="000000"/>
                </a:solidFill>
                <a:latin typeface="Segoe UI"/>
              </a:rPr>
              <a:t>partial disconnections</a:t>
            </a:r>
            <a:r>
              <a:rPr b="0" lang="en-US" sz="1100" spc="-1" strike="noStrike">
                <a:solidFill>
                  <a:srgbClr val="000000"/>
                </a:solidFill>
                <a:latin typeface="Segoe UI"/>
              </a:rPr>
              <a:t>, and you need a measure that remains meaningful even as components break apart.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You analyze systems where </a:t>
            </a:r>
            <a:r>
              <a:rPr b="1" lang="en-US" sz="1100" spc="-1" strike="noStrike">
                <a:solidFill>
                  <a:srgbClr val="000000"/>
                </a:solidFill>
                <a:latin typeface="Segoe UI"/>
              </a:rPr>
              <a:t>speed of access, reaction, or propagation</a:t>
            </a:r>
            <a:r>
              <a:rPr b="0" lang="en-US" sz="1100" spc="-1" strike="noStrike">
                <a:solidFill>
                  <a:srgbClr val="000000"/>
                </a:solidFill>
                <a:latin typeface="Segoe UI"/>
              </a:rPr>
              <a:t> is essential: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Organizational decision networks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Transportation and mobility systems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Neural networks and functional brain connectivity</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Epidemiological or contagion models (especially early‑stage spread)</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Social networks where information travels through short sequences of intermediaries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You want to quantify how </a:t>
            </a:r>
            <a:r>
              <a:rPr b="1" lang="en-US" sz="1100" spc="-1" strike="noStrike">
                <a:solidFill>
                  <a:srgbClr val="000000"/>
                </a:solidFill>
                <a:latin typeface="Segoe UI"/>
              </a:rPr>
              <a:t>rewiring</a:t>
            </a:r>
            <a:r>
              <a:rPr b="0" lang="en-US" sz="1100" spc="-1" strike="noStrike">
                <a:solidFill>
                  <a:srgbClr val="000000"/>
                </a:solidFill>
                <a:latin typeface="Segoe UI"/>
              </a:rPr>
              <a:t>, edge addition, or targeted attacks affect system‑level performance.</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100" spc="-1" strike="noStrike">
                <a:solidFill>
                  <a:srgbClr val="000000"/>
                </a:solidFill>
                <a:latin typeface="Segoe UI"/>
              </a:rPr>
              <a:t>Avoid using global efficiency when: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Distances are </a:t>
            </a:r>
            <a:r>
              <a:rPr b="1" lang="en-US" sz="1100" spc="-1" strike="noStrike">
                <a:solidFill>
                  <a:srgbClr val="000000"/>
                </a:solidFill>
                <a:latin typeface="Segoe UI"/>
              </a:rPr>
              <a:t>not</a:t>
            </a:r>
            <a:r>
              <a:rPr b="0" lang="en-US" sz="1100" spc="-1" strike="noStrike">
                <a:solidFill>
                  <a:srgbClr val="000000"/>
                </a:solidFill>
                <a:latin typeface="Segoe UI"/>
              </a:rPr>
              <a:t> a meaningful proxy for cost or time (e.g., broadcast networks where transmission is simultaneous).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Processes follow </a:t>
            </a:r>
            <a:r>
              <a:rPr b="1" lang="en-US" sz="1100" spc="-1" strike="noStrike">
                <a:solidFill>
                  <a:srgbClr val="000000"/>
                </a:solidFill>
                <a:latin typeface="Segoe UI"/>
              </a:rPr>
              <a:t>non‑shortest‑path</a:t>
            </a:r>
            <a:r>
              <a:rPr b="0" lang="en-US" sz="1100" spc="-1" strike="noStrike">
                <a:solidFill>
                  <a:srgbClr val="000000"/>
                </a:solidFill>
                <a:latin typeface="Segoe UI"/>
              </a:rPr>
              <a:t> routing (e.g., random walks, gossip spreading).</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 network is so large that computing full‑pair shortest paths is computationally infeasible without approximation.</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93"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94" name="PlaceHolder 4"/>
          <p:cNvSpPr>
            <a:spLocks noGrp="1"/>
          </p:cNvSpPr>
          <p:nvPr>
            <p:ph type="sldNum" idx="16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411ACE5F-CA04-4DC4-BAEC-D49C93B7CB87}" type="slidenum">
              <a:rPr b="0" lang="en-US" sz="1200" spc="-1" strike="noStrike">
                <a:solidFill>
                  <a:srgbClr val="787878"/>
                </a:solidFill>
                <a:latin typeface="Aptos"/>
              </a:rPr>
              <a:t>68</a:t>
            </a:fld>
            <a:endParaRPr b="0" lang="en-US" sz="1200" spc="-1" strike="noStrike">
              <a:solidFill>
                <a:srgbClr val="000000"/>
              </a:solidFill>
              <a:latin typeface="Times New Roman"/>
            </a:endParaRPr>
          </a:p>
        </p:txBody>
      </p:sp>
    </p:spTree>
  </p:cSld>
  <p:transition>
    <p:fade/>
  </p:transition>
  <p:timing>
    <p:tnLst>
      <p:par>
        <p:cTn id="451" dur="indefinite" restart="never" nodeType="tmRoot">
          <p:childTnLst>
            <p:seq>
              <p:cTn id="452" dur="indefinite" nodeType="mainSeq">
                <p:childTnLst>
                  <p:par>
                    <p:cTn id="453" fill="hold">
                      <p:stCondLst>
                        <p:cond delay="0"/>
                      </p:stCondLst>
                      <p:childTnLst>
                        <p:par>
                          <p:cTn id="454" fill="hold">
                            <p:stCondLst>
                              <p:cond delay="0"/>
                            </p:stCondLst>
                            <p:childTnLst>
                              <p:par>
                                <p:cTn id="455" nodeType="withEffect" fill="hold" presetClass="entr" presetID="10">
                                  <p:stCondLst>
                                    <p:cond delay="250"/>
                                  </p:stCondLst>
                                  <p:iterate type="el">
                                    <p:tmAbs val="100"/>
                                  </p:iterate>
                                  <p:childTnLst>
                                    <p:set>
                                      <p:cBhvr>
                                        <p:cTn id="456" dur="1" fill="hold">
                                          <p:stCondLst>
                                            <p:cond delay="0"/>
                                          </p:stCondLst>
                                        </p:cTn>
                                        <p:tgtEl>
                                          <p:spTgt spid="792"/>
                                        </p:tgtEl>
                                        <p:attrNameLst>
                                          <p:attrName>style.visibility</p:attrName>
                                        </p:attrNameLst>
                                      </p:cBhvr>
                                      <p:to>
                                        <p:strVal val="visible"/>
                                      </p:to>
                                    </p:set>
                                    <p:animEffect filter="fade" transition="in">
                                      <p:cBhvr additive="repl">
                                        <p:cTn id="457" dur="500"/>
                                        <p:tgtEl>
                                          <p:spTgt spid="7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5"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fontScale="88000"/>
          </a:bodyPr>
          <a:p>
            <a:pPr indent="0">
              <a:lnSpc>
                <a:spcPct val="90000"/>
              </a:lnSpc>
              <a:buNone/>
              <a:tabLst>
                <a:tab algn="l" pos="0"/>
              </a:tabLst>
            </a:pPr>
            <a:r>
              <a:rPr b="0" lang="en-US" sz="3000" spc="-1" strike="noStrike">
                <a:solidFill>
                  <a:srgbClr val="000000"/>
                </a:solidFill>
                <a:latin typeface="Aptos Display"/>
              </a:rPr>
              <a:t>Global  Efficiency (Harmonic Compactness)</a:t>
            </a:r>
            <a:endParaRPr b="0" lang="en-US" sz="3000" spc="-1" strike="noStrike">
              <a:solidFill>
                <a:srgbClr val="000000"/>
              </a:solidFill>
              <a:latin typeface="Arial"/>
            </a:endParaRPr>
          </a:p>
        </p:txBody>
      </p:sp>
      <p:sp>
        <p:nvSpPr>
          <p:cNvPr id="796" name="PlaceHolder 2"/>
          <p:cNvSpPr>
            <a:spLocks noGrp="1"/>
          </p:cNvSpPr>
          <p:nvPr>
            <p:ph type="ftr" idx="16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797"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INTERPRETATION (High vs Low)</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High Global Efficiency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Short average distances and strong overall connectivity.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Many </a:t>
            </a:r>
            <a:r>
              <a:rPr b="1" lang="en-US" sz="1100" spc="-1" strike="noStrike">
                <a:solidFill>
                  <a:srgbClr val="000000"/>
                </a:solidFill>
                <a:latin typeface="Segoe UI"/>
              </a:rPr>
              <a:t>alternative short paths</a:t>
            </a:r>
            <a:r>
              <a:rPr b="0" lang="en-US" sz="1100" spc="-1" strike="noStrike">
                <a:solidFill>
                  <a:srgbClr val="000000"/>
                </a:solidFill>
                <a:latin typeface="Segoe UI"/>
              </a:rPr>
              <a:t>, providing redundancy and high performance.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The network supports </a:t>
            </a:r>
            <a:r>
              <a:rPr b="1" lang="en-US" sz="1100" spc="-1" strike="noStrike">
                <a:solidFill>
                  <a:srgbClr val="000000"/>
                </a:solidFill>
                <a:latin typeface="Segoe UI"/>
              </a:rPr>
              <a:t>rapid information spread</a:t>
            </a:r>
            <a:r>
              <a:rPr b="0" lang="en-US" sz="1100" spc="-1" strike="noStrike">
                <a:solidFill>
                  <a:srgbClr val="000000"/>
                </a:solidFill>
                <a:latin typeface="Segoe UI"/>
              </a:rPr>
              <a:t>, coordination, and synchronization.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Often indicates the presence of </a:t>
            </a:r>
            <a:r>
              <a:rPr b="1" lang="en-US" sz="1100" spc="-1" strike="noStrike">
                <a:solidFill>
                  <a:srgbClr val="000000"/>
                </a:solidFill>
                <a:latin typeface="Segoe UI"/>
              </a:rPr>
              <a:t>small‑world shortcuts</a:t>
            </a:r>
            <a:r>
              <a:rPr b="0" lang="en-US" sz="1100" spc="-1" strike="noStrike">
                <a:solidFill>
                  <a:srgbClr val="000000"/>
                </a:solidFill>
                <a:latin typeface="Segoe UI"/>
              </a:rPr>
              <a:t>, hub‑like structures, or dense cores.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Low Global Efficiency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Many long paths; communication or influence spreads slowly.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Bottlenecks force information to traverse extended chains of intermediaries.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Fragmented or sparsely linked networks show very low global efficiency.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Even if a giant component is present, poor redundancy or modular segmentation reduces functional performance.</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Important Subtleties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 network can have </a:t>
            </a:r>
            <a:r>
              <a:rPr b="1" lang="en-US" sz="1100" spc="-1" strike="noStrike">
                <a:solidFill>
                  <a:srgbClr val="000000"/>
                </a:solidFill>
                <a:latin typeface="Segoe UI"/>
              </a:rPr>
              <a:t>high density but low efficiency</a:t>
            </a:r>
            <a:r>
              <a:rPr b="0" lang="en-US" sz="1100" spc="-1" strike="noStrike">
                <a:solidFill>
                  <a:srgbClr val="000000"/>
                </a:solidFill>
                <a:latin typeface="Segoe UI"/>
              </a:rPr>
              <a:t> if edges are poorly placed (e.g., many local triangles but no long‑range shortcuts).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Conversely, </a:t>
            </a:r>
            <a:r>
              <a:rPr b="1" lang="en-US" sz="1100" spc="-1" strike="noStrike">
                <a:solidFill>
                  <a:srgbClr val="000000"/>
                </a:solidFill>
                <a:latin typeface="Segoe UI"/>
              </a:rPr>
              <a:t>strategically placed shortcuts</a:t>
            </a:r>
            <a:r>
              <a:rPr b="0" lang="en-US" sz="1100" spc="-1" strike="noStrike">
                <a:solidFill>
                  <a:srgbClr val="000000"/>
                </a:solidFill>
                <a:latin typeface="Segoe UI"/>
              </a:rPr>
              <a:t> can dramatically raise global efficiency with minimal added edges.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global efficiency does </a:t>
            </a:r>
            <a:r>
              <a:rPr b="1" lang="en-US" sz="1100" spc="-1" strike="noStrike">
                <a:solidFill>
                  <a:srgbClr val="000000"/>
                </a:solidFill>
                <a:latin typeface="Segoe UI"/>
              </a:rPr>
              <a:t>not</a:t>
            </a:r>
            <a:r>
              <a:rPr b="0" lang="en-US" sz="1100" spc="-1" strike="noStrike">
                <a:solidFill>
                  <a:srgbClr val="000000"/>
                </a:solidFill>
                <a:latin typeface="Segoe UI"/>
              </a:rPr>
              <a:t> imply robustness — a centralized structure (e.g., star) has extremely high efficiency but collapses under targeted attacks.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79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799" name="PlaceHolder 4"/>
          <p:cNvSpPr>
            <a:spLocks noGrp="1"/>
          </p:cNvSpPr>
          <p:nvPr>
            <p:ph type="sldNum" idx="16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AA764D44-A150-4173-8EA7-7A3CE11BEF5E}" type="slidenum">
              <a:rPr b="0" lang="en-US" sz="1200" spc="-1" strike="noStrike">
                <a:solidFill>
                  <a:srgbClr val="787878"/>
                </a:solidFill>
                <a:latin typeface="Aptos"/>
              </a:rPr>
              <a:t>69</a:t>
            </a:fld>
            <a:endParaRPr b="0" lang="en-US" sz="1200" spc="-1" strike="noStrike">
              <a:solidFill>
                <a:srgbClr val="000000"/>
              </a:solidFill>
              <a:latin typeface="Times New Roman"/>
            </a:endParaRPr>
          </a:p>
        </p:txBody>
      </p:sp>
    </p:spTree>
  </p:cSld>
  <p:transition>
    <p:fade/>
  </p:transition>
  <p:timing>
    <p:tnLst>
      <p:par>
        <p:cTn id="458" dur="indefinite" restart="never" nodeType="tmRoot">
          <p:childTnLst>
            <p:seq>
              <p:cTn id="459" dur="indefinite" nodeType="mainSeq">
                <p:childTnLst>
                  <p:par>
                    <p:cTn id="460" fill="hold">
                      <p:stCondLst>
                        <p:cond delay="0"/>
                      </p:stCondLst>
                      <p:childTnLst>
                        <p:par>
                          <p:cTn id="461" fill="hold">
                            <p:stCondLst>
                              <p:cond delay="0"/>
                            </p:stCondLst>
                            <p:childTnLst>
                              <p:par>
                                <p:cTn id="462" nodeType="withEffect" fill="hold" presetClass="entr" presetID="10">
                                  <p:stCondLst>
                                    <p:cond delay="250"/>
                                  </p:stCondLst>
                                  <p:iterate type="el">
                                    <p:tmAbs val="100"/>
                                  </p:iterate>
                                  <p:childTnLst>
                                    <p:set>
                                      <p:cBhvr>
                                        <p:cTn id="463" dur="1" fill="hold">
                                          <p:stCondLst>
                                            <p:cond delay="0"/>
                                          </p:stCondLst>
                                        </p:cTn>
                                        <p:tgtEl>
                                          <p:spTgt spid="797"/>
                                        </p:tgtEl>
                                        <p:attrNameLst>
                                          <p:attrName>style.visibility</p:attrName>
                                        </p:attrNameLst>
                                      </p:cBhvr>
                                      <p:to>
                                        <p:strVal val="visible"/>
                                      </p:to>
                                    </p:set>
                                    <p:animEffect filter="fade" transition="in">
                                      <p:cBhvr additive="repl">
                                        <p:cTn id="464" dur="500"/>
                                        <p:tgtEl>
                                          <p:spTgt spid="7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0"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fontScale="88000"/>
          </a:bodyPr>
          <a:p>
            <a:pPr indent="0">
              <a:lnSpc>
                <a:spcPct val="90000"/>
              </a:lnSpc>
              <a:buNone/>
              <a:tabLst>
                <a:tab algn="l" pos="0"/>
              </a:tabLst>
            </a:pPr>
            <a:r>
              <a:rPr b="0" lang="en-US" sz="3000" spc="-1" strike="noStrike">
                <a:solidFill>
                  <a:srgbClr val="000000"/>
                </a:solidFill>
                <a:latin typeface="Aptos Display"/>
              </a:rPr>
              <a:t>Global  Efficiency (Harmonic Compactness)</a:t>
            </a:r>
            <a:endParaRPr b="0" lang="en-US" sz="3000" spc="-1" strike="noStrike">
              <a:solidFill>
                <a:srgbClr val="000000"/>
              </a:solidFill>
              <a:latin typeface="Arial"/>
            </a:endParaRPr>
          </a:p>
        </p:txBody>
      </p:sp>
      <p:sp>
        <p:nvSpPr>
          <p:cNvPr id="801" name="PlaceHolder 2"/>
          <p:cNvSpPr>
            <a:spLocks noGrp="1"/>
          </p:cNvSpPr>
          <p:nvPr>
            <p:ph type="ftr" idx="16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02"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Global efficiency integrates </a:t>
            </a:r>
            <a:r>
              <a:rPr b="1" lang="en-US" sz="1100" spc="-1" strike="noStrike">
                <a:solidFill>
                  <a:srgbClr val="000000"/>
                </a:solidFill>
                <a:latin typeface="Segoe UI"/>
              </a:rPr>
              <a:t>both</a:t>
            </a:r>
            <a:r>
              <a:rPr b="0" lang="en-US" sz="1100" spc="-1" strike="noStrike">
                <a:solidFill>
                  <a:srgbClr val="000000"/>
                </a:solidFill>
                <a:latin typeface="Segoe UI"/>
              </a:rPr>
              <a:t> connected and disconnected pairs.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As connectivity increases—particularly through long‑range or inter‑community edges—global efficiency tends to increase sharply.</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captures the difference between merely being connected and being </a:t>
            </a:r>
            <a:r>
              <a:rPr b="1" lang="en-US" sz="1100" spc="-1" strike="noStrike">
                <a:solidFill>
                  <a:srgbClr val="000000"/>
                </a:solidFill>
                <a:latin typeface="Segoe UI"/>
              </a:rPr>
              <a:t>efficiently connected</a:t>
            </a:r>
            <a:r>
              <a:rPr b="0" lang="en-US" sz="1100" spc="-1" strike="noStrike">
                <a:solidFill>
                  <a:srgbClr val="000000"/>
                </a:solidFill>
                <a:latin typeface="Segoe UI"/>
              </a:rPr>
              <a:t>.</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 networks with high global efficiency, targeted failure of key nodes or edges can dramatically reduce performance, especially if efficiency relies on </a:t>
            </a:r>
            <a:r>
              <a:rPr b="1" lang="en-US" sz="1100" spc="-1" strike="noStrike">
                <a:solidFill>
                  <a:srgbClr val="000000"/>
                </a:solidFill>
                <a:latin typeface="Segoe UI"/>
              </a:rPr>
              <a:t>a few critical shortcuts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Random failures tend to reduce efficiency gradually unless the network is already sparse or modular.</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Highly modular networks may maintain connectivity while suffering large drops in efficiency.</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Resilient networks maintain </a:t>
            </a:r>
            <a:r>
              <a:rPr b="1" lang="en-US" sz="1100" spc="-1" strike="noStrike">
                <a:solidFill>
                  <a:srgbClr val="000000"/>
                </a:solidFill>
                <a:latin typeface="Segoe UI"/>
              </a:rPr>
              <a:t>good efficiency under disruption</a:t>
            </a:r>
            <a:r>
              <a:rPr b="0" lang="en-US" sz="1100" spc="-1" strike="noStrike">
                <a:solidFill>
                  <a:srgbClr val="000000"/>
                </a:solidFill>
                <a:latin typeface="Segoe UI"/>
              </a:rPr>
              <a:t>, often via: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Multiple alternative short paths,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Redundant cross‑community bridges,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Distributed connectivity rather than reliance on a few hubs.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Rebuilding efficiency after failure often requires restoring </a:t>
            </a:r>
            <a:r>
              <a:rPr b="1" lang="en-US" sz="1100" spc="-1" strike="noStrike">
                <a:solidFill>
                  <a:srgbClr val="000000"/>
                </a:solidFill>
                <a:latin typeface="Segoe UI"/>
              </a:rPr>
              <a:t>bridges</a:t>
            </a:r>
            <a:r>
              <a:rPr b="0" lang="en-US" sz="1100" spc="-1" strike="noStrike">
                <a:solidFill>
                  <a:srgbClr val="000000"/>
                </a:solidFill>
                <a:latin typeface="Segoe UI"/>
              </a:rPr>
              <a:t> or </a:t>
            </a:r>
            <a:r>
              <a:rPr b="1" lang="en-US" sz="1100" spc="-1" strike="noStrike">
                <a:solidFill>
                  <a:srgbClr val="000000"/>
                </a:solidFill>
                <a:latin typeface="Segoe UI"/>
              </a:rPr>
              <a:t>short‑cut edges</a:t>
            </a:r>
            <a:r>
              <a:rPr b="0" lang="en-US" sz="1100" spc="-1" strike="noStrike">
                <a:solidFill>
                  <a:srgbClr val="000000"/>
                </a:solidFill>
                <a:latin typeface="Segoe UI"/>
              </a:rPr>
              <a:t>, not simply reconnecting components.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803"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804" name="PlaceHolder 4"/>
          <p:cNvSpPr>
            <a:spLocks noGrp="1"/>
          </p:cNvSpPr>
          <p:nvPr>
            <p:ph type="sldNum" idx="16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F7107293-D378-448A-9330-4C90940B174C}" type="slidenum">
              <a:rPr b="0" lang="en-US" sz="1200" spc="-1" strike="noStrike">
                <a:solidFill>
                  <a:srgbClr val="787878"/>
                </a:solidFill>
                <a:latin typeface="Aptos"/>
              </a:rPr>
              <a:t>70</a:t>
            </a:fld>
            <a:endParaRPr b="0" lang="en-US" sz="1200" spc="-1" strike="noStrike">
              <a:solidFill>
                <a:srgbClr val="000000"/>
              </a:solidFill>
              <a:latin typeface="Times New Roman"/>
            </a:endParaRPr>
          </a:p>
        </p:txBody>
      </p:sp>
    </p:spTree>
  </p:cSld>
  <p:transition>
    <p:fade/>
  </p:transition>
  <p:timing>
    <p:tnLst>
      <p:par>
        <p:cTn id="465" dur="indefinite" restart="never" nodeType="tmRoot">
          <p:childTnLst>
            <p:seq>
              <p:cTn id="466" dur="indefinite" nodeType="mainSeq">
                <p:childTnLst>
                  <p:par>
                    <p:cTn id="467" fill="hold">
                      <p:stCondLst>
                        <p:cond delay="0"/>
                      </p:stCondLst>
                      <p:childTnLst>
                        <p:par>
                          <p:cTn id="468" fill="hold">
                            <p:stCondLst>
                              <p:cond delay="0"/>
                            </p:stCondLst>
                            <p:childTnLst>
                              <p:par>
                                <p:cTn id="469" nodeType="withEffect" fill="hold" presetClass="entr" presetID="10">
                                  <p:stCondLst>
                                    <p:cond delay="250"/>
                                  </p:stCondLst>
                                  <p:iterate type="el">
                                    <p:tmAbs val="100"/>
                                  </p:iterate>
                                  <p:childTnLst>
                                    <p:set>
                                      <p:cBhvr>
                                        <p:cTn id="470" dur="1" fill="hold">
                                          <p:stCondLst>
                                            <p:cond delay="0"/>
                                          </p:stCondLst>
                                        </p:cTn>
                                        <p:tgtEl>
                                          <p:spTgt spid="802"/>
                                        </p:tgtEl>
                                        <p:attrNameLst>
                                          <p:attrName>style.visibility</p:attrName>
                                        </p:attrNameLst>
                                      </p:cBhvr>
                                      <p:to>
                                        <p:strVal val="visible"/>
                                      </p:to>
                                    </p:set>
                                    <p:animEffect filter="fade" transition="in">
                                      <p:cBhvr additive="repl">
                                        <p:cTn id="471" dur="500"/>
                                        <p:tgtEl>
                                          <p:spTgt spid="8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5" name="PlaceHolder 1"/>
          <p:cNvSpPr>
            <a:spLocks noGrp="1"/>
          </p:cNvSpPr>
          <p:nvPr>
            <p:ph type="title"/>
          </p:nvPr>
        </p:nvSpPr>
        <p:spPr>
          <a:xfrm>
            <a:off x="841680" y="389880"/>
            <a:ext cx="7771680" cy="516960"/>
          </a:xfrm>
          <a:prstGeom prst="rect">
            <a:avLst/>
          </a:prstGeom>
          <a:noFill/>
          <a:ln w="0">
            <a:noFill/>
          </a:ln>
        </p:spPr>
        <p:txBody>
          <a:bodyPr lIns="90000" rIns="90000" tIns="45000" bIns="45000" anchor="b">
            <a:normAutofit fontScale="86000"/>
          </a:bodyPr>
          <a:p>
            <a:pPr indent="0">
              <a:lnSpc>
                <a:spcPct val="90000"/>
              </a:lnSpc>
              <a:buNone/>
              <a:tabLst>
                <a:tab algn="l" pos="0"/>
              </a:tabLst>
            </a:pPr>
            <a:r>
              <a:rPr b="0" lang="en-US" sz="3000" spc="-1" strike="noStrike">
                <a:solidFill>
                  <a:srgbClr val="000000"/>
                </a:solidFill>
                <a:latin typeface="Aptos Display"/>
              </a:rPr>
              <a:t>Global  Efficiency (Harmonic Compactness)</a:t>
            </a:r>
            <a:endParaRPr b="0" lang="en-US" sz="3000" spc="-1" strike="noStrike">
              <a:solidFill>
                <a:srgbClr val="000000"/>
              </a:solidFill>
              <a:latin typeface="Arial"/>
            </a:endParaRPr>
          </a:p>
        </p:txBody>
      </p:sp>
      <p:sp>
        <p:nvSpPr>
          <p:cNvPr id="806" name="PlaceHolder 2"/>
          <p:cNvSpPr>
            <a:spLocks noGrp="1"/>
          </p:cNvSpPr>
          <p:nvPr>
            <p:ph type="ftr" idx="16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07" name="PlaceHolder 3"/>
          <p:cNvSpPr>
            <a:spLocks noGrp="1"/>
          </p:cNvSpPr>
          <p:nvPr>
            <p:ph/>
          </p:nvPr>
        </p:nvSpPr>
        <p:spPr>
          <a:xfrm>
            <a:off x="841680" y="909720"/>
            <a:ext cx="8434440" cy="555120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808"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809" name="PlaceHolder 4"/>
          <p:cNvSpPr>
            <a:spLocks noGrp="1"/>
          </p:cNvSpPr>
          <p:nvPr>
            <p:ph type="sldNum" idx="16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E2745263-2434-4097-9BFB-ECB3308F94A9}" type="slidenum">
              <a:rPr b="0" lang="en-US" sz="1200" spc="-1" strike="noStrike">
                <a:solidFill>
                  <a:srgbClr val="787878"/>
                </a:solidFill>
                <a:latin typeface="Aptos"/>
              </a:rPr>
              <a:t>71</a:t>
            </a:fld>
            <a:endParaRPr b="0" lang="en-US" sz="1200" spc="-1" strike="noStrike">
              <a:solidFill>
                <a:srgbClr val="000000"/>
              </a:solidFill>
              <a:latin typeface="Times New Roman"/>
            </a:endParaRPr>
          </a:p>
        </p:txBody>
      </p:sp>
      <p:sp>
        <p:nvSpPr>
          <p:cNvPr id="810" name="TextBox 5"/>
          <p:cNvSpPr/>
          <p:nvPr/>
        </p:nvSpPr>
        <p:spPr>
          <a:xfrm>
            <a:off x="991800" y="1393560"/>
            <a:ext cx="8276760" cy="2009880"/>
          </a:xfrm>
          <a:prstGeom prst="rect">
            <a:avLst/>
          </a:prstGeom>
          <a:noFill/>
          <a:ln w="0">
            <a:noFill/>
          </a:ln>
        </p:spPr>
        <p:style>
          <a:lnRef idx="0"/>
          <a:fillRef idx="0"/>
          <a:effectRef idx="0"/>
          <a:fontRef idx="minor"/>
        </p:style>
        <p:txBody>
          <a:bodyPr numCol="1" spcCol="0" horzOverflow="overflow" vertOverflow="overflow" lIns="90000" rIns="90000" tIns="45000" bIns="45000" anchor="t">
            <a:spAutoFit/>
          </a:bodyPr>
          <a:p>
            <a:pPr>
              <a:lnSpc>
                <a:spcPct val="100000"/>
              </a:lnSpc>
            </a:pPr>
            <a:r>
              <a:rPr b="0" lang="en-US" sz="1800" spc="-1" strike="noStrike">
                <a:solidFill>
                  <a:srgbClr val="000000"/>
                </a:solidFill>
                <a:latin typeface="Aptos"/>
                <a:ea typeface="Aptos"/>
              </a:rPr>
              <a:t>Example Use Cases: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ptos"/>
                <a:ea typeface="Aptos"/>
              </a:rPr>
              <a:t>Latora, V., &amp; Marchiori, M. (2001). Efficient Behavior of Small-World Networks. </a:t>
            </a:r>
            <a:r>
              <a:rPr b="0" i="1" lang="en-US" sz="1800" spc="-1" strike="noStrike">
                <a:solidFill>
                  <a:srgbClr val="000000"/>
                </a:solidFill>
                <a:latin typeface="Aptos"/>
                <a:ea typeface="Aptos"/>
              </a:rPr>
              <a:t>Physical Review Letters</a:t>
            </a:r>
            <a:r>
              <a:rPr b="0" lang="en-US" sz="1800" spc="-1" strike="noStrike">
                <a:solidFill>
                  <a:srgbClr val="000000"/>
                </a:solidFill>
                <a:latin typeface="Aptos"/>
                <a:ea typeface="Aptos"/>
              </a:rPr>
              <a:t>, </a:t>
            </a:r>
            <a:r>
              <a:rPr b="0" i="1" lang="en-US" sz="1800" spc="-1" strike="noStrike">
                <a:solidFill>
                  <a:srgbClr val="000000"/>
                </a:solidFill>
                <a:latin typeface="Aptos"/>
                <a:ea typeface="Aptos"/>
              </a:rPr>
              <a:t>87</a:t>
            </a:r>
            <a:r>
              <a:rPr b="0" lang="en-US" sz="1800" spc="-1" strike="noStrike">
                <a:solidFill>
                  <a:srgbClr val="000000"/>
                </a:solidFill>
                <a:latin typeface="Aptos"/>
                <a:ea typeface="Aptos"/>
              </a:rPr>
              <a:t>(19). doi:10.1103/physrevlett.87.198701</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ptos"/>
                <a:ea typeface="Aptos"/>
              </a:rPr>
              <a:t>https://arxiv.org/pdf/cond-mat/0101396</a:t>
            </a: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p:txBody>
      </p:sp>
    </p:spTree>
  </p:cSld>
  <p:transition>
    <p:fade/>
  </p:transition>
  <p:timing>
    <p:tnLst>
      <p:par>
        <p:cTn id="472" dur="indefinite" restart="never" nodeType="tmRoot">
          <p:childTnLst>
            <p:seq>
              <p:cTn id="473" dur="indefinite" nodeType="mainSeq">
                <p:childTnLst>
                  <p:par>
                    <p:cTn id="474" fill="hold">
                      <p:stCondLst>
                        <p:cond delay="0"/>
                      </p:stCondLst>
                      <p:childTnLst>
                        <p:par>
                          <p:cTn id="475" fill="hold">
                            <p:stCondLst>
                              <p:cond delay="0"/>
                            </p:stCondLst>
                            <p:childTnLst>
                              <p:par>
                                <p:cTn id="476" nodeType="withEffect" fill="hold" presetClass="entr" presetID="10">
                                  <p:stCondLst>
                                    <p:cond delay="250"/>
                                  </p:stCondLst>
                                  <p:endCondLst>
                                    <p:cond delay="0" evt="begin">
                                      <p:tn val="476"/>
                                    </p:cond>
                                  </p:endCondLst>
                                  <p:iterate type="el">
                                    <p:tmAbs val="100"/>
                                  </p:iterate>
                                  <p:childTnLst>
                                    <p:set>
                                      <p:cBhvr>
                                        <p:cTn id="477" dur="1" fill="hold">
                                          <p:stCondLst>
                                            <p:cond delay="0"/>
                                          </p:stCondLst>
                                        </p:cTn>
                                        <p:tgtEl>
                                          <p:spTgt spid="807"/>
                                        </p:tgtEl>
                                        <p:attrNameLst>
                                          <p:attrName>style.visibility</p:attrName>
                                        </p:attrNameLst>
                                      </p:cBhvr>
                                      <p:to>
                                        <p:strVal val="visible"/>
                                      </p:to>
                                    </p:set>
                                    <p:animEffect filter="fade" transition="in">
                                      <p:cBhvr additive="repl">
                                        <p:cTn id="478" dur="500"/>
                                        <p:tgtEl>
                                          <p:spTgt spid="8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1"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Average Local  Efficiency</a:t>
            </a:r>
            <a:endParaRPr b="0" lang="en-US" sz="3000" spc="-1" strike="noStrike">
              <a:solidFill>
                <a:srgbClr val="000000"/>
              </a:solidFill>
              <a:latin typeface="Arial"/>
            </a:endParaRPr>
          </a:p>
        </p:txBody>
      </p:sp>
      <p:sp>
        <p:nvSpPr>
          <p:cNvPr id="812" name="PlaceHolder 2"/>
          <p:cNvSpPr>
            <a:spLocks noGrp="1"/>
          </p:cNvSpPr>
          <p:nvPr>
            <p:ph type="ftr" idx="16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13"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WHAT it Measures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Local efficiency</a:t>
            </a:r>
            <a:r>
              <a:rPr b="0" lang="en-US" sz="1100" spc="-1" strike="noStrike">
                <a:solidFill>
                  <a:srgbClr val="000000"/>
                </a:solidFill>
                <a:latin typeface="Segoe UI"/>
              </a:rPr>
              <a:t> of a node i evaluates the </a:t>
            </a:r>
            <a:r>
              <a:rPr b="1" lang="en-US" sz="1100" spc="-1" strike="noStrike">
                <a:solidFill>
                  <a:srgbClr val="000000"/>
                </a:solidFill>
                <a:latin typeface="Segoe UI"/>
              </a:rPr>
              <a:t>connectivity and redundancy among i’s neighbors when i is removed</a:t>
            </a:r>
            <a:r>
              <a:rPr b="0" lang="en-US" sz="1100" spc="-1" strike="noStrike">
                <a:solidFill>
                  <a:srgbClr val="000000"/>
                </a:solidFill>
                <a:latin typeface="Segoe UI"/>
              </a:rPr>
              <a:t>. Concretely, take the subgraph induced by i’s neighbors (with i deleted) and compute how efficiently those neighbors can still reach each other (using inverse shortest‑path distances within that subgraph). This is a </a:t>
            </a:r>
            <a:r>
              <a:rPr b="1" lang="en-US" sz="1100" spc="-1" strike="noStrike">
                <a:solidFill>
                  <a:srgbClr val="000000"/>
                </a:solidFill>
                <a:latin typeface="Segoe UI"/>
              </a:rPr>
              <a:t>meso‑scale</a:t>
            </a:r>
            <a:r>
              <a:rPr b="0" lang="en-US" sz="1100" spc="-1" strike="noStrike">
                <a:solidFill>
                  <a:srgbClr val="000000"/>
                </a:solidFill>
                <a:latin typeface="Segoe UI"/>
              </a:rPr>
              <a:t> property because it summarizes the structure of a single node’s neighborhood.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Average local efficiency</a:t>
            </a:r>
            <a:r>
              <a:rPr b="0" lang="en-US" sz="1100" spc="-1" strike="noStrike">
                <a:solidFill>
                  <a:srgbClr val="000000"/>
                </a:solidFill>
                <a:latin typeface="Segoe UI"/>
              </a:rPr>
              <a:t> is the </a:t>
            </a:r>
            <a:r>
              <a:rPr b="1" lang="en-US" sz="1100" spc="-1" strike="noStrike">
                <a:solidFill>
                  <a:srgbClr val="000000"/>
                </a:solidFill>
                <a:latin typeface="Segoe UI"/>
              </a:rPr>
              <a:t>mean of local efficiency over all nodes</a:t>
            </a:r>
            <a:r>
              <a:rPr b="0" lang="en-US" sz="1100" spc="-1" strike="noStrike">
                <a:solidFill>
                  <a:srgbClr val="000000"/>
                </a:solidFill>
                <a:latin typeface="Segoe UI"/>
              </a:rPr>
              <a:t>, yielding a </a:t>
            </a:r>
            <a:r>
              <a:rPr b="1" lang="en-US" sz="1100" spc="-1" strike="noStrike">
                <a:solidFill>
                  <a:srgbClr val="000000"/>
                </a:solidFill>
                <a:latin typeface="Segoe UI"/>
              </a:rPr>
              <a:t>macro‑scale</a:t>
            </a:r>
            <a:r>
              <a:rPr b="0" lang="en-US" sz="1100" spc="-1" strike="noStrike">
                <a:solidFill>
                  <a:srgbClr val="000000"/>
                </a:solidFill>
                <a:latin typeface="Segoe UI"/>
              </a:rPr>
              <a:t> descriptor of how resilient neighborhoods are </a:t>
            </a:r>
            <a:r>
              <a:rPr b="0" i="1" lang="en-US" sz="1100" spc="-1" strike="noStrike">
                <a:solidFill>
                  <a:srgbClr val="000000"/>
                </a:solidFill>
                <a:latin typeface="Segoe UI"/>
              </a:rPr>
              <a:t>in aggregate</a:t>
            </a:r>
            <a:r>
              <a:rPr b="0" lang="en-US" sz="1100" spc="-1" strike="noStrike">
                <a:solidFill>
                  <a:srgbClr val="000000"/>
                </a:solidFill>
                <a:latin typeface="Segoe UI"/>
              </a:rPr>
              <a:t> across the entire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Intuition: it captures </a:t>
            </a:r>
            <a:r>
              <a:rPr b="1" lang="en-US" sz="1100" spc="-1" strike="noStrike">
                <a:solidFill>
                  <a:srgbClr val="000000"/>
                </a:solidFill>
                <a:latin typeface="Segoe UI"/>
              </a:rPr>
              <a:t>local fault tolerance</a:t>
            </a:r>
            <a:r>
              <a:rPr b="0" lang="en-US" sz="1100" spc="-1" strike="noStrike">
                <a:solidFill>
                  <a:srgbClr val="000000"/>
                </a:solidFill>
                <a:latin typeface="Segoe UI"/>
              </a:rPr>
              <a:t>—does removing any given node strand its neighbors, or do they remain well‑connected through alternate routes?</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it Matters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Average local efficiency quantifies the </a:t>
            </a:r>
            <a:r>
              <a:rPr b="1" lang="en-US" sz="1100" spc="-1" strike="noStrike">
                <a:solidFill>
                  <a:srgbClr val="000000"/>
                </a:solidFill>
                <a:latin typeface="Segoe UI"/>
              </a:rPr>
              <a:t>built‑in redundancy of local wiring</a:t>
            </a:r>
            <a:r>
              <a:rPr b="0" lang="en-US" sz="1100" spc="-1" strike="noStrike">
                <a:solidFill>
                  <a:srgbClr val="000000"/>
                </a:solidFill>
                <a:latin typeface="Segoe UI"/>
              </a:rPr>
              <a:t>: triangles, multi‑step neighbor‑to‑neighbor paths, and rich ego‑network structure.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Whereas clustering/transitivity count </a:t>
            </a:r>
            <a:r>
              <a:rPr b="1" lang="en-US" sz="1100" spc="-1" strike="noStrike">
                <a:solidFill>
                  <a:srgbClr val="000000"/>
                </a:solidFill>
                <a:latin typeface="Segoe UI"/>
              </a:rPr>
              <a:t>closed triads</a:t>
            </a:r>
            <a:r>
              <a:rPr b="0" lang="en-US" sz="1100" spc="-1" strike="noStrike">
                <a:solidFill>
                  <a:srgbClr val="000000"/>
                </a:solidFill>
                <a:latin typeface="Segoe UI"/>
              </a:rPr>
              <a:t>, local efficiency assesses </a:t>
            </a:r>
            <a:r>
              <a:rPr b="1" lang="en-US" sz="1100" spc="-1" strike="noStrike">
                <a:solidFill>
                  <a:srgbClr val="000000"/>
                </a:solidFill>
                <a:latin typeface="Segoe UI"/>
              </a:rPr>
              <a:t>actual path accessibility among neighbors</a:t>
            </a:r>
            <a:r>
              <a:rPr b="0" lang="en-US" sz="1100" spc="-1" strike="noStrike">
                <a:solidFill>
                  <a:srgbClr val="000000"/>
                </a:solidFill>
                <a:latin typeface="Segoe UI"/>
              </a:rPr>
              <a:t>, including multi‑edge routes; it’s therefore </a:t>
            </a:r>
            <a:r>
              <a:rPr b="1" lang="en-US" sz="1100" spc="-1" strike="noStrike">
                <a:solidFill>
                  <a:srgbClr val="000000"/>
                </a:solidFill>
                <a:latin typeface="Segoe UI"/>
              </a:rPr>
              <a:t>more sensitive</a:t>
            </a:r>
            <a:r>
              <a:rPr b="0" lang="en-US" sz="1100" spc="-1" strike="noStrike">
                <a:solidFill>
                  <a:srgbClr val="000000"/>
                </a:solidFill>
                <a:latin typeface="Segoe UI"/>
              </a:rPr>
              <a:t> to near‑triadic structures and short cycles beyond triangles.</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WHEN it is Appropriate</a:t>
            </a:r>
            <a:endParaRPr b="0" lang="en-US" sz="14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Use average local efficiency when you need to evaluate </a:t>
            </a:r>
            <a:r>
              <a:rPr b="1" lang="en-US" sz="1100" spc="-1" strike="noStrike">
                <a:solidFill>
                  <a:srgbClr val="000000"/>
                </a:solidFill>
                <a:latin typeface="Segoe UI"/>
              </a:rPr>
              <a:t>local robustness and redundancy</a:t>
            </a:r>
            <a:r>
              <a:rPr b="0" lang="en-US" sz="1100" spc="-1" strike="noStrike">
                <a:solidFill>
                  <a:srgbClr val="000000"/>
                </a:solidFill>
                <a:latin typeface="Segoe UI"/>
              </a:rPr>
              <a:t> systematically across the network, for example: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Organizational</a:t>
            </a:r>
            <a:r>
              <a:rPr b="0" lang="en-US" sz="1100" spc="-1" strike="noStrike">
                <a:solidFill>
                  <a:srgbClr val="000000"/>
                </a:solidFill>
                <a:latin typeface="Segoe UI"/>
              </a:rPr>
              <a:t> or </a:t>
            </a:r>
            <a:r>
              <a:rPr b="1" lang="en-US" sz="1100" spc="-1" strike="noStrike">
                <a:solidFill>
                  <a:srgbClr val="000000"/>
                </a:solidFill>
                <a:latin typeface="Segoe UI"/>
              </a:rPr>
              <a:t>team</a:t>
            </a:r>
            <a:r>
              <a:rPr b="0" lang="en-US" sz="1100" spc="-1" strike="noStrike">
                <a:solidFill>
                  <a:srgbClr val="000000"/>
                </a:solidFill>
                <a:latin typeface="Segoe UI"/>
              </a:rPr>
              <a:t> networks (can teams continue coordination if a manager/lead is absent?).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Infrastructure</a:t>
            </a:r>
            <a:r>
              <a:rPr b="0" lang="en-US" sz="1100" spc="-1" strike="noStrike">
                <a:solidFill>
                  <a:srgbClr val="000000"/>
                </a:solidFill>
                <a:latin typeface="Segoe UI"/>
              </a:rPr>
              <a:t> and </a:t>
            </a:r>
            <a:r>
              <a:rPr b="1" lang="en-US" sz="1100" spc="-1" strike="noStrike">
                <a:solidFill>
                  <a:srgbClr val="000000"/>
                </a:solidFill>
                <a:latin typeface="Segoe UI"/>
              </a:rPr>
              <a:t>transportation</a:t>
            </a:r>
            <a:r>
              <a:rPr b="0" lang="en-US" sz="1100" spc="-1" strike="noStrike">
                <a:solidFill>
                  <a:srgbClr val="000000"/>
                </a:solidFill>
                <a:latin typeface="Segoe UI"/>
              </a:rPr>
              <a:t> (can local areas reroute around a failed junction?).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Neural</a:t>
            </a:r>
            <a:r>
              <a:rPr b="0" lang="en-US" sz="1100" spc="-1" strike="noStrike">
                <a:solidFill>
                  <a:srgbClr val="000000"/>
                </a:solidFill>
                <a:latin typeface="Segoe UI"/>
              </a:rPr>
              <a:t> or </a:t>
            </a:r>
            <a:r>
              <a:rPr b="1" lang="en-US" sz="1100" spc="-1" strike="noStrike">
                <a:solidFill>
                  <a:srgbClr val="000000"/>
                </a:solidFill>
                <a:latin typeface="Segoe UI"/>
              </a:rPr>
              <a:t>brain connectivity</a:t>
            </a:r>
            <a:r>
              <a:rPr b="0" lang="en-US" sz="1100" spc="-1" strike="noStrike">
                <a:solidFill>
                  <a:srgbClr val="000000"/>
                </a:solidFill>
                <a:latin typeface="Segoe UI"/>
              </a:rPr>
              <a:t> (local circuit resilience; compensation after lesion).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Online/social platforms</a:t>
            </a:r>
            <a:r>
              <a:rPr b="0" lang="en-US" sz="1100" spc="-1" strike="noStrike">
                <a:solidFill>
                  <a:srgbClr val="000000"/>
                </a:solidFill>
                <a:latin typeface="Segoe UI"/>
              </a:rPr>
              <a:t> (persistence of local communities if prominent actors churn).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1" lang="en-US" sz="1100" spc="-1" strike="noStrike">
                <a:solidFill>
                  <a:srgbClr val="000000"/>
                </a:solidFill>
                <a:latin typeface="Segoe UI"/>
              </a:rPr>
              <a:t>Security</a:t>
            </a:r>
            <a:r>
              <a:rPr b="0" lang="en-US" sz="1100" spc="-1" strike="noStrike">
                <a:solidFill>
                  <a:srgbClr val="000000"/>
                </a:solidFill>
                <a:latin typeface="Segoe UI"/>
              </a:rPr>
              <a:t> and </a:t>
            </a:r>
            <a:r>
              <a:rPr b="1" lang="en-US" sz="1100" spc="-1" strike="noStrike">
                <a:solidFill>
                  <a:srgbClr val="000000"/>
                </a:solidFill>
                <a:latin typeface="Segoe UI"/>
              </a:rPr>
              <a:t>resilience engineering</a:t>
            </a:r>
            <a:r>
              <a:rPr b="0" lang="en-US" sz="1100" spc="-1" strike="noStrike">
                <a:solidFill>
                  <a:srgbClr val="000000"/>
                </a:solidFill>
                <a:latin typeface="Segoe UI"/>
              </a:rPr>
              <a:t> (micro‑segmentation sustaining local operations).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2500"/>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814"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815" name="PlaceHolder 4"/>
          <p:cNvSpPr>
            <a:spLocks noGrp="1"/>
          </p:cNvSpPr>
          <p:nvPr>
            <p:ph type="sldNum" idx="16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E476866B-2AA2-4B39-946A-130E0ADB0E04}" type="slidenum">
              <a:rPr b="0" lang="en-US" sz="1200" spc="-1" strike="noStrike">
                <a:solidFill>
                  <a:srgbClr val="787878"/>
                </a:solidFill>
                <a:latin typeface="Aptos"/>
              </a:rPr>
              <a:t>72</a:t>
            </a:fld>
            <a:endParaRPr b="0" lang="en-US" sz="1200" spc="-1" strike="noStrike">
              <a:solidFill>
                <a:srgbClr val="000000"/>
              </a:solidFill>
              <a:latin typeface="Times New Roman"/>
            </a:endParaRPr>
          </a:p>
        </p:txBody>
      </p:sp>
    </p:spTree>
  </p:cSld>
  <p:transition>
    <p:fade/>
  </p:transition>
  <p:timing>
    <p:tnLst>
      <p:par>
        <p:cTn id="479" dur="indefinite" restart="never" nodeType="tmRoot">
          <p:childTnLst>
            <p:seq>
              <p:cTn id="480" dur="indefinite" nodeType="mainSeq">
                <p:childTnLst>
                  <p:par>
                    <p:cTn id="481" fill="hold">
                      <p:stCondLst>
                        <p:cond delay="0"/>
                      </p:stCondLst>
                      <p:childTnLst>
                        <p:par>
                          <p:cTn id="482" fill="hold">
                            <p:stCondLst>
                              <p:cond delay="0"/>
                            </p:stCondLst>
                            <p:childTnLst>
                              <p:par>
                                <p:cTn id="483" nodeType="withEffect" fill="hold" presetClass="entr" presetID="10">
                                  <p:stCondLst>
                                    <p:cond delay="250"/>
                                  </p:stCondLst>
                                  <p:iterate type="el">
                                    <p:tmAbs val="100"/>
                                  </p:iterate>
                                  <p:childTnLst>
                                    <p:set>
                                      <p:cBhvr>
                                        <p:cTn id="484" dur="1" fill="hold">
                                          <p:stCondLst>
                                            <p:cond delay="0"/>
                                          </p:stCondLst>
                                        </p:cTn>
                                        <p:tgtEl>
                                          <p:spTgt spid="813"/>
                                        </p:tgtEl>
                                        <p:attrNameLst>
                                          <p:attrName>style.visibility</p:attrName>
                                        </p:attrNameLst>
                                      </p:cBhvr>
                                      <p:to>
                                        <p:strVal val="visible"/>
                                      </p:to>
                                    </p:set>
                                    <p:animEffect filter="fade" transition="in">
                                      <p:cBhvr additive="repl">
                                        <p:cTn id="485" dur="500"/>
                                        <p:tgtEl>
                                          <p:spTgt spid="8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6"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Average Local  Efficiency</a:t>
            </a:r>
            <a:endParaRPr b="0" lang="en-US" sz="3000" spc="-1" strike="noStrike">
              <a:solidFill>
                <a:srgbClr val="000000"/>
              </a:solidFill>
              <a:latin typeface="Arial"/>
            </a:endParaRPr>
          </a:p>
        </p:txBody>
      </p:sp>
      <p:sp>
        <p:nvSpPr>
          <p:cNvPr id="817" name="PlaceHolder 2"/>
          <p:cNvSpPr>
            <a:spLocks noGrp="1"/>
          </p:cNvSpPr>
          <p:nvPr>
            <p:ph type="ftr" idx="17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18"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INTERPRETATION (High vs Low)</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Subtleties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Increasing </a:t>
            </a:r>
            <a:r>
              <a:rPr b="1" lang="en-US" sz="1100" spc="-1" strike="noStrike">
                <a:solidFill>
                  <a:srgbClr val="000000"/>
                </a:solidFill>
                <a:latin typeface="Segoe UI"/>
              </a:rPr>
              <a:t>density</a:t>
            </a:r>
            <a:r>
              <a:rPr b="0" lang="en-US" sz="1100" spc="-1" strike="noStrike">
                <a:solidFill>
                  <a:srgbClr val="000000"/>
                </a:solidFill>
                <a:latin typeface="Segoe UI"/>
              </a:rPr>
              <a:t> in a neighborhood tends to raise local efficiency, but </a:t>
            </a:r>
            <a:r>
              <a:rPr b="1" lang="en-US" sz="1100" spc="-1" strike="noStrike">
                <a:solidFill>
                  <a:srgbClr val="000000"/>
                </a:solidFill>
                <a:latin typeface="Segoe UI"/>
              </a:rPr>
              <a:t>where</a:t>
            </a:r>
            <a:r>
              <a:rPr b="0" lang="en-US" sz="1100" spc="-1" strike="noStrike">
                <a:solidFill>
                  <a:srgbClr val="000000"/>
                </a:solidFill>
                <a:latin typeface="Segoe UI"/>
              </a:rPr>
              <a:t> edges are added matters: edges between already‑connected neighbors yield diminishing returns vs. edges that create </a:t>
            </a:r>
            <a:r>
              <a:rPr b="1" lang="en-US" sz="1100" spc="-1" strike="noStrike">
                <a:solidFill>
                  <a:srgbClr val="000000"/>
                </a:solidFill>
                <a:latin typeface="Segoe UI"/>
              </a:rPr>
              <a:t>new alternate paths</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 network can have </a:t>
            </a:r>
            <a:r>
              <a:rPr b="1" lang="en-US" sz="1100" spc="-1" strike="noStrike">
                <a:solidFill>
                  <a:srgbClr val="000000"/>
                </a:solidFill>
                <a:latin typeface="Segoe UI"/>
              </a:rPr>
              <a:t>high global efficiency but low average local efficiency</a:t>
            </a:r>
            <a:r>
              <a:rPr b="0" lang="en-US" sz="1100" spc="-1" strike="noStrike">
                <a:solidFill>
                  <a:srgbClr val="000000"/>
                </a:solidFill>
                <a:latin typeface="Segoe UI"/>
              </a:rPr>
              <a:t> (e.g., centralized shortcuts without local redundancy), or the converse (locally redundant but globally plodding). These regimes imply different vulnerabilities.</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Average local efficiency refines connectivity by examining </a:t>
            </a:r>
            <a:r>
              <a:rPr b="1" lang="en-US" sz="1100" spc="-1" strike="noStrike">
                <a:solidFill>
                  <a:srgbClr val="000000"/>
                </a:solidFill>
                <a:latin typeface="Segoe UI"/>
              </a:rPr>
              <a:t>second‑order structure</a:t>
            </a:r>
            <a:r>
              <a:rPr b="0" lang="en-US" sz="1100" spc="-1" strike="noStrike">
                <a:solidFill>
                  <a:srgbClr val="000000"/>
                </a:solidFill>
                <a:latin typeface="Segoe UI"/>
              </a:rPr>
              <a:t>: not “are we connected?” but “do </a:t>
            </a:r>
            <a:r>
              <a:rPr b="1" lang="en-US" sz="1100" spc="-1" strike="noStrike">
                <a:solidFill>
                  <a:srgbClr val="000000"/>
                </a:solidFill>
                <a:latin typeface="Segoe UI"/>
              </a:rPr>
              <a:t>neighbors</a:t>
            </a:r>
            <a:r>
              <a:rPr b="0" lang="en-US" sz="1100" spc="-1" strike="noStrike">
                <a:solidFill>
                  <a:srgbClr val="000000"/>
                </a:solidFill>
                <a:latin typeface="Segoe UI"/>
              </a:rPr>
              <a:t> stay connected </a:t>
            </a:r>
            <a:r>
              <a:rPr b="1" lang="en-US" sz="1100" spc="-1" strike="noStrike">
                <a:solidFill>
                  <a:srgbClr val="000000"/>
                </a:solidFill>
                <a:latin typeface="Segoe UI"/>
              </a:rPr>
              <a:t>without</a:t>
            </a:r>
            <a:r>
              <a:rPr b="0" lang="en-US" sz="1100" spc="-1" strike="noStrike">
                <a:solidFill>
                  <a:srgbClr val="000000"/>
                </a:solidFill>
                <a:latin typeface="Segoe UI"/>
              </a:rPr>
              <a:t> the ego?”</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High values mean </a:t>
            </a:r>
            <a:r>
              <a:rPr b="1" lang="en-US" sz="1100" spc="-1" strike="noStrike">
                <a:solidFill>
                  <a:srgbClr val="000000"/>
                </a:solidFill>
                <a:latin typeface="Segoe UI"/>
              </a:rPr>
              <a:t>few local bottlenecks</a:t>
            </a:r>
            <a:r>
              <a:rPr b="0" lang="en-US" sz="1100" spc="-1" strike="noStrike">
                <a:solidFill>
                  <a:srgbClr val="000000"/>
                </a:solidFill>
                <a:latin typeface="Segoe UI"/>
              </a:rPr>
              <a:t> and </a:t>
            </a:r>
            <a:r>
              <a:rPr b="1" lang="en-US" sz="1100" spc="-1" strike="noStrike">
                <a:solidFill>
                  <a:srgbClr val="000000"/>
                </a:solidFill>
                <a:latin typeface="Segoe UI"/>
              </a:rPr>
              <a:t>less reliance on single mediators</a:t>
            </a:r>
            <a:r>
              <a:rPr b="0" lang="en-US" sz="1100" spc="-1" strike="noStrike">
                <a:solidFill>
                  <a:srgbClr val="000000"/>
                </a:solidFill>
                <a:latin typeface="Segoe UI"/>
              </a:rPr>
              <a:t> at the neighborhood level.</a:t>
            </a:r>
            <a:br>
              <a:rPr sz="1100"/>
            </a:br>
            <a:r>
              <a:rPr b="0" lang="en-US" sz="1100" spc="-1" strike="noStrike">
                <a:solidFill>
                  <a:srgbClr val="000000"/>
                </a:solidFill>
                <a:latin typeface="Segoe UI"/>
              </a:rPr>
              <a:t> </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 (Resistance to Failure)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High average local efficiency implies the network resists </a:t>
            </a:r>
            <a:r>
              <a:rPr b="1" lang="en-US" sz="1100" spc="-1" strike="noStrike">
                <a:solidFill>
                  <a:srgbClr val="000000"/>
                </a:solidFill>
                <a:latin typeface="Segoe UI"/>
              </a:rPr>
              <a:t>localized failures</a:t>
            </a:r>
            <a:r>
              <a:rPr b="0" lang="en-US" sz="1100" spc="-1" strike="noStrike">
                <a:solidFill>
                  <a:srgbClr val="000000"/>
                </a:solidFill>
                <a:latin typeface="Segoe UI"/>
              </a:rPr>
              <a:t>: random node removals typically </a:t>
            </a:r>
            <a:r>
              <a:rPr b="1" lang="en-US" sz="1100" spc="-1" strike="noStrike">
                <a:solidFill>
                  <a:srgbClr val="000000"/>
                </a:solidFill>
                <a:latin typeface="Segoe UI"/>
              </a:rPr>
              <a:t>do not</a:t>
            </a:r>
            <a:r>
              <a:rPr b="0" lang="en-US" sz="1100" spc="-1" strike="noStrike">
                <a:solidFill>
                  <a:srgbClr val="000000"/>
                </a:solidFill>
                <a:latin typeface="Segoe UI"/>
              </a:rPr>
              <a:t> sever neighbor interactions.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Targeted removal of nodes in </a:t>
            </a:r>
            <a:r>
              <a:rPr b="1" lang="en-US" sz="1100" spc="-1" strike="noStrike">
                <a:solidFill>
                  <a:srgbClr val="000000"/>
                </a:solidFill>
                <a:latin typeface="Segoe UI"/>
              </a:rPr>
              <a:t>low‑efficiency neighborhoods</a:t>
            </a:r>
            <a:r>
              <a:rPr b="0" lang="en-US" sz="1100" spc="-1" strike="noStrike">
                <a:solidFill>
                  <a:srgbClr val="000000"/>
                </a:solidFill>
                <a:latin typeface="Segoe UI"/>
              </a:rPr>
              <a:t> has outsized impact—use this metric to </a:t>
            </a:r>
            <a:r>
              <a:rPr b="1" lang="en-US" sz="1100" spc="-1" strike="noStrike">
                <a:solidFill>
                  <a:srgbClr val="000000"/>
                </a:solidFill>
                <a:latin typeface="Segoe UI"/>
              </a:rPr>
              <a:t>prioritize reinforcement</a:t>
            </a:r>
            <a:r>
              <a:rPr b="0" lang="en-US" sz="1100" spc="-1" strike="noStrike">
                <a:solidFill>
                  <a:srgbClr val="000000"/>
                </a:solidFill>
                <a:latin typeface="Segoe UI"/>
              </a:rPr>
              <a:t> (add neighbor‑to‑neighbor ties or micro‑bridges).</a:t>
            </a:r>
            <a:br>
              <a:rPr sz="1100"/>
            </a:br>
            <a:r>
              <a:rPr b="0" lang="en-US" sz="1100" spc="-1" strike="noStrike">
                <a:solidFill>
                  <a:srgbClr val="000000"/>
                </a:solidFill>
                <a:latin typeface="Segoe UI"/>
              </a:rPr>
              <a:t> </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 (Recovery/Continuity)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Locally efficient neighborhoods </a:t>
            </a:r>
            <a:r>
              <a:rPr b="1" lang="en-US" sz="1100" spc="-1" strike="noStrike">
                <a:solidFill>
                  <a:srgbClr val="000000"/>
                </a:solidFill>
                <a:latin typeface="Segoe UI"/>
              </a:rPr>
              <a:t>self‑heal</a:t>
            </a:r>
            <a:r>
              <a:rPr b="0" lang="en-US" sz="1100" spc="-1" strike="noStrike">
                <a:solidFill>
                  <a:srgbClr val="000000"/>
                </a:solidFill>
                <a:latin typeface="Segoe UI"/>
              </a:rPr>
              <a:t> operationally: since alternate routes already exist, </a:t>
            </a:r>
            <a:r>
              <a:rPr b="1" lang="en-US" sz="1100" spc="-1" strike="noStrike">
                <a:solidFill>
                  <a:srgbClr val="000000"/>
                </a:solidFill>
                <a:latin typeface="Segoe UI"/>
              </a:rPr>
              <a:t>recovery requires less rewiring</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Systems with high average local efficiency </a:t>
            </a:r>
            <a:r>
              <a:rPr b="1" lang="en-US" sz="1100" spc="-1" strike="noStrike">
                <a:solidFill>
                  <a:srgbClr val="000000"/>
                </a:solidFill>
                <a:latin typeface="Segoe UI"/>
              </a:rPr>
              <a:t>degrade gracefully</a:t>
            </a:r>
            <a:r>
              <a:rPr b="0" lang="en-US" sz="1100" spc="-1" strike="noStrike">
                <a:solidFill>
                  <a:srgbClr val="000000"/>
                </a:solidFill>
                <a:latin typeface="Segoe UI"/>
              </a:rPr>
              <a:t>: performance declines are </a:t>
            </a:r>
            <a:r>
              <a:rPr b="1" lang="en-US" sz="1100" spc="-1" strike="noStrike">
                <a:solidFill>
                  <a:srgbClr val="000000"/>
                </a:solidFill>
                <a:latin typeface="Segoe UI"/>
              </a:rPr>
              <a:t>localized</a:t>
            </a:r>
            <a:r>
              <a:rPr b="0" lang="en-US" sz="1100" spc="-1" strike="noStrike">
                <a:solidFill>
                  <a:srgbClr val="000000"/>
                </a:solidFill>
                <a:latin typeface="Segoe UI"/>
              </a:rPr>
              <a:t> rather than systemic, preserving global capacity while repairs proceed.</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819"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820" name="PlaceHolder 4"/>
          <p:cNvSpPr>
            <a:spLocks noGrp="1"/>
          </p:cNvSpPr>
          <p:nvPr>
            <p:ph type="sldNum" idx="17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D5909C5D-BF14-42C7-99AE-37C53F6B49C7}" type="slidenum">
              <a:rPr b="0" lang="en-US" sz="1200" spc="-1" strike="noStrike">
                <a:solidFill>
                  <a:srgbClr val="787878"/>
                </a:solidFill>
                <a:latin typeface="Aptos"/>
              </a:rPr>
              <a:t>73</a:t>
            </a:fld>
            <a:endParaRPr b="0" lang="en-US" sz="1200" spc="-1" strike="noStrike">
              <a:solidFill>
                <a:srgbClr val="000000"/>
              </a:solidFill>
              <a:latin typeface="Times New Roman"/>
            </a:endParaRPr>
          </a:p>
        </p:txBody>
      </p:sp>
    </p:spTree>
  </p:cSld>
  <p:transition>
    <p:fade/>
  </p:transition>
  <p:timing>
    <p:tnLst>
      <p:par>
        <p:cTn id="486" dur="indefinite" restart="never" nodeType="tmRoot">
          <p:childTnLst>
            <p:seq>
              <p:cTn id="487" dur="indefinite" nodeType="mainSeq">
                <p:childTnLst>
                  <p:par>
                    <p:cTn id="488" fill="hold">
                      <p:stCondLst>
                        <p:cond delay="0"/>
                      </p:stCondLst>
                      <p:childTnLst>
                        <p:par>
                          <p:cTn id="489" fill="hold">
                            <p:stCondLst>
                              <p:cond delay="0"/>
                            </p:stCondLst>
                            <p:childTnLst>
                              <p:par>
                                <p:cTn id="490" nodeType="withEffect" fill="hold" presetClass="entr" presetID="10">
                                  <p:stCondLst>
                                    <p:cond delay="250"/>
                                  </p:stCondLst>
                                  <p:iterate type="el">
                                    <p:tmAbs val="100"/>
                                  </p:iterate>
                                  <p:childTnLst>
                                    <p:set>
                                      <p:cBhvr>
                                        <p:cTn id="491" dur="1" fill="hold">
                                          <p:stCondLst>
                                            <p:cond delay="0"/>
                                          </p:stCondLst>
                                        </p:cTn>
                                        <p:tgtEl>
                                          <p:spTgt spid="818"/>
                                        </p:tgtEl>
                                        <p:attrNameLst>
                                          <p:attrName>style.visibility</p:attrName>
                                        </p:attrNameLst>
                                      </p:cBhvr>
                                      <p:to>
                                        <p:strVal val="visible"/>
                                      </p:to>
                                    </p:set>
                                    <p:animEffect filter="fade" transition="in">
                                      <p:cBhvr additive="repl">
                                        <p:cTn id="492" dur="500"/>
                                        <p:tgtEl>
                                          <p:spTgt spid="8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1"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a:bodyPr>
          <a:p>
            <a:pPr indent="0">
              <a:lnSpc>
                <a:spcPct val="90000"/>
              </a:lnSpc>
              <a:buNone/>
              <a:tabLst>
                <a:tab algn="l" pos="0"/>
              </a:tabLst>
            </a:pPr>
            <a:r>
              <a:rPr b="0" lang="en-US" sz="3000" spc="-1" strike="noStrike">
                <a:solidFill>
                  <a:srgbClr val="000000"/>
                </a:solidFill>
                <a:latin typeface="Aptos Display"/>
              </a:rPr>
              <a:t>Average Local  Efficiency</a:t>
            </a:r>
            <a:endParaRPr b="0" lang="en-US" sz="3000" spc="-1" strike="noStrike">
              <a:solidFill>
                <a:srgbClr val="000000"/>
              </a:solidFill>
              <a:latin typeface="Arial"/>
            </a:endParaRPr>
          </a:p>
        </p:txBody>
      </p:sp>
      <p:sp>
        <p:nvSpPr>
          <p:cNvPr id="822" name="PlaceHolder 2"/>
          <p:cNvSpPr>
            <a:spLocks noGrp="1"/>
          </p:cNvSpPr>
          <p:nvPr>
            <p:ph type="ftr" idx="17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23"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824"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825" name="PlaceHolder 4"/>
          <p:cNvSpPr>
            <a:spLocks noGrp="1"/>
          </p:cNvSpPr>
          <p:nvPr>
            <p:ph type="sldNum" idx="17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9553D64E-434B-4AE2-99F1-E3729EB7B5D9}" type="slidenum">
              <a:rPr b="0" lang="en-US" sz="1200" spc="-1" strike="noStrike">
                <a:solidFill>
                  <a:srgbClr val="787878"/>
                </a:solidFill>
                <a:latin typeface="Aptos"/>
              </a:rPr>
              <a:t>74</a:t>
            </a:fld>
            <a:endParaRPr b="0" lang="en-US" sz="1200" spc="-1" strike="noStrike">
              <a:solidFill>
                <a:srgbClr val="000000"/>
              </a:solidFill>
              <a:latin typeface="Times New Roman"/>
            </a:endParaRPr>
          </a:p>
        </p:txBody>
      </p:sp>
    </p:spTree>
  </p:cSld>
  <p:transition>
    <p:fade/>
  </p:transition>
  <p:timing>
    <p:tnLst>
      <p:par>
        <p:cTn id="493" dur="indefinite" restart="never" nodeType="tmRoot">
          <p:childTnLst>
            <p:seq>
              <p:cTn id="494" dur="indefinite" nodeType="mainSeq">
                <p:childTnLst>
                  <p:par>
                    <p:cTn id="495" fill="hold">
                      <p:stCondLst>
                        <p:cond delay="0"/>
                      </p:stCondLst>
                      <p:childTnLst>
                        <p:par>
                          <p:cTn id="496" fill="hold">
                            <p:stCondLst>
                              <p:cond delay="0"/>
                            </p:stCondLst>
                            <p:childTnLst>
                              <p:par>
                                <p:cTn id="497" nodeType="withEffect" fill="hold" presetClass="entr" presetID="10">
                                  <p:stCondLst>
                                    <p:cond delay="250"/>
                                  </p:stCondLst>
                                  <p:iterate type="el">
                                    <p:tmAbs val="100"/>
                                  </p:iterate>
                                  <p:childTnLst>
                                    <p:set>
                                      <p:cBhvr>
                                        <p:cTn id="498" dur="1" fill="hold">
                                          <p:stCondLst>
                                            <p:cond delay="0"/>
                                          </p:stCondLst>
                                        </p:cTn>
                                        <p:tgtEl>
                                          <p:spTgt spid="823"/>
                                        </p:tgtEl>
                                        <p:attrNameLst>
                                          <p:attrName>style.visibility</p:attrName>
                                        </p:attrNameLst>
                                      </p:cBhvr>
                                      <p:to>
                                        <p:strVal val="visible"/>
                                      </p:to>
                                    </p:set>
                                    <p:animEffect filter="fade" transition="in">
                                      <p:cBhvr additive="repl">
                                        <p:cTn id="499" dur="500"/>
                                        <p:tgtEl>
                                          <p:spTgt spid="8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6"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fontScale="87000"/>
          </a:bodyPr>
          <a:p>
            <a:pPr indent="0">
              <a:lnSpc>
                <a:spcPct val="90000"/>
              </a:lnSpc>
              <a:buNone/>
              <a:tabLst>
                <a:tab algn="l" pos="0"/>
              </a:tabLst>
            </a:pPr>
            <a:r>
              <a:rPr b="0" lang="en-US" sz="3000" spc="-1" strike="noStrike">
                <a:solidFill>
                  <a:srgbClr val="000000"/>
                </a:solidFill>
                <a:latin typeface="Aptos Display"/>
              </a:rPr>
              <a:t>Average Shortest Path Length (Compactness)</a:t>
            </a:r>
            <a:endParaRPr b="0" lang="en-US" sz="3000" spc="-1" strike="noStrike">
              <a:solidFill>
                <a:srgbClr val="000000"/>
              </a:solidFill>
              <a:latin typeface="Arial"/>
            </a:endParaRPr>
          </a:p>
        </p:txBody>
      </p:sp>
      <p:sp>
        <p:nvSpPr>
          <p:cNvPr id="827" name="PlaceHolder 2"/>
          <p:cNvSpPr>
            <a:spLocks noGrp="1"/>
          </p:cNvSpPr>
          <p:nvPr>
            <p:ph type="ftr" idx="17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28"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WHAT it Measures (Macro‑Scale Concept)</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1" lang="en-US" sz="1100" spc="-1" strike="noStrike">
                <a:solidFill>
                  <a:srgbClr val="000000"/>
                </a:solidFill>
                <a:latin typeface="Segoe UI"/>
              </a:rPr>
              <a:t>Compactness</a:t>
            </a:r>
            <a:r>
              <a:rPr b="0" lang="en-US" sz="1100" spc="-1" strike="noStrike">
                <a:solidFill>
                  <a:srgbClr val="000000"/>
                </a:solidFill>
                <a:latin typeface="Segoe UI"/>
              </a:rPr>
              <a:t>—more commonly framed as </a:t>
            </a:r>
            <a:r>
              <a:rPr b="1" lang="en-US" sz="1100" spc="-1" strike="noStrike">
                <a:solidFill>
                  <a:srgbClr val="000000"/>
                </a:solidFill>
                <a:latin typeface="Segoe UI"/>
              </a:rPr>
              <a:t>average path length</a:t>
            </a:r>
            <a:r>
              <a:rPr b="0" lang="en-US" sz="1100" spc="-1" strike="noStrike">
                <a:solidFill>
                  <a:srgbClr val="000000"/>
                </a:solidFill>
                <a:latin typeface="Segoe UI"/>
              </a:rPr>
              <a:t>—measures the </a:t>
            </a:r>
            <a:r>
              <a:rPr b="0" i="1" lang="en-US" sz="1100" spc="-1" strike="noStrike">
                <a:solidFill>
                  <a:srgbClr val="000000"/>
                </a:solidFill>
                <a:latin typeface="Segoe UI"/>
              </a:rPr>
              <a:t>mean geodesic distance</a:t>
            </a:r>
            <a:r>
              <a:rPr b="0" lang="en-US" sz="1100" spc="-1" strike="noStrike">
                <a:solidFill>
                  <a:srgbClr val="000000"/>
                </a:solidFill>
                <a:latin typeface="Segoe UI"/>
              </a:rPr>
              <a:t> between nodes in the network.</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captures the network’s </a:t>
            </a:r>
            <a:r>
              <a:rPr b="1" lang="en-US" sz="1100" spc="-1" strike="noStrike">
                <a:solidFill>
                  <a:srgbClr val="000000"/>
                </a:solidFill>
                <a:latin typeface="Segoe UI"/>
              </a:rPr>
              <a:t>overall navigational geometry</a:t>
            </a:r>
            <a:r>
              <a:rPr b="0" lang="en-US" sz="1100" spc="-1" strike="noStrike">
                <a:solidFill>
                  <a:srgbClr val="000000"/>
                </a:solidFill>
                <a:latin typeface="Segoe UI"/>
              </a:rPr>
              <a:t>, answering: </a:t>
            </a:r>
            <a:r>
              <a:rPr b="0" i="1" lang="en-US" sz="1100" spc="-1" strike="noStrike">
                <a:solidFill>
                  <a:srgbClr val="000000"/>
                </a:solidFill>
                <a:latin typeface="Segoe UI"/>
              </a:rPr>
              <a:t>“On average, how many steps does it take to get from one point to another?”</a:t>
            </a:r>
            <a:endParaRPr b="0" lang="en-US" sz="11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WHY It Matters </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Compactness measures how </a:t>
            </a:r>
            <a:r>
              <a:rPr b="1" lang="en-US" sz="1100" spc="-1" strike="noStrike">
                <a:solidFill>
                  <a:srgbClr val="000000"/>
                </a:solidFill>
                <a:latin typeface="Segoe UI"/>
              </a:rPr>
              <a:t>geodesically tight</a:t>
            </a:r>
            <a:r>
              <a:rPr b="0" lang="en-US" sz="1100" spc="-1" strike="noStrike">
                <a:solidFill>
                  <a:srgbClr val="000000"/>
                </a:solidFill>
                <a:latin typeface="Segoe UI"/>
              </a:rPr>
              <a:t> the network is. Lower values mean nodes are </a:t>
            </a:r>
            <a:r>
              <a:rPr b="1" lang="en-US" sz="1100" spc="-1" strike="noStrike">
                <a:solidFill>
                  <a:srgbClr val="000000"/>
                </a:solidFill>
                <a:latin typeface="Segoe UI"/>
              </a:rPr>
              <a:t>closer together</a:t>
            </a:r>
            <a:r>
              <a:rPr b="0" lang="en-US" sz="1100" spc="-1" strike="noStrike">
                <a:solidFill>
                  <a:srgbClr val="000000"/>
                </a:solidFill>
                <a:latin typeface="Segoe UI"/>
              </a:rPr>
              <a:t> topologically, enabling rapid spread of information, influence, or contagion.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Mechanistically, compactness reflects the presence (or absence) of: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Shortcuts</a:t>
            </a:r>
            <a:r>
              <a:rPr b="0" lang="en-US" sz="1100" spc="-1" strike="noStrike">
                <a:solidFill>
                  <a:srgbClr val="000000"/>
                </a:solidFill>
                <a:latin typeface="Segoe UI"/>
              </a:rPr>
              <a:t> that collapse long chains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1" lang="en-US" sz="1100" spc="-1" strike="noStrike">
                <a:solidFill>
                  <a:srgbClr val="000000"/>
                </a:solidFill>
                <a:latin typeface="Segoe UI"/>
              </a:rPr>
              <a:t>Global “tension points”</a:t>
            </a:r>
            <a:r>
              <a:rPr b="0" lang="en-US" sz="1100" spc="-1" strike="noStrike">
                <a:solidFill>
                  <a:srgbClr val="000000"/>
                </a:solidFill>
                <a:latin typeface="Segoe UI"/>
              </a:rPr>
              <a:t> where navigation stretches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It is one of the most intuitive measures for comparing how “navigable,” “spreadable,” or “coordinatable” a network is.</a:t>
            </a:r>
            <a:endParaRPr b="0" lang="en-US" sz="1100" spc="-1" strike="noStrike">
              <a:solidFill>
                <a:srgbClr val="000000"/>
              </a:solidFill>
              <a:latin typeface="Arial"/>
            </a:endParaRPr>
          </a:p>
          <a:p>
            <a:pPr marL="285840" indent="0">
              <a:lnSpc>
                <a:spcPct val="90000"/>
              </a:lnSpc>
              <a:spcBef>
                <a:spcPts val="1001"/>
              </a:spcBef>
              <a:buNone/>
              <a:tabLst>
                <a:tab algn="l" pos="0"/>
              </a:tabLst>
            </a:pPr>
            <a:r>
              <a:rPr b="0" lang="en-US" sz="1100" spc="-1" strike="noStrike">
                <a:solidFill>
                  <a:srgbClr val="000000"/>
                </a:solidFill>
                <a:latin typeface="Segoe UI"/>
              </a:rPr>
              <a:t>Use compactness when modeling or evaluating processes where </a:t>
            </a:r>
            <a:r>
              <a:rPr b="1" lang="en-US" sz="1100" spc="-1" strike="noStrike">
                <a:solidFill>
                  <a:srgbClr val="000000"/>
                </a:solidFill>
                <a:latin typeface="Segoe UI"/>
              </a:rPr>
              <a:t>distance = cost, time, or exposure</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Information sharing or decision approval chains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Disease or rumor spread dynamics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Coordination tasks requiring sequential communication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Transport/logistics routing (within unweighted or simplified networks)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Situations where </a:t>
            </a:r>
            <a:r>
              <a:rPr b="0" i="1" lang="en-US" sz="1100" spc="-1" strike="noStrike">
                <a:solidFill>
                  <a:srgbClr val="000000"/>
                </a:solidFill>
                <a:latin typeface="Segoe UI"/>
              </a:rPr>
              <a:t>every additional hop</a:t>
            </a:r>
            <a:r>
              <a:rPr b="0" lang="en-US" sz="1100" spc="-1" strike="noStrike">
                <a:solidFill>
                  <a:srgbClr val="000000"/>
                </a:solidFill>
                <a:latin typeface="Segoe UI"/>
              </a:rPr>
              <a:t> introduces delay, risk, or loss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829"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830" name="PlaceHolder 4"/>
          <p:cNvSpPr>
            <a:spLocks noGrp="1"/>
          </p:cNvSpPr>
          <p:nvPr>
            <p:ph type="sldNum" idx="17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54252BE6-328D-4273-BD4E-8A50E6D6A1B1}" type="slidenum">
              <a:rPr b="0" lang="en-US" sz="1200" spc="-1" strike="noStrike">
                <a:solidFill>
                  <a:srgbClr val="787878"/>
                </a:solidFill>
                <a:latin typeface="Aptos"/>
              </a:rPr>
              <a:t>75</a:t>
            </a:fld>
            <a:endParaRPr b="0" lang="en-US" sz="1200" spc="-1" strike="noStrike">
              <a:solidFill>
                <a:srgbClr val="000000"/>
              </a:solidFill>
              <a:latin typeface="Times New Roman"/>
            </a:endParaRPr>
          </a:p>
        </p:txBody>
      </p:sp>
    </p:spTree>
  </p:cSld>
  <p:transition>
    <p:fade/>
  </p:transition>
  <p:timing>
    <p:tnLst>
      <p:par>
        <p:cTn id="500" dur="indefinite" restart="never" nodeType="tmRoot">
          <p:childTnLst>
            <p:seq>
              <p:cTn id="501" dur="indefinite" nodeType="mainSeq">
                <p:childTnLst>
                  <p:par>
                    <p:cTn id="502" fill="hold">
                      <p:stCondLst>
                        <p:cond delay="0"/>
                      </p:stCondLst>
                      <p:childTnLst>
                        <p:par>
                          <p:cTn id="503" fill="hold">
                            <p:stCondLst>
                              <p:cond delay="0"/>
                            </p:stCondLst>
                            <p:childTnLst>
                              <p:par>
                                <p:cTn id="504" nodeType="withEffect" fill="hold" presetClass="entr" presetID="10">
                                  <p:stCondLst>
                                    <p:cond delay="250"/>
                                  </p:stCondLst>
                                  <p:iterate type="el">
                                    <p:tmAbs val="100"/>
                                  </p:iterate>
                                  <p:childTnLst>
                                    <p:set>
                                      <p:cBhvr>
                                        <p:cTn id="505" dur="1" fill="hold">
                                          <p:stCondLst>
                                            <p:cond delay="0"/>
                                          </p:stCondLst>
                                        </p:cTn>
                                        <p:tgtEl>
                                          <p:spTgt spid="828"/>
                                        </p:tgtEl>
                                        <p:attrNameLst>
                                          <p:attrName>style.visibility</p:attrName>
                                        </p:attrNameLst>
                                      </p:cBhvr>
                                      <p:to>
                                        <p:strVal val="visible"/>
                                      </p:to>
                                    </p:set>
                                    <p:animEffect filter="fade" transition="in">
                                      <p:cBhvr additive="repl">
                                        <p:cTn id="506" dur="500"/>
                                        <p:tgtEl>
                                          <p:spTgt spid="8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1"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fontScale="87000"/>
          </a:bodyPr>
          <a:p>
            <a:pPr indent="0">
              <a:lnSpc>
                <a:spcPct val="90000"/>
              </a:lnSpc>
              <a:buNone/>
              <a:tabLst>
                <a:tab algn="l" pos="0"/>
              </a:tabLst>
            </a:pPr>
            <a:r>
              <a:rPr b="0" lang="en-US" sz="3000" spc="-1" strike="noStrike">
                <a:solidFill>
                  <a:srgbClr val="000000"/>
                </a:solidFill>
                <a:latin typeface="Aptos Display"/>
              </a:rPr>
              <a:t>Average Shortest Path Length (Compactness)</a:t>
            </a:r>
            <a:endParaRPr b="0" lang="en-US" sz="3000" spc="-1" strike="noStrike">
              <a:solidFill>
                <a:srgbClr val="000000"/>
              </a:solidFill>
              <a:latin typeface="Arial"/>
            </a:endParaRPr>
          </a:p>
        </p:txBody>
      </p:sp>
      <p:sp>
        <p:nvSpPr>
          <p:cNvPr id="832" name="PlaceHolder 2"/>
          <p:cNvSpPr>
            <a:spLocks noGrp="1"/>
          </p:cNvSpPr>
          <p:nvPr>
            <p:ph type="ftr" idx="17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33"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INTERPRETATION (High vs Low)</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Low Compactness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Average distances are short; information or influence spreads </a:t>
            </a:r>
            <a:r>
              <a:rPr b="1" lang="en-US" sz="1100" spc="-1" strike="noStrike">
                <a:solidFill>
                  <a:srgbClr val="000000"/>
                </a:solidFill>
                <a:latin typeface="Segoe UI"/>
              </a:rPr>
              <a:t>quickly and efficiently</a:t>
            </a:r>
            <a:r>
              <a:rPr b="0" lang="en-US" sz="1100" spc="-1" strike="noStrike">
                <a:solidFill>
                  <a:srgbClr val="000000"/>
                </a:solidFill>
                <a:latin typeface="Segoe UI"/>
              </a:rPr>
              <a: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Indicates the presence of </a:t>
            </a:r>
            <a:r>
              <a:rPr b="1" lang="en-US" sz="1100" spc="-1" strike="noStrike">
                <a:solidFill>
                  <a:srgbClr val="000000"/>
                </a:solidFill>
                <a:latin typeface="Segoe UI"/>
              </a:rPr>
              <a:t>global shortcuts</a:t>
            </a:r>
            <a:r>
              <a:rPr b="0" lang="en-US" sz="1100" spc="-1" strike="noStrike">
                <a:solidFill>
                  <a:srgbClr val="000000"/>
                </a:solidFill>
                <a:latin typeface="Segoe UI"/>
              </a:rPr>
              <a:t> or a dense “communication spine.”</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Networks with low compactness often exhibit small‑world properties or centralized structures (but these have different resilience profiles).</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High Compactness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Network is </a:t>
            </a:r>
            <a:r>
              <a:rPr b="1" lang="en-US" sz="1100" spc="-1" strike="noStrike">
                <a:solidFill>
                  <a:srgbClr val="000000"/>
                </a:solidFill>
                <a:latin typeface="Segoe UI"/>
              </a:rPr>
              <a:t>stretched out</a:t>
            </a:r>
            <a:r>
              <a:rPr b="0" lang="en-US" sz="1100" spc="-1" strike="noStrike">
                <a:solidFill>
                  <a:srgbClr val="000000"/>
                </a:solidFill>
                <a:latin typeface="Segoe UI"/>
              </a:rPr>
              <a:t>: long chains, sparse bridges, poor shortcut placement.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Communication is slow; processes depending on sequential propagation are delayed.</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Often signals </a:t>
            </a:r>
            <a:r>
              <a:rPr b="1" lang="en-US" sz="1100" spc="-1" strike="noStrike">
                <a:solidFill>
                  <a:srgbClr val="000000"/>
                </a:solidFill>
                <a:latin typeface="Segoe UI"/>
              </a:rPr>
              <a:t>latent bottlenecks</a:t>
            </a:r>
            <a:r>
              <a:rPr b="0" lang="en-US" sz="1100" spc="-1" strike="noStrike">
                <a:solidFill>
                  <a:srgbClr val="000000"/>
                </a:solidFill>
                <a:latin typeface="Segoe UI"/>
              </a:rPr>
              <a:t>: the geometry makes certain parts of the graph difficult to reach efficiently.</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Subtleties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Adding edges </a:t>
            </a:r>
            <a:r>
              <a:rPr b="0" i="1" lang="en-US" sz="1100" spc="-1" strike="noStrike">
                <a:solidFill>
                  <a:srgbClr val="000000"/>
                </a:solidFill>
                <a:latin typeface="Segoe UI"/>
              </a:rPr>
              <a:t>locally</a:t>
            </a:r>
            <a:r>
              <a:rPr b="0" lang="en-US" sz="1100" spc="-1" strike="noStrike">
                <a:solidFill>
                  <a:srgbClr val="000000"/>
                </a:solidFill>
                <a:latin typeface="Segoe UI"/>
              </a:rPr>
              <a:t> (within clusters) does </a:t>
            </a:r>
            <a:r>
              <a:rPr b="1" lang="en-US" sz="1100" spc="-1" strike="noStrike">
                <a:solidFill>
                  <a:srgbClr val="000000"/>
                </a:solidFill>
                <a:latin typeface="Segoe UI"/>
              </a:rPr>
              <a:t>not necessarily</a:t>
            </a:r>
            <a:r>
              <a:rPr b="0" lang="en-US" sz="1100" spc="-1" strike="noStrike">
                <a:solidFill>
                  <a:srgbClr val="000000"/>
                </a:solidFill>
                <a:latin typeface="Segoe UI"/>
              </a:rPr>
              <a:t> decrease compactness; only cross‑cluster or long‑range edges shorten average path length.</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Compactness does </a:t>
            </a:r>
            <a:r>
              <a:rPr b="1" lang="en-US" sz="1100" spc="-1" strike="noStrike">
                <a:solidFill>
                  <a:srgbClr val="000000"/>
                </a:solidFill>
                <a:latin typeface="Segoe UI"/>
              </a:rPr>
              <a:t>not</a:t>
            </a:r>
            <a:r>
              <a:rPr b="0" lang="en-US" sz="1100" spc="-1" strike="noStrike">
                <a:solidFill>
                  <a:srgbClr val="000000"/>
                </a:solidFill>
                <a:latin typeface="Segoe UI"/>
              </a:rPr>
              <a:t> detect local redundancy or resilience—two networks can have identical compactness but wildly different vulnerability profiles.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Not useful when: The </a:t>
            </a:r>
            <a:r>
              <a:rPr b="1" lang="en-US" sz="1100" spc="-1" strike="noStrike">
                <a:solidFill>
                  <a:srgbClr val="000000"/>
                </a:solidFill>
                <a:latin typeface="Segoe UI"/>
              </a:rPr>
              <a:t>process</a:t>
            </a:r>
            <a:r>
              <a:rPr b="0" lang="en-US" sz="1100" spc="-1" strike="noStrike">
                <a:solidFill>
                  <a:srgbClr val="000000"/>
                </a:solidFill>
                <a:latin typeface="Segoe UI"/>
              </a:rPr>
              <a:t> does not follow shortest paths (e.g., random walk dynamics, broadcast diffusion, or constraint‑driven movement).</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Sans-Serif"/>
              <a:buChar char="•"/>
              <a:tabLst>
                <a:tab algn="l" pos="0"/>
              </a:tabLst>
            </a:pPr>
            <a:r>
              <a:rPr b="0" lang="en-US" sz="1100" spc="-1" strike="noStrike">
                <a:solidFill>
                  <a:srgbClr val="000000"/>
                </a:solidFill>
                <a:latin typeface="Segoe UI"/>
              </a:rPr>
              <a:t>Edge weights represent </a:t>
            </a:r>
            <a:r>
              <a:rPr b="1" lang="en-US" sz="1100" spc="-1" strike="noStrike">
                <a:solidFill>
                  <a:srgbClr val="000000"/>
                </a:solidFill>
                <a:latin typeface="Segoe UI"/>
              </a:rPr>
              <a:t>heterogeneous costs</a:t>
            </a:r>
            <a:r>
              <a:rPr b="0" lang="en-US" sz="1100" spc="-1" strike="noStrike">
                <a:solidFill>
                  <a:srgbClr val="000000"/>
                </a:solidFill>
                <a:latin typeface="Segoe UI"/>
              </a:rPr>
              <a:t>, in which case weighted average path length should be used.</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834"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835" name="PlaceHolder 4"/>
          <p:cNvSpPr>
            <a:spLocks noGrp="1"/>
          </p:cNvSpPr>
          <p:nvPr>
            <p:ph type="sldNum" idx="17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C9EB5A6D-B9F1-42B9-B53E-06C4CF3CE972}" type="slidenum">
              <a:rPr b="0" lang="en-US" sz="1200" spc="-1" strike="noStrike">
                <a:solidFill>
                  <a:srgbClr val="787878"/>
                </a:solidFill>
                <a:latin typeface="Aptos"/>
              </a:rPr>
              <a:t>76</a:t>
            </a:fld>
            <a:endParaRPr b="0" lang="en-US" sz="1200" spc="-1" strike="noStrike">
              <a:solidFill>
                <a:srgbClr val="000000"/>
              </a:solidFill>
              <a:latin typeface="Times New Roman"/>
            </a:endParaRPr>
          </a:p>
        </p:txBody>
      </p:sp>
    </p:spTree>
  </p:cSld>
  <p:transition>
    <p:fade/>
  </p:transition>
  <p:timing>
    <p:tnLst>
      <p:par>
        <p:cTn id="507" dur="indefinite" restart="never" nodeType="tmRoot">
          <p:childTnLst>
            <p:seq>
              <p:cTn id="508" dur="indefinite" nodeType="mainSeq">
                <p:childTnLst>
                  <p:par>
                    <p:cTn id="509" fill="hold">
                      <p:stCondLst>
                        <p:cond delay="0"/>
                      </p:stCondLst>
                      <p:childTnLst>
                        <p:par>
                          <p:cTn id="510" fill="hold">
                            <p:stCondLst>
                              <p:cond delay="0"/>
                            </p:stCondLst>
                            <p:childTnLst>
                              <p:par>
                                <p:cTn id="511" nodeType="withEffect" fill="hold" presetClass="entr" presetID="10">
                                  <p:stCondLst>
                                    <p:cond delay="250"/>
                                  </p:stCondLst>
                                  <p:iterate type="el">
                                    <p:tmAbs val="100"/>
                                  </p:iterate>
                                  <p:childTnLst>
                                    <p:set>
                                      <p:cBhvr>
                                        <p:cTn id="512" dur="1" fill="hold">
                                          <p:stCondLst>
                                            <p:cond delay="0"/>
                                          </p:stCondLst>
                                        </p:cTn>
                                        <p:tgtEl>
                                          <p:spTgt spid="833"/>
                                        </p:tgtEl>
                                        <p:attrNameLst>
                                          <p:attrName>style.visibility</p:attrName>
                                        </p:attrNameLst>
                                      </p:cBhvr>
                                      <p:to>
                                        <p:strVal val="visible"/>
                                      </p:to>
                                    </p:set>
                                    <p:animEffect filter="fade" transition="in">
                                      <p:cBhvr additive="repl">
                                        <p:cTn id="513" dur="500"/>
                                        <p:tgtEl>
                                          <p:spTgt spid="8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6"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fontScale="87000"/>
          </a:bodyPr>
          <a:p>
            <a:pPr indent="0">
              <a:lnSpc>
                <a:spcPct val="90000"/>
              </a:lnSpc>
              <a:buNone/>
              <a:tabLst>
                <a:tab algn="l" pos="0"/>
              </a:tabLst>
            </a:pPr>
            <a:r>
              <a:rPr b="0" lang="en-US" sz="3000" spc="-1" strike="noStrike">
                <a:solidFill>
                  <a:srgbClr val="000000"/>
                </a:solidFill>
                <a:latin typeface="Aptos Display"/>
              </a:rPr>
              <a:t>Average Shortest Path Length (Compactness)</a:t>
            </a:r>
            <a:endParaRPr b="0" lang="en-US" sz="3000" spc="-1" strike="noStrike">
              <a:solidFill>
                <a:srgbClr val="000000"/>
              </a:solidFill>
              <a:latin typeface="Arial"/>
            </a:endParaRPr>
          </a:p>
        </p:txBody>
      </p:sp>
      <p:sp>
        <p:nvSpPr>
          <p:cNvPr id="837" name="PlaceHolder 2"/>
          <p:cNvSpPr>
            <a:spLocks noGrp="1"/>
          </p:cNvSpPr>
          <p:nvPr>
            <p:ph type="ftr" idx="17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38"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RELATIONSHIP to Connectivity, Robustness, and Resilience</a:t>
            </a:r>
            <a:endParaRPr b="0" lang="en-US" sz="1400" spc="-1" strike="noStrike">
              <a:solidFill>
                <a:srgbClr val="000000"/>
              </a:solidFill>
              <a:latin typeface="Arial"/>
            </a:endParaRPr>
          </a:p>
          <a:p>
            <a:pPr marL="285840" indent="0">
              <a:lnSpc>
                <a:spcPct val="90000"/>
              </a:lnSpc>
              <a:spcBef>
                <a:spcPts val="1001"/>
              </a:spcBef>
              <a:buNone/>
              <a:tabLst>
                <a:tab algn="l" pos="0"/>
              </a:tabLst>
            </a:pPr>
            <a:r>
              <a:rPr b="1" lang="en-US" sz="1400" spc="-1" strike="noStrike">
                <a:solidFill>
                  <a:srgbClr val="000000"/>
                </a:solidFill>
                <a:latin typeface="Aptos"/>
              </a:rPr>
              <a:t>Connectivity</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Compactness presumes that reachable nodes can be connected through reasonably short paths.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A connected network with poor compactness may still suffer from </a:t>
            </a:r>
            <a:r>
              <a:rPr b="1" lang="en-US" sz="1100" spc="-1" strike="noStrike">
                <a:solidFill>
                  <a:srgbClr val="000000"/>
                </a:solidFill>
                <a:latin typeface="Segoe UI"/>
              </a:rPr>
              <a:t>functional fragmentation</a:t>
            </a:r>
            <a:r>
              <a:rPr b="0" lang="en-US" sz="1100" spc="-1" strike="noStrike">
                <a:solidFill>
                  <a:srgbClr val="000000"/>
                </a:solidFill>
                <a:latin typeface="Segoe UI"/>
              </a:rPr>
              <a:t>, where distant nodes effectively behave as if semi‑isolated.</a:t>
            </a:r>
            <a:endParaRPr b="0" lang="en-US" sz="1100" spc="-1" strike="noStrike">
              <a:solidFill>
                <a:srgbClr val="000000"/>
              </a:solidFill>
              <a:latin typeface="Arial"/>
            </a:endParaRPr>
          </a:p>
          <a:p>
            <a:pPr indent="0">
              <a:lnSpc>
                <a:spcPct val="90000"/>
              </a:lnSpc>
              <a:spcBef>
                <a:spcPts val="1001"/>
              </a:spcBef>
              <a:buNone/>
              <a:tabLst>
                <a:tab algn="l" pos="0"/>
              </a:tabLst>
            </a:pPr>
            <a:endParaRPr b="0" lang="en-US" sz="14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Robustness</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In networks where compactness depends heavily on </a:t>
            </a:r>
            <a:r>
              <a:rPr b="1" lang="en-US" sz="1100" spc="-1" strike="noStrike">
                <a:solidFill>
                  <a:srgbClr val="000000"/>
                </a:solidFill>
                <a:latin typeface="Segoe UI"/>
              </a:rPr>
              <a:t>a few critical shortcuts</a:t>
            </a:r>
            <a:r>
              <a:rPr b="0" lang="en-US" sz="1100" spc="-1" strike="noStrike">
                <a:solidFill>
                  <a:srgbClr val="000000"/>
                </a:solidFill>
                <a:latin typeface="Segoe UI"/>
              </a:rPr>
              <a:t>, the removal of those shortcuts dramatically increases path lengths.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Most importantly: compactness provides insight into </a:t>
            </a:r>
            <a:r>
              <a:rPr b="1" lang="en-US" sz="1100" spc="-1" strike="noStrike">
                <a:solidFill>
                  <a:srgbClr val="000000"/>
                </a:solidFill>
                <a:latin typeface="Segoe UI"/>
              </a:rPr>
              <a:t>system‑level speed</a:t>
            </a:r>
            <a:r>
              <a:rPr b="0" lang="en-US" sz="1100" spc="-1" strike="noStrike">
                <a:solidFill>
                  <a:srgbClr val="000000"/>
                </a:solidFill>
                <a:latin typeface="Segoe UI"/>
              </a:rPr>
              <a:t>, but </a:t>
            </a:r>
            <a:r>
              <a:rPr b="1" lang="en-US" sz="1100" spc="-1" strike="noStrike">
                <a:solidFill>
                  <a:srgbClr val="000000"/>
                </a:solidFill>
                <a:latin typeface="Segoe UI"/>
              </a:rPr>
              <a:t>not</a:t>
            </a:r>
            <a:r>
              <a:rPr b="0" lang="en-US" sz="1100" spc="-1" strike="noStrike">
                <a:solidFill>
                  <a:srgbClr val="000000"/>
                </a:solidFill>
                <a:latin typeface="Segoe UI"/>
              </a:rPr>
              <a:t> system‑level </a:t>
            </a:r>
            <a:r>
              <a:rPr b="0" i="1" lang="en-US" sz="1100" spc="-1" strike="noStrike">
                <a:solidFill>
                  <a:srgbClr val="000000"/>
                </a:solidFill>
                <a:latin typeface="Segoe UI"/>
              </a:rPr>
              <a:t>robustness</a:t>
            </a:r>
            <a:r>
              <a:rPr b="0" lang="en-US" sz="1100" spc="-1" strike="noStrike">
                <a:solidFill>
                  <a:srgbClr val="000000"/>
                </a:solidFill>
                <a:latin typeface="Segoe UI"/>
              </a:rPr>
              <a:t>—those require additional metrics like conductivity, κ(G), λ(G), or λ₂. </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Highly centralized networks with short paths may appear compact but are </a:t>
            </a:r>
            <a:r>
              <a:rPr b="1" lang="en-US" sz="1100" spc="-1" strike="noStrike">
                <a:solidFill>
                  <a:srgbClr val="000000"/>
                </a:solidFill>
                <a:latin typeface="Segoe UI"/>
              </a:rPr>
              <a:t>extremely fragile</a:t>
            </a:r>
            <a:r>
              <a:rPr b="0" lang="en-US" sz="1100" spc="-1" strike="noStrike">
                <a:solidFill>
                  <a:srgbClr val="000000"/>
                </a:solidFill>
                <a:latin typeface="Segoe UI"/>
              </a:rPr>
              <a:t> under targeted attacks: </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Removal of hubs → compactness collapses.</a:t>
            </a:r>
            <a:endParaRPr b="0" lang="en-US" sz="1100" spc="-1" strike="noStrike">
              <a:solidFill>
                <a:srgbClr val="000000"/>
              </a:solidFill>
              <a:latin typeface="Arial"/>
            </a:endParaRPr>
          </a:p>
          <a:p>
            <a:pPr lvl="1" marL="800280" indent="-285840">
              <a:lnSpc>
                <a:spcPct val="90000"/>
              </a:lnSpc>
              <a:spcBef>
                <a:spcPts val="499"/>
              </a:spcBef>
              <a:buClr>
                <a:srgbClr val="000000"/>
              </a:buClr>
              <a:buFont typeface="Arial"/>
              <a:buChar char="•"/>
              <a:tabLst>
                <a:tab algn="l" pos="0"/>
              </a:tabLst>
            </a:pPr>
            <a:r>
              <a:rPr b="0" lang="en-US" sz="1100" spc="-1" strike="noStrike">
                <a:solidFill>
                  <a:srgbClr val="000000"/>
                </a:solidFill>
                <a:latin typeface="Segoe UI"/>
              </a:rPr>
              <a:t>Loss of a few bridging edges → compactness increases sharply.</a:t>
            </a:r>
            <a:endParaRPr b="0" lang="en-US" sz="1100" spc="-1" strike="noStrike">
              <a:solidFill>
                <a:srgbClr val="000000"/>
              </a:solidFill>
              <a:latin typeface="Arial"/>
            </a:endParaRPr>
          </a:p>
          <a:p>
            <a:pPr indent="0">
              <a:lnSpc>
                <a:spcPct val="90000"/>
              </a:lnSpc>
              <a:spcBef>
                <a:spcPts val="1001"/>
              </a:spcBef>
              <a:buNone/>
              <a:tabLst>
                <a:tab algn="l" pos="0"/>
              </a:tabLst>
            </a:pPr>
            <a:r>
              <a:rPr b="1" lang="en-US" sz="1400" spc="-1" strike="noStrike">
                <a:solidFill>
                  <a:srgbClr val="000000"/>
                </a:solidFill>
                <a:latin typeface="Aptos"/>
              </a:rPr>
              <a:t>Resilience</a:t>
            </a:r>
            <a:endParaRPr b="0" lang="en-US" sz="14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Resilient networks </a:t>
            </a:r>
            <a:r>
              <a:rPr b="1" lang="en-US" sz="1100" spc="-1" strike="noStrike">
                <a:solidFill>
                  <a:srgbClr val="000000"/>
                </a:solidFill>
                <a:latin typeface="Segoe UI"/>
              </a:rPr>
              <a:t>maintain moderate compactness</a:t>
            </a:r>
            <a:r>
              <a:rPr b="0" lang="en-US" sz="1100" spc="-1" strike="noStrike">
                <a:solidFill>
                  <a:srgbClr val="000000"/>
                </a:solidFill>
                <a:latin typeface="Segoe UI"/>
              </a:rPr>
              <a:t> even under node/edge loss due to diversified routing.</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Compactness rebounds slowly in networks lacking alternative long‑range connections.</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compactness + high redundancy → </a:t>
            </a:r>
            <a:r>
              <a:rPr b="1" lang="en-US" sz="1100" spc="-1" strike="noStrike">
                <a:solidFill>
                  <a:srgbClr val="000000"/>
                </a:solidFill>
                <a:latin typeface="Segoe UI"/>
              </a:rPr>
              <a:t>efficient and resilient</a:t>
            </a:r>
            <a:r>
              <a:rPr b="0" lang="en-US" sz="1100" spc="-1" strike="noStrike">
                <a:solidFill>
                  <a:srgbClr val="000000"/>
                </a:solidFill>
                <a:latin typeface="Segoe UI"/>
              </a:rPr>
              <a:t> (rare; requires thoughtful design).</a:t>
            </a:r>
            <a:endParaRPr b="0" lang="en-US" sz="1100" spc="-1" strike="noStrike">
              <a:solidFill>
                <a:srgbClr val="000000"/>
              </a:solidFill>
              <a:latin typeface="Arial"/>
            </a:endParaRPr>
          </a:p>
          <a:p>
            <a:pPr marL="285840" indent="-285840">
              <a:lnSpc>
                <a:spcPct val="90000"/>
              </a:lnSpc>
              <a:spcBef>
                <a:spcPts val="1001"/>
              </a:spcBef>
              <a:buClr>
                <a:srgbClr val="000000"/>
              </a:buClr>
              <a:buFont typeface="Arial"/>
              <a:buChar char="•"/>
              <a:tabLst>
                <a:tab algn="l" pos="0"/>
              </a:tabLst>
            </a:pPr>
            <a:r>
              <a:rPr b="0" lang="en-US" sz="1100" spc="-1" strike="noStrike">
                <a:solidFill>
                  <a:srgbClr val="000000"/>
                </a:solidFill>
                <a:latin typeface="Segoe UI"/>
              </a:rPr>
              <a:t>High compactness + low redundancy → </a:t>
            </a:r>
            <a:r>
              <a:rPr b="1" lang="en-US" sz="1100" spc="-1" strike="noStrike">
                <a:solidFill>
                  <a:srgbClr val="000000"/>
                </a:solidFill>
                <a:latin typeface="Segoe UI"/>
              </a:rPr>
              <a:t>efficient but brittle</a:t>
            </a:r>
            <a:r>
              <a:rPr b="0" lang="en-US" sz="1100" spc="-1" strike="noStrike">
                <a:solidFill>
                  <a:srgbClr val="000000"/>
                </a:solidFill>
                <a:latin typeface="Segoe UI"/>
              </a:rPr>
              <a:t> (e.g., hub‑spoke geometries).</a:t>
            </a: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839"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840" name="PlaceHolder 4"/>
          <p:cNvSpPr>
            <a:spLocks noGrp="1"/>
          </p:cNvSpPr>
          <p:nvPr>
            <p:ph type="sldNum" idx="17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69CE8922-C416-4539-95BF-568C21491CF9}" type="slidenum">
              <a:rPr b="0" lang="en-US" sz="1200" spc="-1" strike="noStrike">
                <a:solidFill>
                  <a:srgbClr val="787878"/>
                </a:solidFill>
                <a:latin typeface="Aptos"/>
              </a:rPr>
              <a:t>77</a:t>
            </a:fld>
            <a:endParaRPr b="0" lang="en-US" sz="1200" spc="-1" strike="noStrike">
              <a:solidFill>
                <a:srgbClr val="000000"/>
              </a:solidFill>
              <a:latin typeface="Times New Roman"/>
            </a:endParaRPr>
          </a:p>
        </p:txBody>
      </p:sp>
    </p:spTree>
  </p:cSld>
  <p:transition>
    <p:fade/>
  </p:transition>
  <p:timing>
    <p:tnLst>
      <p:par>
        <p:cTn id="514" dur="indefinite" restart="never" nodeType="tmRoot">
          <p:childTnLst>
            <p:seq>
              <p:cTn id="515" dur="indefinite" nodeType="mainSeq">
                <p:childTnLst>
                  <p:par>
                    <p:cTn id="516" fill="hold">
                      <p:stCondLst>
                        <p:cond delay="0"/>
                      </p:stCondLst>
                      <p:childTnLst>
                        <p:par>
                          <p:cTn id="517" fill="hold">
                            <p:stCondLst>
                              <p:cond delay="0"/>
                            </p:stCondLst>
                            <p:childTnLst>
                              <p:par>
                                <p:cTn id="518" nodeType="withEffect" fill="hold" presetClass="entr" presetID="10">
                                  <p:stCondLst>
                                    <p:cond delay="250"/>
                                  </p:stCondLst>
                                  <p:iterate type="el">
                                    <p:tmAbs val="100"/>
                                  </p:iterate>
                                  <p:childTnLst>
                                    <p:set>
                                      <p:cBhvr>
                                        <p:cTn id="519" dur="1" fill="hold">
                                          <p:stCondLst>
                                            <p:cond delay="0"/>
                                          </p:stCondLst>
                                        </p:cTn>
                                        <p:tgtEl>
                                          <p:spTgt spid="838"/>
                                        </p:tgtEl>
                                        <p:attrNameLst>
                                          <p:attrName>style.visibility</p:attrName>
                                        </p:attrNameLst>
                                      </p:cBhvr>
                                      <p:to>
                                        <p:strVal val="visible"/>
                                      </p:to>
                                    </p:set>
                                    <p:animEffect filter="fade" transition="in">
                                      <p:cBhvr additive="repl">
                                        <p:cTn id="520" dur="500"/>
                                        <p:tgtEl>
                                          <p:spTgt spid="8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1" name="PlaceHolder 1"/>
          <p:cNvSpPr>
            <a:spLocks noGrp="1"/>
          </p:cNvSpPr>
          <p:nvPr>
            <p:ph type="title"/>
          </p:nvPr>
        </p:nvSpPr>
        <p:spPr>
          <a:xfrm>
            <a:off x="841680" y="389880"/>
            <a:ext cx="7771680" cy="527400"/>
          </a:xfrm>
          <a:prstGeom prst="rect">
            <a:avLst/>
          </a:prstGeom>
          <a:noFill/>
          <a:ln w="0">
            <a:noFill/>
          </a:ln>
        </p:spPr>
        <p:txBody>
          <a:bodyPr lIns="90000" rIns="90000" tIns="45000" bIns="45000" anchor="b">
            <a:normAutofit fontScale="87000"/>
          </a:bodyPr>
          <a:p>
            <a:pPr indent="0">
              <a:lnSpc>
                <a:spcPct val="90000"/>
              </a:lnSpc>
              <a:buNone/>
              <a:tabLst>
                <a:tab algn="l" pos="0"/>
              </a:tabLst>
            </a:pPr>
            <a:r>
              <a:rPr b="0" lang="en-US" sz="3000" spc="-1" strike="noStrike">
                <a:solidFill>
                  <a:srgbClr val="000000"/>
                </a:solidFill>
                <a:latin typeface="Aptos Display"/>
              </a:rPr>
              <a:t>Average Shortest Path Length (Compactness)</a:t>
            </a:r>
            <a:endParaRPr b="0" lang="en-US" sz="3000" spc="-1" strike="noStrike">
              <a:solidFill>
                <a:srgbClr val="000000"/>
              </a:solidFill>
              <a:latin typeface="Arial"/>
            </a:endParaRPr>
          </a:p>
        </p:txBody>
      </p:sp>
      <p:sp>
        <p:nvSpPr>
          <p:cNvPr id="842" name="PlaceHolder 2"/>
          <p:cNvSpPr>
            <a:spLocks noGrp="1"/>
          </p:cNvSpPr>
          <p:nvPr>
            <p:ph type="ftr" idx="18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43" name="PlaceHolder 3"/>
          <p:cNvSpPr>
            <a:spLocks noGrp="1"/>
          </p:cNvSpPr>
          <p:nvPr>
            <p:ph/>
          </p:nvPr>
        </p:nvSpPr>
        <p:spPr>
          <a:xfrm>
            <a:off x="841680" y="1014480"/>
            <a:ext cx="8439840" cy="5447520"/>
          </a:xfrm>
          <a:prstGeom prst="rect">
            <a:avLst/>
          </a:prstGeom>
          <a:noFill/>
          <a:ln w="0">
            <a:noFill/>
          </a:ln>
        </p:spPr>
        <p:txBody>
          <a:bodyPr lIns="90000" rIns="90000" tIns="45000" bIns="45000" anchor="t">
            <a:noAutofit/>
          </a:bodyPr>
          <a:p>
            <a:pPr marL="285840" indent="0">
              <a:lnSpc>
                <a:spcPct val="90000"/>
              </a:lnSpc>
              <a:spcBef>
                <a:spcPts val="1001"/>
              </a:spcBef>
              <a:buNone/>
              <a:tabLst>
                <a:tab algn="l" pos="0"/>
              </a:tabLst>
            </a:pPr>
            <a:r>
              <a:rPr b="1" lang="en-US" sz="1400" spc="-1" strike="noStrike">
                <a:solidFill>
                  <a:srgbClr val="000000"/>
                </a:solidFill>
                <a:latin typeface="Aptos"/>
              </a:rPr>
              <a:t>Examples:</a:t>
            </a: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1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4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1001"/>
              </a:spcBef>
              <a:buNone/>
              <a:tabLst>
                <a:tab algn="l" pos="0"/>
              </a:tabLst>
            </a:pPr>
            <a:endParaRPr b="0" lang="en-US" sz="1600" spc="-1" strike="noStrike">
              <a:solidFill>
                <a:srgbClr val="000000"/>
              </a:solidFill>
              <a:latin typeface="Arial"/>
            </a:endParaRPr>
          </a:p>
          <a:p>
            <a:pPr marL="285840" indent="0">
              <a:lnSpc>
                <a:spcPct val="90000"/>
              </a:lnSpc>
              <a:spcBef>
                <a:spcPts val="2500"/>
              </a:spcBef>
              <a:buNone/>
              <a:tabLst>
                <a:tab algn="l" pos="0"/>
              </a:tabLst>
            </a:pPr>
            <a:endParaRPr b="0" lang="en-US" sz="1400" spc="-1" strike="noStrike">
              <a:solidFill>
                <a:srgbClr val="000000"/>
              </a:solidFill>
              <a:latin typeface="Arial"/>
            </a:endParaRPr>
          </a:p>
        </p:txBody>
      </p:sp>
      <p:pic>
        <p:nvPicPr>
          <p:cNvPr id="844" name="Picture Placeholder 4" descr=""/>
          <p:cNvPicPr/>
          <p:nvPr/>
        </p:nvPicPr>
        <p:blipFill>
          <a:blip r:embed="rId1">
            <a:alphaModFix amt="20000"/>
          </a:blip>
          <a:srcRect l="-72971" t="-397496" r="-72971" b="-397496"/>
          <a:stretch/>
        </p:blipFill>
        <p:spPr>
          <a:xfrm>
            <a:off x="9287640" y="393120"/>
            <a:ext cx="2083680" cy="6050160"/>
          </a:xfrm>
          <a:prstGeom prst="rect">
            <a:avLst/>
          </a:prstGeom>
          <a:ln w="0">
            <a:noFill/>
          </a:ln>
        </p:spPr>
      </p:pic>
      <p:sp>
        <p:nvSpPr>
          <p:cNvPr id="845" name="PlaceHolder 4"/>
          <p:cNvSpPr>
            <a:spLocks noGrp="1"/>
          </p:cNvSpPr>
          <p:nvPr>
            <p:ph type="sldNum" idx="18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55C4854A-05C5-4071-8229-E219D40DA164}" type="slidenum">
              <a:rPr b="0" lang="en-US" sz="1200" spc="-1" strike="noStrike">
                <a:solidFill>
                  <a:srgbClr val="787878"/>
                </a:solidFill>
                <a:latin typeface="Aptos"/>
              </a:rPr>
              <a:t>78</a:t>
            </a:fld>
            <a:endParaRPr b="0" lang="en-US" sz="1200" spc="-1" strike="noStrike">
              <a:solidFill>
                <a:srgbClr val="000000"/>
              </a:solidFill>
              <a:latin typeface="Times New Roman"/>
            </a:endParaRPr>
          </a:p>
        </p:txBody>
      </p:sp>
    </p:spTree>
  </p:cSld>
  <p:transition>
    <p:fade/>
  </p:transition>
  <p:timing>
    <p:tnLst>
      <p:par>
        <p:cTn id="521" dur="indefinite" restart="never" nodeType="tmRoot">
          <p:childTnLst>
            <p:seq>
              <p:cTn id="522" dur="indefinite" nodeType="mainSeq">
                <p:childTnLst>
                  <p:par>
                    <p:cTn id="523" fill="hold">
                      <p:stCondLst>
                        <p:cond delay="0"/>
                      </p:stCondLst>
                      <p:childTnLst>
                        <p:par>
                          <p:cTn id="524" fill="hold">
                            <p:stCondLst>
                              <p:cond delay="0"/>
                            </p:stCondLst>
                            <p:childTnLst>
                              <p:par>
                                <p:cTn id="525" nodeType="withEffect" fill="hold" presetClass="entr" presetID="10">
                                  <p:stCondLst>
                                    <p:cond delay="250"/>
                                  </p:stCondLst>
                                  <p:iterate type="el">
                                    <p:tmAbs val="100"/>
                                  </p:iterate>
                                  <p:childTnLst>
                                    <p:set>
                                      <p:cBhvr>
                                        <p:cTn id="526" dur="1" fill="hold">
                                          <p:stCondLst>
                                            <p:cond delay="0"/>
                                          </p:stCondLst>
                                        </p:cTn>
                                        <p:tgtEl>
                                          <p:spTgt spid="843"/>
                                        </p:tgtEl>
                                        <p:attrNameLst>
                                          <p:attrName>style.visibility</p:attrName>
                                        </p:attrNameLst>
                                      </p:cBhvr>
                                      <p:to>
                                        <p:strVal val="visible"/>
                                      </p:to>
                                    </p:set>
                                    <p:animEffect filter="fade" transition="in">
                                      <p:cBhvr additive="repl">
                                        <p:cTn id="527" dur="5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title"/>
          </p:nvPr>
        </p:nvSpPr>
        <p:spPr>
          <a:xfrm>
            <a:off x="4129920" y="1645920"/>
            <a:ext cx="3931200" cy="3565440"/>
          </a:xfrm>
          <a:prstGeom prst="rect">
            <a:avLst/>
          </a:prstGeom>
          <a:noFill/>
          <a:ln w="0">
            <a:noFill/>
          </a:ln>
        </p:spPr>
        <p:txBody>
          <a:bodyPr lIns="90000" rIns="90000" tIns="45000" bIns="45000" anchor="ctr">
            <a:normAutofit/>
          </a:bodyPr>
          <a:p>
            <a:pPr indent="0" algn="ctr">
              <a:lnSpc>
                <a:spcPct val="90000"/>
              </a:lnSpc>
              <a:buNone/>
              <a:tabLst>
                <a:tab algn="l" pos="0"/>
              </a:tabLst>
            </a:pPr>
            <a:r>
              <a:rPr b="0" lang="en-US" sz="4600" spc="-1" strike="noStrike">
                <a:solidFill>
                  <a:srgbClr val="000000"/>
                </a:solidFill>
                <a:latin typeface="Aptos Display"/>
              </a:rPr>
              <a:t>Integration and Trade-offs</a:t>
            </a:r>
            <a:endParaRPr b="0" lang="en-US" sz="4600" spc="-1" strike="noStrike">
              <a:solidFill>
                <a:srgbClr val="000000"/>
              </a:solidFill>
              <a:latin typeface="Arial"/>
            </a:endParaRPr>
          </a:p>
        </p:txBody>
      </p:sp>
      <p:sp>
        <p:nvSpPr>
          <p:cNvPr id="847" name="PlaceHolder 2"/>
          <p:cNvSpPr>
            <a:spLocks noGrp="1"/>
          </p:cNvSpPr>
          <p:nvPr>
            <p:ph type="ftr" idx="18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48" name="PlaceHolder 3"/>
          <p:cNvSpPr>
            <a:spLocks noGrp="1"/>
          </p:cNvSpPr>
          <p:nvPr>
            <p:ph type="sldNum" idx="18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246CCA8C-A39F-4732-B078-C0046F366C26}" type="slidenum">
              <a:rPr b="0" lang="en-US" sz="1200" spc="-1" strike="noStrike">
                <a:solidFill>
                  <a:srgbClr val="787878"/>
                </a:solidFill>
                <a:latin typeface="Aptos"/>
              </a:rPr>
              <a:t>79</a:t>
            </a:fld>
            <a:endParaRPr b="0" lang="en-US" sz="1200" spc="-1" strike="noStrike">
              <a:solidFill>
                <a:srgbClr val="000000"/>
              </a:solidFill>
              <a:latin typeface="Times New Roman"/>
            </a:endParaRPr>
          </a:p>
        </p:txBody>
      </p:sp>
    </p:spTree>
  </p:cSld>
  <p:transition>
    <p:fade/>
  </p:transition>
  <p:timing>
    <p:tnLst>
      <p:par>
        <p:cTn id="528" dur="indefinite" restart="never" nodeType="tmRoot">
          <p:childTnLst>
            <p:seq>
              <p:cTn id="529" dur="indefinite" nodeType="mainSeq">
                <p:childTnLst>
                  <p:par>
                    <p:cTn id="530" fill="hold">
                      <p:stCondLst>
                        <p:cond delay="0"/>
                      </p:stCondLst>
                      <p:childTnLst>
                        <p:par>
                          <p:cTn id="531" fill="hold">
                            <p:stCondLst>
                              <p:cond delay="0"/>
                            </p:stCondLst>
                            <p:childTnLst>
                              <p:par>
                                <p:cTn id="532" nodeType="withEffect" fill="hold" presetClass="entr" presetID="10">
                                  <p:stCondLst>
                                    <p:cond delay="500"/>
                                  </p:stCondLst>
                                  <p:iterate type="wd">
                                    <p:tmAbs val="150"/>
                                  </p:iterate>
                                  <p:childTnLst>
                                    <p:set>
                                      <p:cBhvr>
                                        <p:cTn id="533" dur="1" fill="hold">
                                          <p:stCondLst>
                                            <p:cond delay="0"/>
                                          </p:stCondLst>
                                        </p:cTn>
                                        <p:tgtEl>
                                          <p:spTgt spid="846"/>
                                        </p:tgtEl>
                                        <p:attrNameLst>
                                          <p:attrName>style.visibility</p:attrName>
                                        </p:attrNameLst>
                                      </p:cBhvr>
                                      <p:to>
                                        <p:strVal val="visible"/>
                                      </p:to>
                                    </p:set>
                                    <p:animEffect filter="fade" transition="in">
                                      <p:cBhvr additive="repl">
                                        <p:cTn id="534" dur="1000"/>
                                        <p:tgtEl>
                                          <p:spTgt spid="8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9" name="PlaceHolder 1"/>
          <p:cNvSpPr>
            <a:spLocks noGrp="1"/>
          </p:cNvSpPr>
          <p:nvPr>
            <p:ph type="title"/>
          </p:nvPr>
        </p:nvSpPr>
        <p:spPr>
          <a:xfrm>
            <a:off x="1245240" y="786240"/>
            <a:ext cx="4022640" cy="1279440"/>
          </a:xfrm>
          <a:prstGeom prst="rect">
            <a:avLst/>
          </a:prstGeom>
          <a:noFill/>
          <a:ln w="0">
            <a:noFill/>
          </a:ln>
        </p:spPr>
        <p:txBody>
          <a:bodyPr lIns="90000" rIns="90000" tIns="45000" bIns="45000" anchor="t">
            <a:normAutofit/>
          </a:bodyPr>
          <a:p>
            <a:pPr indent="0">
              <a:lnSpc>
                <a:spcPct val="90000"/>
              </a:lnSpc>
              <a:buNone/>
              <a:tabLst>
                <a:tab algn="l" pos="0"/>
              </a:tabLst>
            </a:pPr>
            <a:r>
              <a:rPr b="0" lang="en-US" sz="2700" spc="-1" strike="noStrike">
                <a:solidFill>
                  <a:srgbClr val="000000"/>
                </a:solidFill>
                <a:latin typeface="Aptos Display"/>
              </a:rPr>
              <a:t>Interpreting Measures Together</a:t>
            </a:r>
            <a:endParaRPr b="0" lang="en-US" sz="2700" spc="-1" strike="noStrike">
              <a:solidFill>
                <a:srgbClr val="000000"/>
              </a:solidFill>
              <a:latin typeface="Arial"/>
            </a:endParaRPr>
          </a:p>
        </p:txBody>
      </p:sp>
      <p:sp>
        <p:nvSpPr>
          <p:cNvPr id="850" name="PlaceHolder 2"/>
          <p:cNvSpPr>
            <a:spLocks noGrp="1"/>
          </p:cNvSpPr>
          <p:nvPr>
            <p:ph type="ftr" idx="184"/>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pic>
        <p:nvPicPr>
          <p:cNvPr id="851" name="Content Placeholder 6" descr="Different coloured dots on white wall"/>
          <p:cNvPicPr/>
          <p:nvPr/>
        </p:nvPicPr>
        <p:blipFill>
          <a:blip r:embed="rId1">
            <a:alphaModFix amt="20000"/>
          </a:blip>
          <a:srcRect l="0" t="0" r="0" b="-2022"/>
          <a:stretch/>
        </p:blipFill>
        <p:spPr>
          <a:xfrm>
            <a:off x="1220400" y="2396160"/>
            <a:ext cx="4070160" cy="3637080"/>
          </a:xfrm>
          <a:prstGeom prst="rect">
            <a:avLst/>
          </a:prstGeom>
          <a:ln w="6350">
            <a:solidFill>
              <a:srgbClr val="000000"/>
            </a:solidFill>
            <a:round/>
          </a:ln>
        </p:spPr>
      </p:pic>
      <p:sp>
        <p:nvSpPr>
          <p:cNvPr id="852" name="PlaceHolder 3"/>
          <p:cNvSpPr>
            <a:spLocks noGrp="1"/>
          </p:cNvSpPr>
          <p:nvPr>
            <p:ph/>
          </p:nvPr>
        </p:nvSpPr>
        <p:spPr>
          <a:xfrm>
            <a:off x="5669280" y="786240"/>
            <a:ext cx="5302800" cy="530280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r>
              <a:rPr b="1" lang="en-US" sz="1400" spc="-1" strike="noStrike">
                <a:solidFill>
                  <a:srgbClr val="000000"/>
                </a:solidFill>
                <a:latin typeface="Aptos"/>
              </a:rPr>
              <a:t>Density and Clustering Effects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High network density and clustering enhance local robustness but can decrease speed of global information spread.</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Centralization and Fragility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Centralized networks accelerate communication but increase vulnerability to hub failures.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Efficiency and Resilience</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Efficiency metrics indicate how network structure impacts resilience under failure conditions.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Impact of Interventions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Adding edges, reducing hub reliance, or increasing redundancy shifts metrics to improve robustness and adaptability.</a:t>
            </a:r>
            <a:endParaRPr b="0" lang="en-US" sz="1400" spc="-1" strike="noStrike">
              <a:solidFill>
                <a:srgbClr val="000000"/>
              </a:solidFill>
              <a:latin typeface="Arial"/>
            </a:endParaRPr>
          </a:p>
        </p:txBody>
      </p:sp>
      <p:sp>
        <p:nvSpPr>
          <p:cNvPr id="853" name="PlaceHolder 4"/>
          <p:cNvSpPr>
            <a:spLocks noGrp="1"/>
          </p:cNvSpPr>
          <p:nvPr>
            <p:ph type="sldNum" idx="185"/>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C07CAA64-CBA2-49E0-BF23-84F2E1E3496C}" type="slidenum">
              <a:rPr b="0" lang="en-US" sz="1200" spc="-1" strike="noStrike">
                <a:solidFill>
                  <a:srgbClr val="787878"/>
                </a:solidFill>
                <a:latin typeface="Aptos"/>
              </a:rPr>
              <a:t>80</a:t>
            </a:fld>
            <a:endParaRPr b="0" lang="en-US" sz="1200" spc="-1" strike="noStrike">
              <a:solidFill>
                <a:srgbClr val="000000"/>
              </a:solidFill>
              <a:latin typeface="Times New Roman"/>
            </a:endParaRPr>
          </a:p>
        </p:txBody>
      </p:sp>
    </p:spTree>
  </p:cSld>
  <p:transition>
    <p:fade/>
  </p:transition>
  <p:timing>
    <p:tnLst>
      <p:par>
        <p:cTn id="535" dur="indefinite" restart="never" nodeType="tmRoot">
          <p:childTnLst>
            <p:seq>
              <p:cTn id="536" dur="indefinite" nodeType="mainSeq">
                <p:childTnLst>
                  <p:par>
                    <p:cTn id="537" fill="hold">
                      <p:stCondLst>
                        <p:cond delay="0"/>
                      </p:stCondLst>
                      <p:childTnLst>
                        <p:par>
                          <p:cTn id="538" fill="hold">
                            <p:stCondLst>
                              <p:cond delay="0"/>
                            </p:stCondLst>
                            <p:childTnLst>
                              <p:par>
                                <p:cTn id="539" nodeType="withEffect" fill="hold" presetClass="entr" presetID="10">
                                  <p:stCondLst>
                                    <p:cond delay="250"/>
                                  </p:stCondLst>
                                  <p:iterate type="el">
                                    <p:tmAbs val="100"/>
                                  </p:iterate>
                                  <p:childTnLst>
                                    <p:set>
                                      <p:cBhvr>
                                        <p:cTn id="540" dur="1" fill="hold">
                                          <p:stCondLst>
                                            <p:cond delay="0"/>
                                          </p:stCondLst>
                                        </p:cTn>
                                        <p:tgtEl>
                                          <p:spTgt spid="852"/>
                                        </p:tgtEl>
                                        <p:attrNameLst>
                                          <p:attrName>style.visibility</p:attrName>
                                        </p:attrNameLst>
                                      </p:cBhvr>
                                      <p:to>
                                        <p:strVal val="visible"/>
                                      </p:to>
                                    </p:set>
                                    <p:animEffect filter="fade" transition="in">
                                      <p:cBhvr additive="repl">
                                        <p:cTn id="541" dur="500"/>
                                        <p:tgtEl>
                                          <p:spTgt spid="8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4" name="PlaceHolder 1"/>
          <p:cNvSpPr>
            <a:spLocks noGrp="1"/>
          </p:cNvSpPr>
          <p:nvPr>
            <p:ph type="title"/>
          </p:nvPr>
        </p:nvSpPr>
        <p:spPr>
          <a:xfrm>
            <a:off x="1245240" y="786240"/>
            <a:ext cx="4022640" cy="1279440"/>
          </a:xfrm>
          <a:prstGeom prst="rect">
            <a:avLst/>
          </a:prstGeom>
          <a:noFill/>
          <a:ln w="0">
            <a:noFill/>
          </a:ln>
        </p:spPr>
        <p:txBody>
          <a:bodyPr lIns="90000" rIns="90000" tIns="45000" bIns="45000" anchor="t">
            <a:normAutofit/>
          </a:bodyPr>
          <a:p>
            <a:pPr indent="0">
              <a:lnSpc>
                <a:spcPct val="90000"/>
              </a:lnSpc>
              <a:buNone/>
              <a:tabLst>
                <a:tab algn="l" pos="0"/>
              </a:tabLst>
            </a:pPr>
            <a:r>
              <a:rPr b="0" lang="en-US" sz="2700" spc="-1" strike="noStrike">
                <a:solidFill>
                  <a:srgbClr val="000000"/>
                </a:solidFill>
                <a:latin typeface="Aptos Display"/>
              </a:rPr>
              <a:t>Pitfalls and Common Misconceptions</a:t>
            </a:r>
            <a:endParaRPr b="0" lang="en-US" sz="2700" spc="-1" strike="noStrike">
              <a:solidFill>
                <a:srgbClr val="000000"/>
              </a:solidFill>
              <a:latin typeface="Arial"/>
            </a:endParaRPr>
          </a:p>
        </p:txBody>
      </p:sp>
      <p:sp>
        <p:nvSpPr>
          <p:cNvPr id="855" name="PlaceHolder 2"/>
          <p:cNvSpPr>
            <a:spLocks noGrp="1"/>
          </p:cNvSpPr>
          <p:nvPr>
            <p:ph type="ftr" idx="186"/>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pic>
        <p:nvPicPr>
          <p:cNvPr id="856" name="Content Placeholder 6" descr=""/>
          <p:cNvPicPr/>
          <p:nvPr/>
        </p:nvPicPr>
        <p:blipFill>
          <a:blip r:embed="rId1">
            <a:alphaModFix amt="20000"/>
          </a:blip>
          <a:srcRect l="0" t="0" r="0" b="-925"/>
          <a:stretch/>
        </p:blipFill>
        <p:spPr>
          <a:xfrm>
            <a:off x="1220400" y="2396160"/>
            <a:ext cx="4070160" cy="3637080"/>
          </a:xfrm>
          <a:prstGeom prst="rect">
            <a:avLst/>
          </a:prstGeom>
          <a:ln w="6350">
            <a:solidFill>
              <a:srgbClr val="000000"/>
            </a:solidFill>
            <a:round/>
          </a:ln>
        </p:spPr>
      </p:pic>
      <p:sp>
        <p:nvSpPr>
          <p:cNvPr id="857" name="PlaceHolder 3"/>
          <p:cNvSpPr>
            <a:spLocks noGrp="1"/>
          </p:cNvSpPr>
          <p:nvPr>
            <p:ph/>
          </p:nvPr>
        </p:nvSpPr>
        <p:spPr>
          <a:xfrm>
            <a:off x="5669280" y="786240"/>
            <a:ext cx="5302800" cy="530280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r>
              <a:rPr b="1" lang="en-US" sz="1400" spc="-1" strike="noStrike">
                <a:solidFill>
                  <a:srgbClr val="000000"/>
                </a:solidFill>
                <a:latin typeface="Aptos"/>
              </a:rPr>
              <a:t>Centralization vs Centrality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Centralization measures overall network structure, while centrality focuses on individual node importance.</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Graph Size and Clustering</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Network size affects density and clustering; interpret clustering carefully within context.</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Closeness Centralization Limits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Closeness centralization struggles with disconnected graphs unless harmonic measures are applied.</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Measurement Errors Impact</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Missing edges and errors distort isolation and fragmentation metrics in network analysis.</a:t>
            </a:r>
            <a:endParaRPr b="0" lang="en-US" sz="1400" spc="-1" strike="noStrike">
              <a:solidFill>
                <a:srgbClr val="000000"/>
              </a:solidFill>
              <a:latin typeface="Arial"/>
            </a:endParaRPr>
          </a:p>
        </p:txBody>
      </p:sp>
      <p:sp>
        <p:nvSpPr>
          <p:cNvPr id="858" name="PlaceHolder 4"/>
          <p:cNvSpPr>
            <a:spLocks noGrp="1"/>
          </p:cNvSpPr>
          <p:nvPr>
            <p:ph type="sldNum" idx="187"/>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A317E94E-416B-4438-A43F-12BA33DAA40B}" type="slidenum">
              <a:rPr b="0" lang="en-US" sz="1200" spc="-1" strike="noStrike">
                <a:solidFill>
                  <a:srgbClr val="787878"/>
                </a:solidFill>
                <a:latin typeface="Aptos"/>
              </a:rPr>
              <a:t>81</a:t>
            </a:fld>
            <a:endParaRPr b="0" lang="en-US" sz="1200" spc="-1" strike="noStrike">
              <a:solidFill>
                <a:srgbClr val="000000"/>
              </a:solidFill>
              <a:latin typeface="Times New Roman"/>
            </a:endParaRPr>
          </a:p>
        </p:txBody>
      </p:sp>
    </p:spTree>
  </p:cSld>
  <p:transition>
    <p:fade/>
  </p:transition>
  <p:timing>
    <p:tnLst>
      <p:par>
        <p:cTn id="542" dur="indefinite" restart="never" nodeType="tmRoot">
          <p:childTnLst>
            <p:seq>
              <p:cTn id="543" dur="indefinite" nodeType="mainSeq">
                <p:childTnLst>
                  <p:par>
                    <p:cTn id="544" fill="hold">
                      <p:stCondLst>
                        <p:cond delay="0"/>
                      </p:stCondLst>
                      <p:childTnLst>
                        <p:par>
                          <p:cTn id="545" fill="hold">
                            <p:stCondLst>
                              <p:cond delay="0"/>
                            </p:stCondLst>
                            <p:childTnLst>
                              <p:par>
                                <p:cTn id="546" nodeType="withEffect" fill="hold" presetClass="entr" presetID="10">
                                  <p:stCondLst>
                                    <p:cond delay="250"/>
                                  </p:stCondLst>
                                  <p:iterate type="el">
                                    <p:tmAbs val="100"/>
                                  </p:iterate>
                                  <p:childTnLst>
                                    <p:set>
                                      <p:cBhvr>
                                        <p:cTn id="547" dur="1" fill="hold">
                                          <p:stCondLst>
                                            <p:cond delay="0"/>
                                          </p:stCondLst>
                                        </p:cTn>
                                        <p:tgtEl>
                                          <p:spTgt spid="857"/>
                                        </p:tgtEl>
                                        <p:attrNameLst>
                                          <p:attrName>style.visibility</p:attrName>
                                        </p:attrNameLst>
                                      </p:cBhvr>
                                      <p:to>
                                        <p:strVal val="visible"/>
                                      </p:to>
                                    </p:set>
                                    <p:animEffect filter="fade" transition="in">
                                      <p:cBhvr additive="repl">
                                        <p:cTn id="548" dur="500"/>
                                        <p:tgtEl>
                                          <p:spTgt spid="8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9" name="PlaceHolder 1"/>
          <p:cNvSpPr>
            <a:spLocks noGrp="1"/>
          </p:cNvSpPr>
          <p:nvPr>
            <p:ph type="title"/>
          </p:nvPr>
        </p:nvSpPr>
        <p:spPr>
          <a:xfrm>
            <a:off x="4129920" y="1645920"/>
            <a:ext cx="3931200" cy="3565440"/>
          </a:xfrm>
          <a:prstGeom prst="rect">
            <a:avLst/>
          </a:prstGeom>
          <a:noFill/>
          <a:ln w="0">
            <a:noFill/>
          </a:ln>
        </p:spPr>
        <p:txBody>
          <a:bodyPr lIns="90000" rIns="90000" tIns="45000" bIns="45000" anchor="ctr">
            <a:normAutofit/>
          </a:bodyPr>
          <a:p>
            <a:pPr indent="0" algn="ctr">
              <a:lnSpc>
                <a:spcPct val="90000"/>
              </a:lnSpc>
              <a:buNone/>
              <a:tabLst>
                <a:tab algn="l" pos="0"/>
              </a:tabLst>
            </a:pPr>
            <a:r>
              <a:rPr b="0" lang="en-US" sz="4600" spc="-1" strike="noStrike">
                <a:solidFill>
                  <a:srgbClr val="000000"/>
                </a:solidFill>
                <a:latin typeface="Aptos Display"/>
              </a:rPr>
              <a:t>Summary and References</a:t>
            </a:r>
            <a:endParaRPr b="0" lang="en-US" sz="4600" spc="-1" strike="noStrike">
              <a:solidFill>
                <a:srgbClr val="000000"/>
              </a:solidFill>
              <a:latin typeface="Arial"/>
            </a:endParaRPr>
          </a:p>
        </p:txBody>
      </p:sp>
      <p:sp>
        <p:nvSpPr>
          <p:cNvPr id="860" name="PlaceHolder 2"/>
          <p:cNvSpPr>
            <a:spLocks noGrp="1"/>
          </p:cNvSpPr>
          <p:nvPr>
            <p:ph type="ftr" idx="188"/>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61" name="PlaceHolder 3"/>
          <p:cNvSpPr>
            <a:spLocks noGrp="1"/>
          </p:cNvSpPr>
          <p:nvPr>
            <p:ph type="sldNum" idx="189"/>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23AD16C1-D799-40DB-8DB6-E16800251D51}" type="slidenum">
              <a:rPr b="0" lang="en-US" sz="1200" spc="-1" strike="noStrike">
                <a:solidFill>
                  <a:srgbClr val="787878"/>
                </a:solidFill>
                <a:latin typeface="Aptos"/>
              </a:rPr>
              <a:t>82</a:t>
            </a:fld>
            <a:endParaRPr b="0" lang="en-US" sz="1200" spc="-1" strike="noStrike">
              <a:solidFill>
                <a:srgbClr val="000000"/>
              </a:solidFill>
              <a:latin typeface="Times New Roman"/>
            </a:endParaRPr>
          </a:p>
        </p:txBody>
      </p:sp>
    </p:spTree>
  </p:cSld>
  <p:transition>
    <p:fade/>
  </p:transition>
  <p:timing>
    <p:tnLst>
      <p:par>
        <p:cTn id="549" dur="indefinite" restart="never" nodeType="tmRoot">
          <p:childTnLst>
            <p:seq>
              <p:cTn id="550" dur="indefinite" nodeType="mainSeq">
                <p:childTnLst>
                  <p:par>
                    <p:cTn id="551" fill="hold">
                      <p:stCondLst>
                        <p:cond delay="0"/>
                      </p:stCondLst>
                      <p:childTnLst>
                        <p:par>
                          <p:cTn id="552" fill="hold">
                            <p:stCondLst>
                              <p:cond delay="0"/>
                            </p:stCondLst>
                            <p:childTnLst>
                              <p:par>
                                <p:cTn id="553" nodeType="withEffect" fill="hold" presetClass="entr" presetID="10">
                                  <p:stCondLst>
                                    <p:cond delay="500"/>
                                  </p:stCondLst>
                                  <p:iterate type="wd">
                                    <p:tmAbs val="150"/>
                                  </p:iterate>
                                  <p:childTnLst>
                                    <p:set>
                                      <p:cBhvr>
                                        <p:cTn id="554" dur="1" fill="hold">
                                          <p:stCondLst>
                                            <p:cond delay="0"/>
                                          </p:stCondLst>
                                        </p:cTn>
                                        <p:tgtEl>
                                          <p:spTgt spid="859"/>
                                        </p:tgtEl>
                                        <p:attrNameLst>
                                          <p:attrName>style.visibility</p:attrName>
                                        </p:attrNameLst>
                                      </p:cBhvr>
                                      <p:to>
                                        <p:strVal val="visible"/>
                                      </p:to>
                                    </p:set>
                                    <p:animEffect filter="fade" transition="in">
                                      <p:cBhvr additive="repl">
                                        <p:cTn id="555" dur="1000"/>
                                        <p:tgtEl>
                                          <p:spTgt spid="8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2" name="PlaceHolder 1"/>
          <p:cNvSpPr>
            <a:spLocks noGrp="1"/>
          </p:cNvSpPr>
          <p:nvPr>
            <p:ph type="title"/>
          </p:nvPr>
        </p:nvSpPr>
        <p:spPr>
          <a:xfrm>
            <a:off x="1207080" y="786240"/>
            <a:ext cx="7771680" cy="913680"/>
          </a:xfrm>
          <a:prstGeom prst="rect">
            <a:avLst/>
          </a:prstGeom>
          <a:noFill/>
          <a:ln w="0">
            <a:noFill/>
          </a:ln>
        </p:spPr>
        <p:txBody>
          <a:bodyPr lIns="90000" rIns="90000" tIns="45000" bIns="45000" anchor="b">
            <a:normAutofit/>
          </a:bodyPr>
          <a:p>
            <a:pPr indent="0">
              <a:lnSpc>
                <a:spcPct val="90000"/>
              </a:lnSpc>
              <a:buNone/>
              <a:tabLst>
                <a:tab algn="l" pos="0"/>
              </a:tabLst>
            </a:pPr>
            <a:r>
              <a:rPr b="0" lang="en-US" sz="3200" spc="-1" strike="noStrike">
                <a:solidFill>
                  <a:srgbClr val="000000"/>
                </a:solidFill>
                <a:latin typeface="Aptos Display"/>
              </a:rPr>
              <a:t>Key Takeaways</a:t>
            </a:r>
            <a:endParaRPr b="0" lang="en-US" sz="3200" spc="-1" strike="noStrike">
              <a:solidFill>
                <a:srgbClr val="000000"/>
              </a:solidFill>
              <a:latin typeface="Arial"/>
            </a:endParaRPr>
          </a:p>
        </p:txBody>
      </p:sp>
      <p:sp>
        <p:nvSpPr>
          <p:cNvPr id="863" name="PlaceHolder 2"/>
          <p:cNvSpPr>
            <a:spLocks noGrp="1"/>
          </p:cNvSpPr>
          <p:nvPr>
            <p:ph type="ftr" idx="190"/>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64" name="PlaceHolder 3"/>
          <p:cNvSpPr>
            <a:spLocks noGrp="1"/>
          </p:cNvSpPr>
          <p:nvPr>
            <p:ph/>
          </p:nvPr>
        </p:nvSpPr>
        <p:spPr>
          <a:xfrm>
            <a:off x="1207080" y="1828800"/>
            <a:ext cx="7771680" cy="4205520"/>
          </a:xfrm>
          <a:prstGeom prst="rect">
            <a:avLst/>
          </a:prstGeom>
          <a:noFill/>
          <a:ln w="0">
            <a:noFill/>
          </a:ln>
        </p:spPr>
        <p:txBody>
          <a:bodyPr lIns="90000" rIns="90000" tIns="45000" bIns="45000" anchor="t">
            <a:normAutofit/>
          </a:bodyPr>
          <a:p>
            <a:pPr indent="0">
              <a:lnSpc>
                <a:spcPct val="90000"/>
              </a:lnSpc>
              <a:spcBef>
                <a:spcPts val="2500"/>
              </a:spcBef>
              <a:buNone/>
              <a:tabLst>
                <a:tab algn="l" pos="0"/>
              </a:tabLst>
            </a:pPr>
            <a:r>
              <a:rPr b="1" lang="en-US" sz="1400" spc="-1" strike="noStrike">
                <a:solidFill>
                  <a:srgbClr val="000000"/>
                </a:solidFill>
                <a:latin typeface="Aptos"/>
              </a:rPr>
              <a:t>Network Structure and Inequality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Macro-scale metrics reveal network structure and inequality, guiding design and resilience decisions effectively.</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Connectivity and Redundancy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Connectivity supports robustness while redundancy improves fault tolerance in network systems.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Centralization and Vulnerability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Centralization increases efficiency but raises vulnerability; eigenvector centralization uncovers systemic biases.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Efficiency for Performance</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Efficiency metrics are critical for optimizing network performance under failure scenarios.</a:t>
            </a:r>
            <a:endParaRPr b="0" lang="en-US" sz="1400" spc="-1" strike="noStrike">
              <a:solidFill>
                <a:srgbClr val="000000"/>
              </a:solidFill>
              <a:latin typeface="Arial"/>
            </a:endParaRPr>
          </a:p>
        </p:txBody>
      </p:sp>
      <p:pic>
        <p:nvPicPr>
          <p:cNvPr id="865" name="Content Placeholder 6" descr="Network otimization concept"/>
          <p:cNvPicPr/>
          <p:nvPr/>
        </p:nvPicPr>
        <p:blipFill>
          <a:blip r:embed="rId1">
            <a:alphaModFix amt="20000"/>
          </a:blip>
          <a:srcRect l="5" t="15" r="-21" b="0"/>
          <a:stretch/>
        </p:blipFill>
        <p:spPr>
          <a:xfrm>
            <a:off x="9287640" y="393120"/>
            <a:ext cx="2083680" cy="6050160"/>
          </a:xfrm>
          <a:prstGeom prst="rect">
            <a:avLst/>
          </a:prstGeom>
          <a:ln w="0">
            <a:noFill/>
          </a:ln>
        </p:spPr>
      </p:pic>
      <p:sp>
        <p:nvSpPr>
          <p:cNvPr id="866" name="PlaceHolder 4"/>
          <p:cNvSpPr>
            <a:spLocks noGrp="1"/>
          </p:cNvSpPr>
          <p:nvPr>
            <p:ph type="sldNum" idx="191"/>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12376095-1868-454B-A8F5-6C85F766C9DD}" type="slidenum">
              <a:rPr b="0" lang="en-US" sz="1200" spc="-1" strike="noStrike">
                <a:solidFill>
                  <a:srgbClr val="787878"/>
                </a:solidFill>
                <a:latin typeface="Aptos"/>
              </a:rPr>
              <a:t>83</a:t>
            </a:fld>
            <a:endParaRPr b="0" lang="en-US" sz="1200" spc="-1" strike="noStrike">
              <a:solidFill>
                <a:srgbClr val="000000"/>
              </a:solidFill>
              <a:latin typeface="Times New Roman"/>
            </a:endParaRPr>
          </a:p>
        </p:txBody>
      </p:sp>
    </p:spTree>
  </p:cSld>
  <p:transition>
    <p:fade/>
  </p:transition>
  <p:timing>
    <p:tnLst>
      <p:par>
        <p:cTn id="556" dur="indefinite" restart="never" nodeType="tmRoot">
          <p:childTnLst>
            <p:seq>
              <p:cTn id="557" dur="indefinite" nodeType="mainSeq">
                <p:childTnLst>
                  <p:par>
                    <p:cTn id="558" fill="hold">
                      <p:stCondLst>
                        <p:cond delay="0"/>
                      </p:stCondLst>
                      <p:childTnLst>
                        <p:par>
                          <p:cTn id="559" fill="hold">
                            <p:stCondLst>
                              <p:cond delay="0"/>
                            </p:stCondLst>
                            <p:childTnLst>
                              <p:par>
                                <p:cTn id="560" nodeType="withEffect" fill="hold" presetClass="entr" presetID="10">
                                  <p:stCondLst>
                                    <p:cond delay="250"/>
                                  </p:stCondLst>
                                  <p:iterate type="el">
                                    <p:tmAbs val="100"/>
                                  </p:iterate>
                                  <p:childTnLst>
                                    <p:set>
                                      <p:cBhvr>
                                        <p:cTn id="561" dur="1" fill="hold">
                                          <p:stCondLst>
                                            <p:cond delay="0"/>
                                          </p:stCondLst>
                                        </p:cTn>
                                        <p:tgtEl>
                                          <p:spTgt spid="864"/>
                                        </p:tgtEl>
                                        <p:attrNameLst>
                                          <p:attrName>style.visibility</p:attrName>
                                        </p:attrNameLst>
                                      </p:cBhvr>
                                      <p:to>
                                        <p:strVal val="visible"/>
                                      </p:to>
                                    </p:set>
                                    <p:animEffect filter="fade" transition="in">
                                      <p:cBhvr additive="repl">
                                        <p:cTn id="562" dur="500"/>
                                        <p:tgtEl>
                                          <p:spTgt spid="8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7" name="PlaceHolder 1"/>
          <p:cNvSpPr>
            <a:spLocks noGrp="1"/>
          </p:cNvSpPr>
          <p:nvPr>
            <p:ph type="title"/>
          </p:nvPr>
        </p:nvSpPr>
        <p:spPr>
          <a:xfrm>
            <a:off x="1210320" y="790200"/>
            <a:ext cx="3291120" cy="1499040"/>
          </a:xfrm>
          <a:prstGeom prst="rect">
            <a:avLst/>
          </a:prstGeom>
          <a:noFill/>
          <a:ln w="0">
            <a:noFill/>
          </a:ln>
        </p:spPr>
        <p:txBody>
          <a:bodyPr lIns="90000" rIns="90000" tIns="45000" bIns="45000" anchor="b">
            <a:normAutofit/>
          </a:bodyPr>
          <a:p>
            <a:pPr indent="0">
              <a:lnSpc>
                <a:spcPct val="90000"/>
              </a:lnSpc>
              <a:buNone/>
              <a:tabLst>
                <a:tab algn="l" pos="0"/>
              </a:tabLst>
            </a:pPr>
            <a:r>
              <a:rPr b="0" lang="en-US" sz="3200" spc="-1" strike="noStrike">
                <a:solidFill>
                  <a:srgbClr val="000000"/>
                </a:solidFill>
                <a:latin typeface="Aptos Display"/>
              </a:rPr>
              <a:t>References</a:t>
            </a:r>
            <a:endParaRPr b="0" lang="en-US" sz="3200" spc="-1" strike="noStrike">
              <a:solidFill>
                <a:srgbClr val="000000"/>
              </a:solidFill>
              <a:latin typeface="Arial"/>
            </a:endParaRPr>
          </a:p>
        </p:txBody>
      </p:sp>
      <p:sp>
        <p:nvSpPr>
          <p:cNvPr id="868" name="PlaceHolder 2"/>
          <p:cNvSpPr>
            <a:spLocks noGrp="1"/>
          </p:cNvSpPr>
          <p:nvPr>
            <p:ph type="ftr" idx="192"/>
          </p:nvPr>
        </p:nvSpPr>
        <p:spPr>
          <a:xfrm>
            <a:off x="4038480" y="6356520"/>
            <a:ext cx="4114080" cy="364320"/>
          </a:xfrm>
          <a:prstGeom prst="rect">
            <a:avLst/>
          </a:prstGeom>
          <a:noFill/>
          <a:ln w="0">
            <a:noFill/>
          </a:ln>
        </p:spPr>
        <p:txBody>
          <a:bodyPr lIns="90000" rIns="90000" tIns="45000" bIns="45000" anchor="ctr">
            <a:normAutofit/>
          </a:bodyPr>
          <a:lstStyle>
            <a:lvl1pPr indent="0" algn="ctr">
              <a:lnSpc>
                <a:spcPct val="100000"/>
              </a:lnSpc>
              <a:spcAft>
                <a:spcPts val="601"/>
              </a:spcAft>
              <a:buNone/>
              <a:tabLst>
                <a:tab algn="l" pos="0"/>
              </a:tabLst>
              <a:defRPr b="0" lang="en-US" sz="1200" spc="-1" strike="noStrike">
                <a:solidFill>
                  <a:srgbClr val="787878"/>
                </a:solidFill>
                <a:latin typeface="Aptos"/>
              </a:defRPr>
            </a:lvl1pPr>
          </a:lstStyle>
          <a:p>
            <a:pPr indent="0" algn="ctr">
              <a:lnSpc>
                <a:spcPct val="100000"/>
              </a:lnSpc>
              <a:spcAft>
                <a:spcPts val="601"/>
              </a:spcAft>
              <a:buNone/>
              <a:tabLst>
                <a:tab algn="l" pos="0"/>
              </a:tabLst>
            </a:pPr>
            <a:r>
              <a:rPr b="0" lang="en-US" sz="1200" spc="-1" strike="noStrike">
                <a:solidFill>
                  <a:srgbClr val="787878"/>
                </a:solidFill>
                <a:latin typeface="Aptos"/>
              </a:rPr>
              <a:t>SAMPLE FOOTER TEXT</a:t>
            </a:r>
            <a:endParaRPr b="0" lang="en-US" sz="1200" spc="-1" strike="noStrike">
              <a:solidFill>
                <a:srgbClr val="000000"/>
              </a:solidFill>
              <a:latin typeface="Times New Roman"/>
            </a:endParaRPr>
          </a:p>
        </p:txBody>
      </p:sp>
      <p:sp>
        <p:nvSpPr>
          <p:cNvPr id="869" name="PlaceHolder 3"/>
          <p:cNvSpPr>
            <a:spLocks noGrp="1"/>
          </p:cNvSpPr>
          <p:nvPr>
            <p:ph/>
          </p:nvPr>
        </p:nvSpPr>
        <p:spPr>
          <a:xfrm>
            <a:off x="1207080" y="2468880"/>
            <a:ext cx="3291120" cy="3547080"/>
          </a:xfrm>
          <a:prstGeom prst="rect">
            <a:avLst/>
          </a:prstGeom>
          <a:noFill/>
          <a:ln w="0">
            <a:noFill/>
          </a:ln>
        </p:spPr>
        <p:txBody>
          <a:bodyPr lIns="90000" rIns="90000" tIns="45000" bIns="45000" anchor="t">
            <a:normAutofit fontScale="96000"/>
          </a:bodyPr>
          <a:p>
            <a:pPr indent="0">
              <a:lnSpc>
                <a:spcPct val="90000"/>
              </a:lnSpc>
              <a:spcBef>
                <a:spcPts val="2500"/>
              </a:spcBef>
              <a:buNone/>
              <a:tabLst>
                <a:tab algn="l" pos="0"/>
              </a:tabLst>
            </a:pPr>
            <a:r>
              <a:rPr b="1" lang="en-US" sz="1400" spc="-1" strike="noStrike">
                <a:solidFill>
                  <a:srgbClr val="000000"/>
                </a:solidFill>
                <a:latin typeface="Aptos"/>
              </a:rPr>
              <a:t>Foundational Social Network Concepts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Freeman (1979) clarified centrality concepts, laying the groundwork for understanding network structures.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Comprehensive Network Analysis</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Wasserman &amp; Faust (1994) provided extensive methodologies for social network analysis.</a:t>
            </a:r>
            <a:endParaRPr b="0" lang="en-US" sz="1400" spc="-1" strike="noStrike">
              <a:solidFill>
                <a:srgbClr val="000000"/>
              </a:solidFill>
              <a:latin typeface="Arial"/>
            </a:endParaRPr>
          </a:p>
          <a:p>
            <a:pPr indent="0">
              <a:lnSpc>
                <a:spcPct val="90000"/>
              </a:lnSpc>
              <a:spcBef>
                <a:spcPts val="2500"/>
              </a:spcBef>
              <a:buNone/>
              <a:tabLst>
                <a:tab algn="l" pos="0"/>
              </a:tabLst>
            </a:pPr>
            <a:r>
              <a:rPr b="1" lang="en-US" sz="1400" spc="-1" strike="noStrike">
                <a:solidFill>
                  <a:srgbClr val="000000"/>
                </a:solidFill>
                <a:latin typeface="Aptos"/>
              </a:rPr>
              <a:t>Modern Network Theory</a:t>
            </a:r>
            <a:endParaRPr b="0" lang="en-US" sz="1400" spc="-1" strike="noStrike">
              <a:solidFill>
                <a:srgbClr val="000000"/>
              </a:solidFill>
              <a:latin typeface="Arial"/>
            </a:endParaRPr>
          </a:p>
          <a:p>
            <a:pPr indent="0">
              <a:lnSpc>
                <a:spcPct val="90000"/>
              </a:lnSpc>
              <a:spcBef>
                <a:spcPts val="499"/>
              </a:spcBef>
              <a:buNone/>
              <a:tabLst>
                <a:tab algn="l" pos="0"/>
              </a:tabLst>
            </a:pPr>
            <a:r>
              <a:rPr b="0" lang="en-US" sz="1400" spc="-1" strike="noStrike">
                <a:solidFill>
                  <a:srgbClr val="000000"/>
                </a:solidFill>
                <a:latin typeface="Aptos"/>
              </a:rPr>
              <a:t>Borgatti et al. (2018) and Newman (2010) expanded on methods and theory for analyzing complex networks.</a:t>
            </a:r>
            <a:endParaRPr b="0" lang="en-US" sz="1400" spc="-1" strike="noStrike">
              <a:solidFill>
                <a:srgbClr val="000000"/>
              </a:solidFill>
              <a:latin typeface="Arial"/>
            </a:endParaRPr>
          </a:p>
        </p:txBody>
      </p:sp>
      <p:pic>
        <p:nvPicPr>
          <p:cNvPr id="870" name="Content Placeholder 6" descr="Stack of multicolored books on blackboard with organic molecules written on.The books are placed on the right side of frame.Human DNA formulas are written on board.The focus is on the books and blackboard is blurred.The photo was shot with a full frame DSLR camera in studio lighting."/>
          <p:cNvPicPr/>
          <p:nvPr/>
        </p:nvPicPr>
        <p:blipFill>
          <a:blip r:embed="rId1">
            <a:alphaModFix amt="20000"/>
          </a:blip>
          <a:srcRect l="-25" t="0" r="0" b="0"/>
          <a:stretch/>
        </p:blipFill>
        <p:spPr>
          <a:xfrm>
            <a:off x="4925520" y="402480"/>
            <a:ext cx="6454800" cy="6052680"/>
          </a:xfrm>
          <a:prstGeom prst="rect">
            <a:avLst/>
          </a:prstGeom>
          <a:ln w="0">
            <a:noFill/>
          </a:ln>
        </p:spPr>
      </p:pic>
      <p:sp>
        <p:nvSpPr>
          <p:cNvPr id="871" name="PlaceHolder 4"/>
          <p:cNvSpPr>
            <a:spLocks noGrp="1"/>
          </p:cNvSpPr>
          <p:nvPr>
            <p:ph type="sldNum" idx="193"/>
          </p:nvPr>
        </p:nvSpPr>
        <p:spPr>
          <a:xfrm>
            <a:off x="8610480" y="6356520"/>
            <a:ext cx="2742480" cy="364320"/>
          </a:xfrm>
          <a:prstGeom prst="rect">
            <a:avLst/>
          </a:prstGeom>
          <a:noFill/>
          <a:ln w="0">
            <a:noFill/>
          </a:ln>
        </p:spPr>
        <p:txBody>
          <a:bodyPr lIns="90000" rIns="90000" tIns="45000" bIns="45000" anchor="ctr">
            <a:normAutofit/>
          </a:bodyPr>
          <a:lstStyle>
            <a:lvl1pPr indent="0" algn="r">
              <a:lnSpc>
                <a:spcPct val="100000"/>
              </a:lnSpc>
              <a:spcAft>
                <a:spcPts val="601"/>
              </a:spcAft>
              <a:buNone/>
              <a:tabLst>
                <a:tab algn="l" pos="0"/>
              </a:tabLst>
              <a:defRPr b="0" lang="en-US" sz="1200" spc="-1" strike="noStrike">
                <a:solidFill>
                  <a:srgbClr val="787878"/>
                </a:solidFill>
                <a:latin typeface="Aptos"/>
              </a:defRPr>
            </a:lvl1pPr>
          </a:lstStyle>
          <a:p>
            <a:pPr indent="0" algn="r">
              <a:lnSpc>
                <a:spcPct val="100000"/>
              </a:lnSpc>
              <a:spcAft>
                <a:spcPts val="601"/>
              </a:spcAft>
              <a:buNone/>
              <a:tabLst>
                <a:tab algn="l" pos="0"/>
              </a:tabLst>
            </a:pPr>
            <a:fld id="{BFD8ED56-CE64-41FC-85EC-426ACEB8797B}" type="slidenum">
              <a:rPr b="0" lang="en-US" sz="1200" spc="-1" strike="noStrike">
                <a:solidFill>
                  <a:srgbClr val="787878"/>
                </a:solidFill>
                <a:latin typeface="Aptos"/>
              </a:rPr>
              <a:t>84</a:t>
            </a:fld>
            <a:endParaRPr b="0" lang="en-US" sz="1200" spc="-1" strike="noStrike">
              <a:solidFill>
                <a:srgbClr val="000000"/>
              </a:solidFill>
              <a:latin typeface="Times New Roman"/>
            </a:endParaRPr>
          </a:p>
        </p:txBody>
      </p:sp>
    </p:spTree>
  </p:cSld>
  <p:transition>
    <p:fade/>
  </p:transition>
  <p:timing>
    <p:tnLst>
      <p:par>
        <p:cTn id="563" dur="indefinite" restart="never" nodeType="tmRoot">
          <p:childTnLst>
            <p:seq>
              <p:cTn id="564" dur="indefinite" nodeType="mainSeq">
                <p:childTnLst>
                  <p:par>
                    <p:cTn id="565" fill="hold">
                      <p:stCondLst>
                        <p:cond delay="0"/>
                      </p:stCondLst>
                      <p:childTnLst>
                        <p:par>
                          <p:cTn id="566" fill="hold">
                            <p:stCondLst>
                              <p:cond delay="0"/>
                            </p:stCondLst>
                            <p:childTnLst>
                              <p:par>
                                <p:cTn id="567" nodeType="withEffect" fill="hold" presetClass="entr" presetID="10">
                                  <p:stCondLst>
                                    <p:cond delay="250"/>
                                  </p:stCondLst>
                                  <p:iterate type="el">
                                    <p:tmAbs val="100"/>
                                  </p:iterate>
                                  <p:childTnLst>
                                    <p:set>
                                      <p:cBhvr>
                                        <p:cTn id="568" dur="1" fill="hold">
                                          <p:stCondLst>
                                            <p:cond delay="0"/>
                                          </p:stCondLst>
                                        </p:cTn>
                                        <p:tgtEl>
                                          <p:spTgt spid="869"/>
                                        </p:tgtEl>
                                        <p:attrNameLst>
                                          <p:attrName>style.visibility</p:attrName>
                                        </p:attrNameLst>
                                      </p:cBhvr>
                                      <p:to>
                                        <p:strVal val="visible"/>
                                      </p:to>
                                    </p:set>
                                    <p:animEffect filter="fade" transition="in">
                                      <p:cBhvr additive="repl">
                                        <p:cTn id="569" dur="500"/>
                                        <p:tgtEl>
                                          <p:spTgt spid="8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CEDABF-7176-4A42-8EF9-E5D4DD31FF6C}">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EEC3793-C1BC-496C-A03C-202DFFC513D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3301439-688F-4D19-B908-B48B62C5607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452</TotalTime>
  <Application>LibreOffice/7.5.5.2$Windows_X86_64 LibreOffice_project/ca8fe7424262805f223b9a2334bc7181abbcbf5e</Application>
  <AppVersion>15.0000</AppVersion>
  <Words>17233</Words>
  <Paragraphs>1807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2024-06-26T20:20:27Z</dcterms:created>
  <dc:creator/>
  <dc:description/>
  <dc:language>en-US</dc:language>
  <cp:lastModifiedBy/>
  <dcterms:modified xsi:type="dcterms:W3CDTF">2026-01-29T00:16:24Z</dcterms:modified>
  <cp:revision>1018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Notes">
    <vt:i4>82</vt:i4>
  </property>
  <property fmtid="{D5CDD505-2E9C-101B-9397-08002B2CF9AE}" pid="5" name="PresentationFormat">
    <vt:lpwstr>Widescreen</vt:lpwstr>
  </property>
  <property fmtid="{D5CDD505-2E9C-101B-9397-08002B2CF9AE}" pid="6" name="Slides">
    <vt:i4>84</vt:i4>
  </property>
</Properties>
</file>