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BE18CB-C2DE-4E02-AEE2-2672404C79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DE6549-B55B-44D6-8E90-1257F44219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45BD56-D5A0-4391-AE65-10EB72231B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637089-73E7-4450-B0CC-6B09BBCB80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FEC674-0637-4106-803E-1A0B87454A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C03B2D-D798-4B83-83F2-1CFCD1990A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D00D00-23C2-442C-A1B5-A3A1441529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3F707B-5DD0-4263-BCBB-1D25D7996E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0111CD-2D9A-4B6C-BD05-875DDE4AA6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7FAFEB-DA6A-4F28-95FE-19251EAB89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740A7D-080D-4F26-B519-7CBFAC7553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A1926D-515E-4028-B899-B00DAEB496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EC8854-5992-4E11-B0CD-E451A37FF8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C18AE9-346D-42FD-866A-726360E0F6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D8F1F9-9240-4F6A-B1CB-C6E74E1420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ED97C4-0E61-4FE9-83EF-C6C4459176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366835-5F8D-4D84-945C-6A11199588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C32FB1C-5DBD-4029-BE4A-016A623D89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31D950-D30C-420E-8EC2-0D0F6ADDE7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6DC71B-E74A-463F-A1FB-D18FC155B0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A02A82-451B-4174-9EBD-12EF210A25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562221-9221-41DC-A74C-87A3F89B91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50BD9C-EDE2-4ACC-BBC3-C451A9BB85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CDC116-57B4-4336-B93C-F02AE77E93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03C060-A54C-4019-AD57-9DA31344E66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47BF8F-D1DA-4CFD-B064-0E722F7EA3B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Lesson 2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000" cy="175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Network Representation and Basic Characterization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Network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5800" y="1302840"/>
            <a:ext cx="73137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Networks are represented using </a:t>
            </a:r>
            <a:r>
              <a:rPr b="0" i="1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graphs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where the </a:t>
            </a:r>
            <a:r>
              <a:rPr b="0" i="1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nodes or vertices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 the graph denote people or other entities, and the </a:t>
            </a:r>
            <a:r>
              <a:rPr b="0" i="1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edges or ties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denote connections between the nodes.  Technically, graphs and networks are not mathematically equivalent; however, they will be for this course.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371600" y="3200400"/>
            <a:ext cx="5484960" cy="237600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6400800" y="2971800"/>
            <a:ext cx="912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vertex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 flipH="1">
            <a:off x="5257800" y="3200400"/>
            <a:ext cx="114300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6629400" y="3768480"/>
            <a:ext cx="912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edge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 flipH="1">
            <a:off x="6172200" y="4114800"/>
            <a:ext cx="68580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00958D-7EA4-49A6-B0E8-E9008B482F6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Representing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0" y="1143000"/>
            <a:ext cx="9142200" cy="262260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2"/>
          <a:stretch/>
        </p:blipFill>
        <p:spPr>
          <a:xfrm>
            <a:off x="1440" y="4343400"/>
            <a:ext cx="9142200" cy="1729440"/>
          </a:xfrm>
          <a:prstGeom prst="rect">
            <a:avLst/>
          </a:prstGeom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3429000" y="3886200"/>
            <a:ext cx="2741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Adjacency Matrix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18DF28-6947-4A99-8FF1-FF3FD0CD879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Representing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0" y="1143000"/>
            <a:ext cx="9142200" cy="262260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286000" y="3886200"/>
            <a:ext cx="52574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Degree = the number of edges incident to a node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deg(V2) = 3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deg(V4) =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1B6A71-2AA2-4A61-81C0-F8CFAB85D94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Representing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560" y="1417320"/>
            <a:ext cx="8227800" cy="429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0000"/>
          </a:bodyPr>
          <a:p>
            <a:pPr marL="327600"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7600" indent="-327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Networks are generally given a name such as the letter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g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, the row numbers are denoted by the letter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, and the column numbers by the letter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j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. We can, therefore, say the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g</a:t>
            </a:r>
            <a:r>
              <a:rPr b="0" i="1" lang="en-US" sz="3200" spc="-1" strike="noStrike" baseline="-25000">
                <a:solidFill>
                  <a:srgbClr val="c00000"/>
                </a:solidFill>
                <a:latin typeface="Calibri"/>
                <a:ea typeface="Microsoft YaHei"/>
              </a:rPr>
              <a:t>ij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 = 1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if nodes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 and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j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 are linked.  In multigraphs,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g</a:t>
            </a:r>
            <a:r>
              <a:rPr b="0" i="1" lang="en-US" sz="3200" spc="-1" strike="noStrike" baseline="-25000">
                <a:solidFill>
                  <a:srgbClr val="c00000"/>
                </a:solidFill>
                <a:latin typeface="Calibri"/>
                <a:ea typeface="Microsoft YaHei"/>
              </a:rPr>
              <a:t>ij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 = 3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would indicate that there are three ties between i and j.  In weighted graphs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g</a:t>
            </a:r>
            <a:r>
              <a:rPr b="0" i="1" lang="en-US" sz="3200" spc="-1" strike="noStrike" baseline="-25000">
                <a:solidFill>
                  <a:srgbClr val="c00000"/>
                </a:solidFill>
                <a:latin typeface="Calibri"/>
                <a:ea typeface="Microsoft YaHei"/>
              </a:rPr>
              <a:t>ij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 = p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where p represents a weight of the connection between node i and node j.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7600" indent="-327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An alternative way to represent a network is using a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  <a:ea typeface="Microsoft YaHei"/>
              </a:rPr>
              <a:t>list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; for instance, the network of the previous slide represented as a list could be represented as g = {{1,2}, {1,3}, {2,3}, {2,5}, {3,4}, {3,5}} or even g = {12, 13, 23, 25, 34, 35}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7600" indent="-3276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This list is called an </a:t>
            </a:r>
            <a:r>
              <a:rPr b="0" lang="en-US" sz="3200" spc="-1" strike="noStrike">
                <a:solidFill>
                  <a:srgbClr val="c9211e"/>
                </a:solidFill>
                <a:latin typeface="Calibri"/>
                <a:ea typeface="Microsoft YaHei"/>
              </a:rPr>
              <a:t>edgelist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; however, one needs to be careful when using an edgelist to describe a graph as </a:t>
            </a:r>
            <a:r>
              <a:rPr b="0" lang="en-US" sz="3200" spc="-1" strike="noStrike">
                <a:solidFill>
                  <a:srgbClr val="c9211e"/>
                </a:solidFill>
                <a:latin typeface="Calibri"/>
                <a:ea typeface="Microsoft YaHei"/>
              </a:rPr>
              <a:t>isolates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 (nodes with no connections) will not appear in an edgelist so these vertices will be lost if this is the only data structure describing the graph.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3D7E9D-87BB-4FAC-A1A2-CE7EBC9E117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Weighted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4245120"/>
            <a:ext cx="8227800" cy="210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3000"/>
          </a:bodyPr>
          <a:p>
            <a:pPr marL="321480" indent="-3214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weighted network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puts weights on the edges between its nodes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1480" indent="-3214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An interesting observation about the adjacency matrix is that all of the weights are non-negative and each row adds up to 1, i.e., ∑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Calibri"/>
              </a:rPr>
              <a:t>j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g</a:t>
            </a:r>
            <a:r>
              <a:rPr b="0" i="1" lang="en-US" sz="3200" spc="-1" strike="noStrike" baseline="-25000">
                <a:solidFill>
                  <a:srgbClr val="c00000"/>
                </a:solidFill>
                <a:latin typeface="Calibri"/>
              </a:rPr>
              <a:t>ij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 = 1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. Such networks are called row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stochastic networks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2" descr="Figure 3: A weighted network and its corresponding adjacency matrix"/>
          <p:cNvPicPr/>
          <p:nvPr/>
        </p:nvPicPr>
        <p:blipFill>
          <a:blip r:embed="rId1"/>
          <a:stretch/>
        </p:blipFill>
        <p:spPr>
          <a:xfrm>
            <a:off x="2133720" y="1417680"/>
            <a:ext cx="4538880" cy="28256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6FDF4F-3965-4B0E-AF65-9441C2FC0E6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Weighted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38160" y="1478520"/>
            <a:ext cx="9142200" cy="4026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1AAC6B-97E8-4957-A497-4186D623157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Properties of Weighted Networks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514600" y="1478520"/>
            <a:ext cx="3657240" cy="160884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4"/>
          <p:cNvSpPr/>
          <p:nvPr/>
        </p:nvSpPr>
        <p:spPr>
          <a:xfrm>
            <a:off x="458640" y="2743200"/>
            <a:ext cx="8227800" cy="42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54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47200" indent="-54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c9211e"/>
                </a:solidFill>
                <a:latin typeface="Calibri"/>
              </a:rPr>
              <a:t>In-degree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→  How many “followers”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47200" indent="-54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c9211e"/>
                </a:solidFill>
                <a:latin typeface="Calibri"/>
              </a:rPr>
              <a:t>Out-degree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→ How many “following”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547200" indent="-54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c9211e"/>
                </a:solidFill>
                <a:latin typeface="Calibri"/>
              </a:rPr>
              <a:t>Reciprocity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→ Bidirectional ties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BD198A-9193-4671-9CBB-A0D7266A473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Complete Graph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4245120"/>
            <a:ext cx="8227800" cy="210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0000"/>
          </a:bodyPr>
          <a:p>
            <a:pPr marL="352800" indent="-3528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3200" spc="-1" strike="noStrike">
                <a:solidFill>
                  <a:srgbClr val="c9211e"/>
                </a:solidFill>
                <a:latin typeface="Calibri"/>
              </a:rPr>
              <a:t>complete graph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 a graph where every vertex is incident to every other vertex.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52800" indent="-3528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The complete graph for any order of graph is used to help determine density.  Notice that for a graph of 8 vertices, each has degree = 7.  How many edges are there total?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371600" y="1152000"/>
            <a:ext cx="6399360" cy="2732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31C60A-C8C9-4852-96F9-39D28E3889F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Characterizing Networks (1)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000"/>
          </a:bodyPr>
          <a:p>
            <a:pPr marL="325800" indent="-32580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Global patterns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give us the big picture of the overall 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5800" indent="-32580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Segregation patterns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, on the other hand, allow us to look at the attributes of the nodes - such as the age, gender, or race of individuals - and see if nodes are segregated based on these attributes or if they are fairly well integrated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25800" indent="-32580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Local patterns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allow us to identify configurations such as tight clusters of nodes or cliques, transitivity (where, if one node is connected to the other and the other is connected to a third node, then the one is also connected to the third node), and support where relationships have friends in common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8AA3037-42D2-438A-A15B-5BCC5EC7A10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Global Statistics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3000"/>
          </a:bodyPr>
          <a:p>
            <a:pPr marL="172080" indent="-172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 traditional statistics, the 5 number summary characterizes the data: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Minimum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25% (Q1)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Median (Q2)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75% (Q3)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Max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172080" indent="-172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 Graphs, we use a different set of statistics to describe the general features of the 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Size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Components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Isolates (and proportion of isolates)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Density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Diameter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Average Path Length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Compactness (Future Lectures)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Clusters (Future Lectures)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Centralization (Future Lectures)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71520" indent="-13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...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1E9493-4EB5-4626-9763-A64A732E1C4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Size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52280" y="1600200"/>
            <a:ext cx="8304480" cy="159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03560" indent="-40356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Size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 simply the cardinality (total number) of vertices within a network. (The tree network provided here has size 12)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828800" y="3401640"/>
            <a:ext cx="5484960" cy="23119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D7FA99-0841-43BA-81F5-E27460B7B68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Components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52280" y="1600200"/>
            <a:ext cx="876168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03560" indent="-40356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Components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are connected subgraphs that make up a 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74080" indent="-3362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We say that a network (N, g) is 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connected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if there is a path between every pair of nodes in the network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74080" indent="-3362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component, therefore, is a 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maximal connected subgraph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in a network, i.e., a component (N’, g’) is a subset of a network (N, g), (N’, g’) is connected, and for every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N’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if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ij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then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j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N’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and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ij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g’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66B0FF-7E59-43ED-8D5F-46E97601A39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Components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9080" y="1769760"/>
            <a:ext cx="9142200" cy="3943800"/>
          </a:xfrm>
          <a:prstGeom prst="rect">
            <a:avLst/>
          </a:prstGeom>
          <a:ln w="0">
            <a:noFill/>
          </a:ln>
        </p:spPr>
      </p:pic>
      <p:sp>
        <p:nvSpPr>
          <p:cNvPr id="122" name=""/>
          <p:cNvSpPr/>
          <p:nvPr/>
        </p:nvSpPr>
        <p:spPr>
          <a:xfrm>
            <a:off x="4362120" y="1417320"/>
            <a:ext cx="4799160" cy="2010240"/>
          </a:xfrm>
          <a:prstGeom prst="ellipse">
            <a:avLst/>
          </a:prstGeom>
          <a:noFill/>
          <a:ln w="0">
            <a:solidFill>
              <a:srgbClr val="2540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2514600" y="4114800"/>
            <a:ext cx="6170760" cy="2010240"/>
          </a:xfrm>
          <a:prstGeom prst="ellipse">
            <a:avLst/>
          </a:prstGeom>
          <a:noFill/>
          <a:ln w="0">
            <a:solidFill>
              <a:srgbClr val="2540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2331720"/>
            <a:ext cx="1827360" cy="2010240"/>
          </a:xfrm>
          <a:prstGeom prst="ellipse">
            <a:avLst/>
          </a:prstGeom>
          <a:noFill/>
          <a:ln w="0">
            <a:solidFill>
              <a:srgbClr val="2540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5" name=""/>
          <p:cNvSpPr/>
          <p:nvPr/>
        </p:nvSpPr>
        <p:spPr>
          <a:xfrm>
            <a:off x="3429000" y="1143000"/>
            <a:ext cx="114300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"/>
          <p:cNvSpPr/>
          <p:nvPr/>
        </p:nvSpPr>
        <p:spPr>
          <a:xfrm>
            <a:off x="3429000" y="1143000"/>
            <a:ext cx="685800" cy="2971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1600200" y="1143000"/>
            <a:ext cx="1828800" cy="1371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C198D9-128F-4D4B-9244-8E821090180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Isolates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9080" y="1671840"/>
            <a:ext cx="9142200" cy="3855600"/>
          </a:xfrm>
          <a:prstGeom prst="rect">
            <a:avLst/>
          </a:prstGeom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4800600" y="1143000"/>
            <a:ext cx="3657600" cy="2286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140052-C397-46F0-9ECB-F51EAFB571B7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Density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52280" y="1143000"/>
            <a:ext cx="876168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03560" indent="-40356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Density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 a measure of how many edges are in the graph when compared to the maximum number of edges.  Let L be the number of edges and k be the number of nodes.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74080" indent="-3362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a directed graph:  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87408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874080" indent="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74080" indent="-3362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an undirected graph with no loops: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33" name=""/>
              <p:cNvSpPr txBox="1"/>
              <p:nvPr/>
            </p:nvSpPr>
            <p:spPr>
              <a:xfrm>
                <a:off x="4231080" y="3420360"/>
                <a:ext cx="360" cy="167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4" name=""/>
              <p:cNvSpPr txBox="1"/>
              <p:nvPr/>
            </p:nvSpPr>
            <p:spPr>
              <a:xfrm>
                <a:off x="4114800" y="3346560"/>
                <a:ext cx="4030200" cy="122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Density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L</m:t>
                        </m:r>
                      </m:num>
                      <m:den>
                        <m:r>
                          <m:t xml:space="preserve">k</m:t>
                        </m:r>
                        <m:r>
                          <m:t xml:space="preserve">x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k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35" name=""/>
              <p:cNvSpPr txBox="1"/>
              <p:nvPr/>
            </p:nvSpPr>
            <p:spPr>
              <a:xfrm>
                <a:off x="4197960" y="5257800"/>
                <a:ext cx="4030200" cy="122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Density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  <m:r>
                          <m:t xml:space="preserve">L</m:t>
                        </m:r>
                      </m:num>
                      <m:den>
                        <m:r>
                          <m:t xml:space="preserve">k</m:t>
                        </m:r>
                        <m:r>
                          <m:t xml:space="preserve">x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k</m:t>
                            </m:r>
                            <m:r>
                              <m:t xml:space="preserve">−</m:t>
                            </m:r>
                            <m:r>
                              <m:t xml:space="preserve">1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0D1B60-F9A1-4D03-8B49-B1B6DF9B1DE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Terminology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2000"/>
          </a:bodyPr>
          <a:p>
            <a:pPr marL="329400" indent="-329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 order to be able to identify these patterns, we need to develop some fundamental measures that would help uncover them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14960" indent="-273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walk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from a node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to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is a sequence of nodes (i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…,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) such that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-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in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for each </a:t>
            </a: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k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14960" indent="-273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walk may be a 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path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(i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2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, …,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) with each node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distinct or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14960" indent="-273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walk may be a 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cycle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where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= i</a:t>
            </a:r>
            <a:r>
              <a:rPr b="0" lang="en-US" sz="2800" spc="-1" strike="noStrike" baseline="-25000">
                <a:solidFill>
                  <a:srgbClr val="000000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; a cycle, therefore, is a walk that loops back to the node from where it started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14960" indent="-2739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 </a:t>
            </a:r>
            <a:r>
              <a:rPr b="0" i="1" lang="en-US" sz="2800" spc="-1" strike="noStrike">
                <a:solidFill>
                  <a:srgbClr val="c00000"/>
                </a:solidFill>
                <a:latin typeface="Calibri"/>
              </a:rPr>
              <a:t>geodesic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 is a shortest path between two nodes where the path between the two nodes is measured counting the number of links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DF0FCE-E91D-4829-B30C-B06492DE42D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2" descr=""/>
          <p:cNvPicPr/>
          <p:nvPr/>
        </p:nvPicPr>
        <p:blipFill>
          <a:blip r:embed="rId1"/>
          <a:stretch/>
        </p:blipFill>
        <p:spPr>
          <a:xfrm>
            <a:off x="513000" y="2057400"/>
            <a:ext cx="8280360" cy="3630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D28F70-E4FD-4A04-910D-1BF98820BB8C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Counting the number of walks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Picture 2" descr="Figure 6: Counting the number of walks"/>
          <p:cNvPicPr/>
          <p:nvPr/>
        </p:nvPicPr>
        <p:blipFill>
          <a:blip r:embed="rId1"/>
          <a:stretch/>
        </p:blipFill>
        <p:spPr>
          <a:xfrm>
            <a:off x="457200" y="1559880"/>
            <a:ext cx="8227800" cy="4605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C72709-35D0-4BD7-93C6-771B0F10D4D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Network Diameter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9000"/>
          </a:bodyPr>
          <a:p>
            <a:pPr marL="365400" indent="-365400">
              <a:lnSpc>
                <a:spcPct val="100000"/>
              </a:lnSpc>
              <a:spcBef>
                <a:spcPts val="641"/>
              </a:spcBef>
              <a:buClr>
                <a:srgbClr val="c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Diameter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is the largest geodesic (or the largest shortest path) in the network; if the network is not connected, then we can take the diameter of the largest component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65400" indent="-365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Diameter can be prone to outliers when most of the nodes in the network are fairly close but only a few lie far apart; in such cases a better measure may be the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average path length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which is the average geodesic of the 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1D6F7C-DF54-4867-9D67-9AEAFC5AB9CF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4403880"/>
            <a:ext cx="8227800" cy="172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3000"/>
          </a:bodyPr>
          <a:p>
            <a:pPr marL="306000" indent="-306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Diameter and average path length play an important role in determining how long it would take to reach a node on an average and how fast information can spread within a network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Picture 5" descr=""/>
          <p:cNvPicPr/>
          <p:nvPr/>
        </p:nvPicPr>
        <p:blipFill>
          <a:blip r:embed="rId1"/>
          <a:stretch/>
        </p:blipFill>
        <p:spPr>
          <a:xfrm>
            <a:off x="2209680" y="1430280"/>
            <a:ext cx="4448160" cy="2741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9005F9-D87A-4842-A738-BC3C52B2FE1E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Neighborhood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Neighborhood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of a node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in a graph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is defined as a set of all those nodes in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that are directly linked to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, i.e., N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(g) = {j | ij in g}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i="1" lang="en-US" sz="3200" spc="-1" strike="noStrike">
                <a:solidFill>
                  <a:srgbClr val="c00000"/>
                </a:solidFill>
                <a:latin typeface="Calibri"/>
              </a:rPr>
              <a:t>degree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of a node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in graph 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 is the cardinality of N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(g), i.e., d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= # Ni(g)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758A8F-5D6A-4EAF-8FC4-1B49D7DF63B1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2145</TotalTime>
  <Application>LibreOffice/7.5.5.2$Windows_X86_64 LibreOffice_project/ca8fe7424262805f223b9a2334bc7181abbcbf5e</Application>
  <AppVersion>15.0000</AppVersion>
  <Words>634</Words>
  <Paragraphs>87</Paragraphs>
  <Company>itdept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2016-08-30T15:05:02Z</dcterms:created>
  <dc:creator>Raghu Sangwan</dc:creator>
  <dc:description/>
  <dc:language>en-US</dc:language>
  <cp:lastModifiedBy/>
  <dcterms:modified xsi:type="dcterms:W3CDTF">2026-01-06T21:42:45Z</dcterms:modified>
  <cp:revision>86</cp:revision>
  <dc:subject/>
  <dc:title>Lesson 2 Data Visualization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18</vt:i4>
  </property>
</Properties>
</file>